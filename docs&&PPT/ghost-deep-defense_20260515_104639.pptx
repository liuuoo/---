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各位老师好，我汇报的题目是《GHOST-DEEP · 深海幽灵——基于端-边-云协同与多级算力路由的潜艇集群调度系统》。这是一个面向深海作战场景的分布式智能调度系统。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在不到十分钟的时间里，我会带各位走完五个章节：研究背景、系统架构、核心机制、技术实现、最后是亮点与展望。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项目代号 GHOST-DEEP (2) 关键词 — L0/L1/L2 三级路由、Ping-Pong 双缓冲、85% 算力溢出。</a:t>
            </a:r>
            <a:endParaRPr lang="zh-CN" dirty="0"/>
          </a:p>
          <a:p>
            <a:r>
              <a:rPr lang="zh-CN" dirty="0"/>
              <a:t>时长：30 秒。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先从整体节奏说起。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汇报分五个章节，安排上前三章打好理论与机制基础，第四章落地到工程实现，第五章总结亮点并展望工作。整套陈述大约 8–10 分钟，章节时长比例按 1.5 / 3 / 2 / 1.5 / 1.5 来分配，最重的部分放在系统架构与核心机制上。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我特别想强调一点：这个项目不是一份纯理论分析，而是一个可以现场演示的工程实现 —— 后面在合适的时机，我会用一行 `curl /api/spike` 命令现场触发 GPU 过载，让各位直接看到溢出保护机制是如何工作的。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五章节闭环 (2) 8–10 分钟节奏 (3) 现场可演示。</a:t>
            </a:r>
            <a:endParaRPr lang="zh-CN" dirty="0"/>
          </a:p>
          <a:p>
            <a:r>
              <a:rPr lang="zh-CN" dirty="0"/>
              <a:t>时长：30 秒。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进入第一章，研究背景与挑战。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章扉页 (2) 引出三大现实痛点。</a:t>
            </a:r>
            <a:endParaRPr lang="zh-CN" dirty="0"/>
          </a:p>
          <a:p>
            <a:r>
              <a:rPr lang="zh-CN" dirty="0"/>
              <a:t>时长：5 秒（过场页）。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我们为什么要做这个系统？这要从两个层面说起 —— 一边是技术机遇，一边是场景痛点。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技术机遇这一边，DeepSeek-V4-Pro 和 V4-Flash 国产开源大模型已经量产可用，叠加华为昇腾 GPU 算力的大幅跃升，在国有化基础设施上本地化部署世界顶级大模型，今天已经具备工程可行性。这给军事智能化决策提供了坚实的算力底座。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但场景这一边并不轻松。在深海作战场景中，潜艇集群、水面航母、陆地数据中心天然构成端-边-云结构，但面临三大结构性矛盾：第一，端侧数据积压 —— 深海通信间歇，潜艇本身又不适宜搭载高成本算力，数据只能批量等到上浮再上传；第二，边缘算力瓶颈 —— 航母一次性接收的数据量大且突发性强，时效窗口内消化不完；第三，云端时效不足 —— 陆地算力虽然充沛，但传输延迟加排队处理，无法满足战术级实时性。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这就是我们要解的题：机遇有了，但端-边-云之间的"算力错配"成为新的瓶颈。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国产大模型 + 国产算力的工程可行性 (2) 端积压 / 边瓶颈 / 云时效不足三大痛点 (3) 引出本系统方案。</a:t>
            </a:r>
            <a:endParaRPr lang="zh-CN" dirty="0"/>
          </a:p>
          <a:p>
            <a:r>
              <a:rPr lang="zh-CN" dirty="0"/>
              <a:t>时长：1 分钟。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针对这三个痛点，我们设计了一套端-边-云协同的智能调度系统。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章扉页 (2) 引出三层架构 + 三级路由。</a:t>
            </a:r>
            <a:endParaRPr lang="zh-CN" dirty="0"/>
          </a:p>
          <a:p>
            <a:r>
              <a:rPr lang="zh-CN" dirty="0"/>
              <a:t>时长：5 秒。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先看系统整体架构。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我们采用经典的端-边-云三层分布式架构，三层职责分明：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端这一层是 16 艘虚拟潜艇，无独立推理算力，只负责数据采集与批量上传。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边这一层是水面航母，配置 10 张 H100 80GB 的 GPU，运行 DeepSeek-V4-Flash 模型，承担两项工作：L0 紧急熔断 + L1 战术推理。这一层是整个系统的"决策大脑"。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云这一层是陆地数据中心，超算级算力，运行 V4-Pro 大模型，负责 L2 战略深度推理 —— 同时也是边缘溢出的兜底接管方。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数据流向上，从潜艇上行到边缘网关，经过三级评估路由，按级别分发到 L0/L1/L2 三个处理通道，最终把指令下发回潜艇。关键的设计是边缘和云之间的双向链路 —— 不仅是常规的 L2 路由，还有当边缘负载过高时的动态溢出上抛。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端 16 艇 / 边 10×H100 / 云超算 (2) 各层职责单一且明确 (3) 边-云双向链路是弹性核心。</a:t>
            </a:r>
            <a:endParaRPr lang="zh-CN" dirty="0"/>
          </a:p>
          <a:p>
            <a:r>
              <a:rPr lang="zh-CN" dirty="0"/>
              <a:t>时长：1 分 10 秒。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三层架构的核心，是边缘网关里的"三级评估路由器"，这是系统的心脏。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每一条上行遥测数据，都会经过四步决策：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Step 1：L0 规则前置拦截。 这是纯硬编码的 if-else，零延迟、零网络依赖。触发条件就三条 —— emergency 标志为真、电量低于 8%、壳体压力大于 85 巴。一旦命中，本地立即响应，完全绕过神经网络。这就是分布式系统中经典的 Circuit Breaker 模式，对于人命关天的紧急情况，绝不允许任何 AI 推理延迟介入。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Step 2：MLP 智能分流。 排除掉 L0 的数据后，提取 6 维特征，输入一个启动时预训练好的 MLP 分类器进行二分类。输出 L2 概率 ≥ 0.5 判战略级走云端，否则进入 Step 3 的溢出检查。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Step 3：动态算力溢出。 [数据] 这一步是系统弹性的灵魂 —— 当 10 张 H100 平均负载已经超过 85%，本应走 L1 边缘的任务会被强制标记为 L1-ESCALATED，强行上抛云端，保护边缘节点不被压垮。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Step 4：L2 云端深度推理。 V4-Pro 模型接管两类任务 —— 战略级原生路由 + 边缘溢出任务。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 四步走下来，最终路由分布大致是 L0 占 2%，L1 正常占 75%，L1 溢出和 L2 合计占 23%。三道防线，层层兜底。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L0 硬熔断零延迟 (2) MLP 二分类 + Softmax (3) 85% 阈值动态溢出 (4) L2 V4-Pro 兜底。</a:t>
            </a:r>
            <a:endParaRPr lang="zh-CN" dirty="0"/>
          </a:p>
          <a:p>
            <a:r>
              <a:rPr lang="zh-CN" dirty="0"/>
              <a:t>时长：1 分 30 秒。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四步路由里，最体现"智能"二字的是 Step 2 的 MLP 分类器。先解释为什么选 MLP。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[数据] 我们对比了四个候选方案 —— 决策树、SVM、Transformer、MLP。决策树推理快但非线性能力弱；SVM 不易扩展；Transformer 推理开销过大，根本不适合放在网关层每秒做大量决策。MLP 的极低延迟 + 中等数据需求 + 高边缘部署适配性，是这个场景下的均衡最优解。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模型本身很轻量 —— 6 维输入、两层隐藏（32-32 个神经元）、2 维输出。下面是训练流程的五步：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第一，生成 4000 条模拟历史数据，用加权打分自动标签 —— 优先级权重 0.55、声呐接触 0.30、深度 0.15，加上随机噪声，得分超过 0.55 的样本标记为 L2 战略级。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第二，对训练集做 Z-score 标准化，把 μ 和 σ 也持久化下来，确保推理时复用同一组标准化参数。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第三，PyTorch + CUDA 上训练 60 个 epoch，Adam 优化器，学习率 3×10⁻³，batch size 256，CrossEntropy 损失。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第四，权重和标准化参数一起存为 `classifier.pt`。第二次启动直接秒级加载，无需重训。删除这个文件就触发重训，非常便于演示。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第五，在线推理 —— 提取特征 → 标准化 → 前向传播 → Softmax → 阈值判定。μ 秒级延迟。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MLP 是网关层的均衡最优解 (2) 4000 条样本 + 加权打分 (3) 5 步训练流程闭环。</a:t>
            </a:r>
            <a:endParaRPr lang="zh-CN" dirty="0"/>
          </a:p>
          <a:p>
            <a:r>
              <a:rPr lang="zh-CN" dirty="0"/>
              <a:t>时长：1 分 20 秒。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现在讲今天最想强调的一个机制 —— 动态算力溢出。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[观察] 各位看屏幕这张截图，这是真实从前端抓的：右下角一片红色告警 —— 当前平均负载 92.3%，远超 85% 阈值，触发了溢出保护。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机制本身分三块：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触发条件很简单，就一个公式：10 张 GPU 的平均负载大于等于 0.85，监控线程每 500ms 检测一次。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保护动作：本应走 L1 的任务会被标记 `[L1-ESCALATED]`，强制上抛云端 L2 队列。宁可让任务多走一点延迟，也不允许边缘节点崩掉。 这就是分布式系统里经典的"宁吞延迟、不吞崩溃"的弹性原则。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演示触发最有意思 —— 我做了一个 `POST /api/spike` 端点，一行 curl 就能把负载拉满。如果时间允许，我等会儿现场触发一下 [互动]。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 这个机制保证了边缘节点在突发流量下的稳定性，是系统弹性伸缩能力的核心体现。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85% 阈值 + 500ms 检测 (2) ESCALATED 标记 + 强制上抛 (3) /api/spike 一键演示。</a:t>
            </a:r>
            <a:endParaRPr lang="zh-CN" dirty="0"/>
          </a:p>
          <a:p>
            <a:r>
              <a:rPr lang="zh-CN" dirty="0"/>
              <a:t>时长：1 分钟。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系统架构讲完，下面进入第三章，核心机制。重点讲两件事 —— 双缓冲读写分离，以及前端的多视角观测。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章扉页 (2) 引出 Ping-Pong DB + 实时观测。</a:t>
            </a:r>
            <a:endParaRPr lang="zh-CN" dirty="0"/>
          </a:p>
          <a:p>
            <a:r>
              <a:rPr lang="zh-CN" dirty="0"/>
              <a:t>时长：5 秒。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系统里有一个很关键的工程难题：网关在以 400ms 间隔高频写入新任务，而 L1 推理调一次 V4-Flash 大模型要好几秒。如果两边共享同一份数据结构，写入会被推理阻塞，或者推理读到不一致的中间状态。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我们的解法是借鉴图形学里的 Ping-Pong Buffer 思想 —— 维护两个内存数据库 DB_A 和 DB_B，加一个写指针 `active_write_db`。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[观察] 看左边这张图，时序很清楚：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t₀ 时刻，指针指向 A，DB_A 在写入，DB_B 空闲；3 秒后翻转，指针指向 B，这时 DB_A 进入"AI 处理中"状态，DB_B 开始接收新写入。再过 3 秒又翻一次，循环往复。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机制三阶段：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写入阶段 —— 新任务始终写入指针指向的库，只需短暂加锁。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翻转阶段 —— 这是核心 [数据] —— 每 3 秒触发一次指针切换 + 取出旧库任务。这一步是 O(1) 操作，临界区极短。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处理阶段 —— 在锁外对取出的任务调 V4-Flash 推理。这一步可以慢 —— 因为完全和写入解耦了。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 关键优势：临界区极短，AI 推理在锁外，写入近乎不被阻塞，真正实现了读写分离与无锁并发。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写入快慢速率失配是本质问题 (2) 双缓冲 + 指针翻转是 O(1) 解决方案 (3) 读写真正分离。</a:t>
            </a:r>
            <a:endParaRPr lang="zh-CN" dirty="0"/>
          </a:p>
          <a:p>
            <a:r>
              <a:rPr lang="zh-CN" dirty="0"/>
              <a:t>时长：1 分 20 秒。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老师可能会问 —— 你又没真有 H100、又没真有潜艇，这个系统到底验证了什么？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我专门做了这张对照表。核心原则是：模拟的是规模与硬件，不模拟的是逻辑与算法。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[扫视] 看这七行 —— 16 艘虚拟潜艇对应物理潜艇集群，验证多源数据汇聚与路由分发；10 个 GPU 模拟器对应物理 H100 集群，验证负载感知与弹性溢出；内存字典对应高性能 KV 存储，验证双缓冲指针翻转；DeepSeek API 对应本地大模型推理服务，验证端到端 AI 链路；单机 FastAPI 对应分布式微服务集群，验证异步管道解耦；400ms 数据生成对应毫秒级高并发，验证路由决策正确性；最后一行最关键 —— `/api/spike` 手动触发对应真实突发流量洪峰，验证溢出保护机制的触发与恢复。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 三级路由决策、MLP 训练推理、双缓冲翻转、溢出判定 —— 这些核心逻辑代码，在演示环境与真实部署里完全一致，仅数据源和硬件层做了等效替代。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模拟规模和硬件，不模拟逻辑 (2) 核心算法在 sim 与 prod 完全一致。</a:t>
            </a:r>
            <a:endParaRPr lang="zh-CN" dirty="0"/>
          </a:p>
          <a:p>
            <a:r>
              <a:rPr lang="zh-CN" dirty="0"/>
              <a:t>时长：1 分钟。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一个分布式系统再精巧，如果"内部状态"是黑盒，老师在答辩时就只能听我口头描述。所以我做了完整的可观测层。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[观察] 左边这张是超算中心全局大屏 `/center` —— 16 艘潜艇阵列、三级路由大脑、L2 深加工日志，三栏一屏；右边是单艇独立日志弹窗 —— 点击阵列任意一艘潜艇，弹出它完整的上行遥测和下行 AI 指令历史。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底下三块是技术细节：`/ws/center` 通道每 400ms 推送路由统计；`/ws/node` 通道每 500ms 推送 GPU 遥测和双缓冲状态；REST `/api/sub/{id}/log` 提供历史回看。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 16 艘潜艇，每艘都有独立日志链 —— 这是分布式系统"每个节点都是独立单元"概念的真实落地。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双 WebSocket + 1 REST 三通道 (2) 16 艘潜艇独立日志 (3) 让"内部状态"30 秒可见。</a:t>
            </a:r>
            <a:endParaRPr lang="zh-CN" dirty="0"/>
          </a:p>
          <a:p>
            <a:r>
              <a:rPr lang="zh-CN" dirty="0"/>
              <a:t>时长：50 秒。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前端这一面我额外强调一下 —— 因为答辩 PPT 里硬核工业感的截图，全部来自我自己做的前端。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[观察] 屏幕左边是 `/node` 边缘节点视图的浅色版。三栏一屏：左 10 张 H100 硬件遥测、中 DB_A/DB_B 双缓冲核心、右 算力溢出告警。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右边四个特性卡概括了前端设计：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第一，三栏布局，宏观视野不滚动；第二，CSS 变量驱动深 / 浅双主题，偏好持久化到 localStorage；第三，WebSocket 实时刷新，500ms 帧率，断线 2 秒自动重连；第四，去 AI 化美学 —— 等宽字体 + 大数据 + 色彩语义化，没有任何闪烁星星或机器人图标，保持军工级控制台的严肃感。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色彩语义这条特别重要 —— 绿色 L1 正常、橙色 L1 溢出、红色 L0 紧急、青色 L2 战略、蓝色主路由通道、深蓝系统外壳。颜色服务于信息，不服务于装饰。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三栏 + 双主题 + 实时刷新 (2) 去 AI 化的工业级美学 (3) 颜色 = 路由层级语义。</a:t>
            </a:r>
            <a:endParaRPr lang="zh-CN" dirty="0"/>
          </a:p>
          <a:p>
            <a:r>
              <a:rPr lang="zh-CN" dirty="0"/>
              <a:t>时长：50 秒。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第四章简短一些，讲技术实现层面的两个关键事项。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章扉页 (2) 引出技术栈 + API 矩阵。</a:t>
            </a:r>
            <a:endParaRPr lang="zh-CN" dirty="0"/>
          </a:p>
          <a:p>
            <a:r>
              <a:rPr lang="zh-CN" dirty="0"/>
              <a:t>时长：5 秒。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技术栈方面，全栈三个块：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后端：Python 3.12 + FastAPI + Uvicorn，原生异步、高性能 ASGI。WebSocket 双通道直接由 FastAPI 框架原生支持。AI/ML：PyTorch 2.4 + NumPy + DeepSeek 双模型，CUDA 训练，OpenAI 兼容协议接入。前端：React 18 + TypeScript + Vite 5.4 + Tailwind + React Router v6。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下半区是 lifespan 启动管线 —— FastAPI 的 `@asynccontextmanager` 形式，分四步：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第一步，分类器初始化，约 1.5 秒，优先加载 .pt 权重，没有就线程池现场训练。第二步，启动 GPU 监控，10 个 asyncio 协程模拟负载漂移。第三步，启动双缓冲，3 秒翻转-处理循环。第四步，启动数据管道这个常驻 asyncio.Task，持续驱动数据流转，直到应用关闭。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 整套启动是异步有序的 —— 每一步都不阻塞事件循环，这是 FastAPI 工程化的精髓所在。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Python+TS 全栈类型安全 (2) Lifespan 4 步异步启动 (3) 不阻塞事件循环。</a:t>
            </a:r>
            <a:endParaRPr lang="zh-CN" dirty="0"/>
          </a:p>
          <a:p>
            <a:r>
              <a:rPr lang="zh-CN" dirty="0"/>
              <a:t>时长：50 秒。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最后看一下 API 矩阵。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REST 五个端点 —— 健康检查、分类器训练报告、模型铭牌、单艇日志、最关键的 POST /api/spike 一键尖峰。WebSocket 两个通道 —— `/ws/center` 400ms 推路由、`/ws/node` 500ms 推 GPU 与双缓冲状态。整个系统对外只有 7 个端点，覆盖了系统全部观测面 + 演示触发能力。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右边这张卡是答辩现场要用的命令清单 —— 单次 spike 触发 5 秒尖峰，或者用 for 循环连续触发模拟持续过载。预期效果非常清晰 —— `/node` GPU 飙红、告警框出现、`/center` ESCALATED 暴增、L2 日志刷屏，10 秒后自动恢复。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[互动] 如果时间允许，我现在就可以现场触发一下 —— 各位会看到一个完整的"洪峰来 → 溢出保护 → 恢复"全过程。这不是录屏，是 live demo。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7 端点覆盖全部观测面 (2) /api/spike 是答辩演示主命令 (3) 整套效果可现场复现。</a:t>
            </a:r>
            <a:endParaRPr lang="zh-CN" dirty="0"/>
          </a:p>
          <a:p>
            <a:r>
              <a:rPr lang="zh-CN" dirty="0"/>
              <a:t>时长：50 秒。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进入最后一章 —— 系统亮点与展望。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章扉页 (2) 五大亮点 + 未来工作。</a:t>
            </a:r>
            <a:endParaRPr lang="zh-CN" dirty="0"/>
          </a:p>
          <a:p>
            <a:r>
              <a:rPr lang="zh-CN" dirty="0"/>
              <a:t>时长：5 秒。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总结整个项目，五个值得强调的亮点：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第一，真实 AI 推理链路。这不是 mock 演示 —— 系统实际调用 DeepSeek 大模型完成推理，MLP 启动时是真训练 4000 条样本。整条链路端到端可验证。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第二，多级弹性调度。L0 硬熔断 → L1 神经网络 → 动态溢出，三道防线层层递进。这个设计兼顾实时性和可靠性，是分布式系统弹性的教科书式实现。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第三，双缓冲无锁并发。借鉴图形学 Ping-Pong Buffer 思想，O(1) 临界区 + 锁外推理 + 3 秒翻转，把高并发写和慢 AI 读完全解耦。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第四，多视角可观测性。两个 WebSocket 通道 + 16 艘潜艇独立日志 + 多视角大屏，宏观看路由分布，微观下钻到单艇链路。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第五，演示友好。`/api/spike` 一键触发过载，全过程现场可复现。这不是 PPT 工程，是 live demo 工程。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 未来工作三个方向：把内存模拟换成真实 H100 集群部署；用 Redis + Kafka 替换内存双缓冲；接入多模态声呐和水文数据，把系统从"调度演示"推到"完整决策系统"。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5 大亮点 (2) 真实工程级而非 mock (3) Future work 三个方向。</a:t>
            </a:r>
            <a:endParaRPr lang="zh-CN" dirty="0"/>
          </a:p>
          <a:p>
            <a:r>
              <a:rPr lang="zh-CN" dirty="0"/>
              <a:t>时长：1 分 10 秒。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我的汇报就到这里 —— 谢谢各位老师聆听，也敬请批评指正。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项目源代码已上传 GitHub，欢迎进一步讨论。下面进入 Q &amp; A 环节。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要点：(1) 致谢 (2) Q&amp;A 引导。</a:t>
            </a:r>
            <a:endParaRPr lang="zh-CN" dirty="0"/>
          </a:p>
          <a:p>
            <a:r>
              <a:rPr lang="zh-CN" dirty="0"/>
              <a:t>时长：15 秒。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952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63855" y="406718"/>
              <a:ext cx="27670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GHOST-DEEP / DEFENSE 2026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601516" y="439102"/>
              <a:ext cx="1222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SYS-ID :: GD-001</a:t>
              </a:r>
              <a:endParaRPr lang="zh-CN" sz="1050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43500" y="1619250"/>
            <a:ext cx="1905000" cy="381000"/>
            <a:chOff x="5143500" y="1619250"/>
            <a:chExt cx="1905000" cy="381000"/>
          </a:xfrm>
        </p:grpSpPr>
        <p:sp>
          <p:nvSpPr>
            <p:cNvPr id="8" name="Freeform 8"/>
            <p:cNvSpPr/>
            <p:nvPr/>
          </p:nvSpPr>
          <p:spPr>
            <a:xfrm>
              <a:off x="5143500" y="161925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38100" y="0"/>
                  </a:moveTo>
                  <a:lnTo>
                    <a:pt x="1866900" y="0"/>
                  </a:lnTo>
                  <a:cubicBezTo>
                    <a:pt x="1887942" y="0"/>
                    <a:pt x="1905000" y="17058"/>
                    <a:pt x="1905000" y="38100"/>
                  </a:cubicBezTo>
                  <a:lnTo>
                    <a:pt x="1905000" y="342900"/>
                  </a:lnTo>
                  <a:cubicBezTo>
                    <a:pt x="1905000" y="363942"/>
                    <a:pt x="1887942" y="381000"/>
                    <a:pt x="1866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712714" y="17468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学术答辩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48523" y="2356485"/>
            <a:ext cx="7094953" cy="1424940"/>
            <a:chOff x="2548523" y="2356485"/>
            <a:chExt cx="7094953" cy="1424940"/>
          </a:xfrm>
        </p:grpSpPr>
        <p:sp>
          <p:nvSpPr>
            <p:cNvPr id="11" name="TextBox 11"/>
            <p:cNvSpPr txBox="1"/>
            <p:nvPr/>
          </p:nvSpPr>
          <p:spPr>
            <a:xfrm>
              <a:off x="2548523" y="2356485"/>
              <a:ext cx="709495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GHOST-DEEP · 深海幽灵</a:t>
              </a:r>
              <a:endParaRPr lang="zh-CN" sz="4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71206" y="3155632"/>
              <a:ext cx="58495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基于端-边-云协同与多级算力路由的潜艇集群调度系统</a:t>
              </a:r>
              <a:endParaRPr lang="zh-CN" sz="16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13201" y="3537585"/>
              <a:ext cx="51655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i="1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 Three-Tier Compute Routing System for Submarine Swarms</a:t>
              </a:r>
              <a:endParaRPr lang="zh-CN" sz="1200" i="1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95750" y="4010025"/>
            <a:ext cx="4000500" cy="76200"/>
            <a:chOff x="4095750" y="4010025"/>
            <a:chExt cx="4000500" cy="76200"/>
          </a:xfrm>
        </p:grpSpPr>
        <p:sp>
          <p:nvSpPr>
            <p:cNvPr id="15" name="Line 15"/>
            <p:cNvSpPr/>
            <p:nvPr/>
          </p:nvSpPr>
          <p:spPr>
            <a:xfrm>
              <a:off x="4095750" y="40481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5895975" y="4010025"/>
              <a:ext cx="76200" cy="762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057900" y="4010025"/>
              <a:ext cx="76200" cy="762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219825" y="4010025"/>
              <a:ext cx="76200" cy="762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6381750" y="40481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3048000" y="4333875"/>
            <a:ext cx="6096000" cy="323850"/>
            <a:chOff x="3048000" y="4333875"/>
            <a:chExt cx="6096000" cy="323850"/>
          </a:xfrm>
        </p:grpSpPr>
        <p:sp>
          <p:nvSpPr>
            <p:cNvPr id="21" name="Freeform 21"/>
            <p:cNvSpPr/>
            <p:nvPr/>
          </p:nvSpPr>
          <p:spPr>
            <a:xfrm>
              <a:off x="3048000" y="4333875"/>
              <a:ext cx="1524000" cy="323850"/>
            </a:xfrm>
            <a:custGeom>
              <a:avLst/>
              <a:gdLst/>
              <a:ahLst/>
              <a:cxnLst/>
              <a:rect l="l" t="t" r="r" b="b"/>
              <a:pathLst>
                <a:path w="1524000" h="32385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285750"/>
                  </a:lnTo>
                  <a:cubicBezTo>
                    <a:pt x="1524000" y="306792"/>
                    <a:pt x="1506942" y="323850"/>
                    <a:pt x="14859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0066C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59998" y="4439602"/>
              <a:ext cx="15000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L0 · L1 · L2 ROUTER</a:t>
              </a:r>
              <a:endParaRPr lang="zh-CN" sz="1050" b="1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4762500" y="4333875"/>
              <a:ext cx="1524000" cy="323850"/>
            </a:xfrm>
            <a:custGeom>
              <a:avLst/>
              <a:gdLst/>
              <a:ahLst/>
              <a:cxnLst/>
              <a:rect l="l" t="t" r="r" b="b"/>
              <a:pathLst>
                <a:path w="1524000" h="32385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285750"/>
                  </a:lnTo>
                  <a:cubicBezTo>
                    <a:pt x="1524000" y="306792"/>
                    <a:pt x="1506942" y="323850"/>
                    <a:pt x="14859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0066C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003952" y="4439602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PING-PONG DB</a:t>
              </a:r>
              <a:endParaRPr lang="zh-CN" sz="1050" b="1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477000" y="4333875"/>
              <a:ext cx="1524000" cy="323850"/>
            </a:xfrm>
            <a:custGeom>
              <a:avLst/>
              <a:gdLst/>
              <a:ahLst/>
              <a:cxnLst/>
              <a:rect l="l" t="t" r="r" b="b"/>
              <a:pathLst>
                <a:path w="1524000" h="32385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285750"/>
                  </a:lnTo>
                  <a:cubicBezTo>
                    <a:pt x="1524000" y="306792"/>
                    <a:pt x="1506942" y="323850"/>
                    <a:pt x="14859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0066C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74171" y="4439602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SPILLOVER 85%</a:t>
              </a:r>
              <a:endParaRPr lang="zh-CN" sz="1050" b="1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191500" y="4333875"/>
              <a:ext cx="952500" cy="323850"/>
            </a:xfrm>
            <a:custGeom>
              <a:avLst/>
              <a:gdLst/>
              <a:ahLst/>
              <a:cxnLst/>
              <a:rect l="l" t="t" r="r" b="b"/>
              <a:pathLst>
                <a:path w="952500" h="323850">
                  <a:moveTo>
                    <a:pt x="38100" y="0"/>
                  </a:moveTo>
                  <a:lnTo>
                    <a:pt x="914400" y="0"/>
                  </a:lnTo>
                  <a:cubicBezTo>
                    <a:pt x="935442" y="0"/>
                    <a:pt x="952500" y="17058"/>
                    <a:pt x="952500" y="38100"/>
                  </a:cubicBezTo>
                  <a:lnTo>
                    <a:pt x="952500" y="285750"/>
                  </a:lnTo>
                  <a:cubicBezTo>
                    <a:pt x="952500" y="306792"/>
                    <a:pt x="935442" y="323850"/>
                    <a:pt x="9144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60553" y="4439602"/>
              <a:ext cx="614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10× H100</a:t>
              </a:r>
              <a:endParaRPr lang="zh-CN" sz="10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037472" y="5013008"/>
            <a:ext cx="2117090" cy="851852"/>
            <a:chOff x="5037472" y="5013008"/>
            <a:chExt cx="2117090" cy="851852"/>
          </a:xfrm>
        </p:grpSpPr>
        <p:sp>
          <p:nvSpPr>
            <p:cNvPr id="30" name="TextBox 30"/>
            <p:cNvSpPr txBox="1"/>
            <p:nvPr/>
          </p:nvSpPr>
          <p:spPr>
            <a:xfrm>
              <a:off x="5321300" y="5013008"/>
              <a:ext cx="154940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 辩 人：刘 </a:t>
              </a:r>
              <a:r>
                <a:rPr lang="en-US" altLang="zh-CN" sz="165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r>
                <a:rPr lang="zh-CN" altLang="en-US" sz="165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好</a:t>
              </a:r>
              <a:r>
                <a:rPr lang="en-US" altLang="zh-CN" sz="165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endParaRPr lang="en-US" altLang="zh-CN" sz="165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81972" y="5378768"/>
              <a:ext cx="100012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组员：刘 </a:t>
              </a:r>
              <a:r>
                <a:rPr lang="en-US" altLang="zh-CN" sz="135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 </a:t>
              </a:r>
              <a:r>
                <a:rPr lang="zh-CN" altLang="en-US" sz="135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好</a:t>
              </a:r>
              <a:r>
                <a:rPr lang="en-US" altLang="zh-CN" sz="135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 </a:t>
              </a:r>
              <a:endParaRPr lang="zh-CN" sz="13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37472" y="5680710"/>
              <a:ext cx="21170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江苏海洋大学 · 计算机工程</a:t>
              </a:r>
              <a:r>
                <a:rPr lang="zh-CN" sz="12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学院</a:t>
              </a:r>
              <a:endParaRPr lang="zh-CN" sz="12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334125"/>
            <a:ext cx="12192000" cy="523875"/>
            <a:chOff x="0" y="6334125"/>
            <a:chExt cx="12192000" cy="523875"/>
          </a:xfrm>
        </p:grpSpPr>
        <p:sp>
          <p:nvSpPr>
            <p:cNvPr id="34" name="Rectangle 34"/>
            <p:cNvSpPr/>
            <p:nvPr/>
          </p:nvSpPr>
          <p:spPr>
            <a:xfrm>
              <a:off x="0" y="6334125"/>
              <a:ext cx="12192000" cy="523875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0" y="6334125"/>
              <a:ext cx="57150" cy="5238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08507" y="6533674"/>
              <a:ext cx="2174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github.com/Liuuoo/ghost-deep</a:t>
              </a:r>
              <a:endParaRPr lang="zh-CN" sz="97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57181" y="6533674"/>
              <a:ext cx="466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/ 20</a:t>
              </a:r>
              <a:endParaRPr lang="zh-CN" sz="975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4330" y="211455"/>
              <a:ext cx="25813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 录 / Contents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23556" y="324802"/>
              <a:ext cx="900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GHOST-DEEP</a:t>
              </a:r>
              <a:endParaRPr lang="zh-CN" sz="1050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6343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五个章节，从研究背景到工程实现，再到亮点与展望，构成完整答辩闭环</a:t>
              </a:r>
              <a:endParaRPr lang="zh-CN" sz="13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476375"/>
            <a:ext cx="5429250" cy="952500"/>
            <a:chOff x="571500" y="1476375"/>
            <a:chExt cx="5429250" cy="952500"/>
          </a:xfrm>
        </p:grpSpPr>
        <p:sp>
          <p:nvSpPr>
            <p:cNvPr id="12" name="Freeform 12"/>
            <p:cNvSpPr/>
            <p:nvPr/>
          </p:nvSpPr>
          <p:spPr>
            <a:xfrm>
              <a:off x="571500" y="1476375"/>
              <a:ext cx="5429250" cy="952500"/>
            </a:xfrm>
            <a:custGeom>
              <a:avLst/>
              <a:gdLst/>
              <a:ahLst/>
              <a:cxnLst/>
              <a:rect l="l" t="t" r="r" b="b"/>
              <a:pathLst>
                <a:path w="5429250" h="952500">
                  <a:moveTo>
                    <a:pt x="76200" y="0"/>
                  </a:moveTo>
                  <a:lnTo>
                    <a:pt x="5353050" y="0"/>
                  </a:lnTo>
                  <a:cubicBezTo>
                    <a:pt x="5395134" y="0"/>
                    <a:pt x="5429250" y="34116"/>
                    <a:pt x="5429250" y="76200"/>
                  </a:cubicBezTo>
                  <a:lnTo>
                    <a:pt x="5429250" y="876300"/>
                  </a:lnTo>
                  <a:cubicBezTo>
                    <a:pt x="5429250" y="918384"/>
                    <a:pt x="5395134" y="952500"/>
                    <a:pt x="535305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476375"/>
              <a:ext cx="57150" cy="952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4400" y="1581150"/>
              <a:ext cx="46724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30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8295" y="172688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研究背景与挑战</a:t>
              </a:r>
              <a:endParaRPr lang="zh-CN" sz="16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9165" y="2096452"/>
              <a:ext cx="29787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端-边-云协同的现实痛点 · 国产大模型机遇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5381625" y="1666875"/>
              <a:ext cx="400050" cy="400050"/>
              <a:chOff x="5381625" y="1666875"/>
              <a:chExt cx="400050" cy="40005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5481638" y="17668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100012" y="0"/>
                    </a:moveTo>
                    <a:cubicBezTo>
                      <a:pt x="44777" y="0"/>
                      <a:pt x="0" y="44777"/>
                      <a:pt x="0" y="100012"/>
                    </a:cubicBezTo>
                    <a:cubicBezTo>
                      <a:pt x="0" y="155247"/>
                      <a:pt x="44777" y="200025"/>
                      <a:pt x="100012" y="200025"/>
                    </a:cubicBezTo>
                    <a:cubicBezTo>
                      <a:pt x="155247" y="200025"/>
                      <a:pt x="200025" y="155247"/>
                      <a:pt x="200025" y="100012"/>
                    </a:cubicBezTo>
                    <a:cubicBezTo>
                      <a:pt x="200025" y="44777"/>
                      <a:pt x="155247" y="0"/>
                      <a:pt x="100012" y="0"/>
                    </a:cubicBezTo>
                    <a:close/>
                    <a:moveTo>
                      <a:pt x="50006" y="100012"/>
                    </a:moveTo>
                    <a:cubicBezTo>
                      <a:pt x="50006" y="72395"/>
                      <a:pt x="72395" y="50006"/>
                      <a:pt x="100012" y="50006"/>
                    </a:cubicBezTo>
                    <a:cubicBezTo>
                      <a:pt x="127630" y="50006"/>
                      <a:pt x="150019" y="72395"/>
                      <a:pt x="150019" y="100012"/>
                    </a:cubicBezTo>
                    <a:cubicBezTo>
                      <a:pt x="150019" y="127630"/>
                      <a:pt x="127630" y="150019"/>
                      <a:pt x="100012" y="150019"/>
                    </a:cubicBezTo>
                    <a:cubicBezTo>
                      <a:pt x="72395" y="150019"/>
                      <a:pt x="50006" y="127630"/>
                      <a:pt x="50006" y="100012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381625" y="1666875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00050">
                    <a:moveTo>
                      <a:pt x="200025" y="0"/>
                    </a:moveTo>
                    <a:cubicBezTo>
                      <a:pt x="89554" y="0"/>
                      <a:pt x="0" y="89554"/>
                      <a:pt x="0" y="200025"/>
                    </a:cubicBezTo>
                    <a:cubicBezTo>
                      <a:pt x="0" y="310496"/>
                      <a:pt x="89554" y="400050"/>
                      <a:pt x="200025" y="400050"/>
                    </a:cubicBezTo>
                    <a:cubicBezTo>
                      <a:pt x="310496" y="400050"/>
                      <a:pt x="400050" y="310496"/>
                      <a:pt x="400050" y="200025"/>
                    </a:cubicBezTo>
                    <a:cubicBezTo>
                      <a:pt x="400050" y="89554"/>
                      <a:pt x="310496" y="0"/>
                      <a:pt x="200025" y="0"/>
                    </a:cubicBezTo>
                    <a:close/>
                    <a:moveTo>
                      <a:pt x="50006" y="200025"/>
                    </a:moveTo>
                    <a:cubicBezTo>
                      <a:pt x="50006" y="117172"/>
                      <a:pt x="117172" y="50006"/>
                      <a:pt x="200025" y="50006"/>
                    </a:cubicBezTo>
                    <a:cubicBezTo>
                      <a:pt x="282878" y="50006"/>
                      <a:pt x="350044" y="117172"/>
                      <a:pt x="350044" y="200025"/>
                    </a:cubicBezTo>
                    <a:cubicBezTo>
                      <a:pt x="350044" y="282878"/>
                      <a:pt x="282878" y="350044"/>
                      <a:pt x="200025" y="350044"/>
                    </a:cubicBezTo>
                    <a:cubicBezTo>
                      <a:pt x="117172" y="350044"/>
                      <a:pt x="50006" y="282878"/>
                      <a:pt x="50006" y="200025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</p:sp>
        </p:grpSp>
      </p:grpSp>
      <p:grpSp>
        <p:nvGrpSpPr>
          <p:cNvPr id="30" name="Group 30"/>
          <p:cNvGrpSpPr/>
          <p:nvPr/>
        </p:nvGrpSpPr>
        <p:grpSpPr>
          <a:xfrm>
            <a:off x="6191250" y="1476375"/>
            <a:ext cx="5429250" cy="952500"/>
            <a:chOff x="6191250" y="1476375"/>
            <a:chExt cx="5429250" cy="952500"/>
          </a:xfrm>
        </p:grpSpPr>
        <p:sp>
          <p:nvSpPr>
            <p:cNvPr id="21" name="Freeform 21"/>
            <p:cNvSpPr/>
            <p:nvPr/>
          </p:nvSpPr>
          <p:spPr>
            <a:xfrm>
              <a:off x="6191250" y="1476375"/>
              <a:ext cx="5429250" cy="952500"/>
            </a:xfrm>
            <a:custGeom>
              <a:avLst/>
              <a:gdLst/>
              <a:ahLst/>
              <a:cxnLst/>
              <a:rect l="l" t="t" r="r" b="b"/>
              <a:pathLst>
                <a:path w="5429250" h="952500">
                  <a:moveTo>
                    <a:pt x="76200" y="0"/>
                  </a:moveTo>
                  <a:lnTo>
                    <a:pt x="5353050" y="0"/>
                  </a:lnTo>
                  <a:cubicBezTo>
                    <a:pt x="5395134" y="0"/>
                    <a:pt x="5429250" y="34116"/>
                    <a:pt x="5429250" y="76200"/>
                  </a:cubicBezTo>
                  <a:lnTo>
                    <a:pt x="5429250" y="876300"/>
                  </a:lnTo>
                  <a:cubicBezTo>
                    <a:pt x="5429250" y="918384"/>
                    <a:pt x="5395134" y="952500"/>
                    <a:pt x="535305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91250" y="1476375"/>
              <a:ext cx="57150" cy="952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34150" y="158115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30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18045" y="1726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系统架构</a:t>
              </a:r>
              <a:endParaRPr lang="zh-CN" sz="16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58915" y="2096452"/>
              <a:ext cx="31397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三层分布式架构 + 三级评估路由器 + 弹性溢出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11026378" y="1666875"/>
              <a:ext cx="350044" cy="400050"/>
              <a:chOff x="11026378" y="1666875"/>
              <a:chExt cx="350044" cy="4000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1026378" y="1666875"/>
                <a:ext cx="35004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200025">
                    <a:moveTo>
                      <a:pt x="0" y="125016"/>
                    </a:moveTo>
                    <a:lnTo>
                      <a:pt x="0" y="75009"/>
                    </a:lnTo>
                    <a:lnTo>
                      <a:pt x="175022" y="0"/>
                    </a:lnTo>
                    <a:lnTo>
                      <a:pt x="350044" y="75009"/>
                    </a:lnTo>
                    <a:lnTo>
                      <a:pt x="350044" y="125016"/>
                    </a:lnTo>
                    <a:lnTo>
                      <a:pt x="175022" y="200025"/>
                    </a:lnTo>
                    <a:lnTo>
                      <a:pt x="0" y="125016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1026378" y="1941909"/>
                <a:ext cx="350044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125016">
                    <a:moveTo>
                      <a:pt x="175022" y="125016"/>
                    </a:moveTo>
                    <a:lnTo>
                      <a:pt x="0" y="50006"/>
                    </a:lnTo>
                    <a:lnTo>
                      <a:pt x="0" y="0"/>
                    </a:lnTo>
                    <a:lnTo>
                      <a:pt x="175022" y="75009"/>
                    </a:lnTo>
                    <a:lnTo>
                      <a:pt x="350044" y="0"/>
                    </a:lnTo>
                    <a:lnTo>
                      <a:pt x="350044" y="50006"/>
                    </a:lnTo>
                    <a:lnTo>
                      <a:pt x="175022" y="125016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026378" y="1841897"/>
                <a:ext cx="350044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125016">
                    <a:moveTo>
                      <a:pt x="0" y="50006"/>
                    </a:moveTo>
                    <a:lnTo>
                      <a:pt x="175022" y="125016"/>
                    </a:lnTo>
                    <a:lnTo>
                      <a:pt x="350044" y="50006"/>
                    </a:lnTo>
                    <a:lnTo>
                      <a:pt x="350044" y="0"/>
                    </a:lnTo>
                    <a:lnTo>
                      <a:pt x="175022" y="75009"/>
                    </a:lnTo>
                    <a:lnTo>
                      <a:pt x="0" y="0"/>
                    </a:lnTo>
                    <a:lnTo>
                      <a:pt x="0" y="50006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</p:sp>
        </p:grpSp>
      </p:grpSp>
      <p:grpSp>
        <p:nvGrpSpPr>
          <p:cNvPr id="39" name="Group 39"/>
          <p:cNvGrpSpPr/>
          <p:nvPr/>
        </p:nvGrpSpPr>
        <p:grpSpPr>
          <a:xfrm>
            <a:off x="571500" y="2619375"/>
            <a:ext cx="5429250" cy="952500"/>
            <a:chOff x="571500" y="2619375"/>
            <a:chExt cx="5429250" cy="952500"/>
          </a:xfrm>
        </p:grpSpPr>
        <p:sp>
          <p:nvSpPr>
            <p:cNvPr id="31" name="Freeform 31"/>
            <p:cNvSpPr/>
            <p:nvPr/>
          </p:nvSpPr>
          <p:spPr>
            <a:xfrm>
              <a:off x="571500" y="2619375"/>
              <a:ext cx="5429250" cy="952500"/>
            </a:xfrm>
            <a:custGeom>
              <a:avLst/>
              <a:gdLst/>
              <a:ahLst/>
              <a:cxnLst/>
              <a:rect l="l" t="t" r="r" b="b"/>
              <a:pathLst>
                <a:path w="5429250" h="952500">
                  <a:moveTo>
                    <a:pt x="76200" y="0"/>
                  </a:moveTo>
                  <a:lnTo>
                    <a:pt x="5353050" y="0"/>
                  </a:lnTo>
                  <a:cubicBezTo>
                    <a:pt x="5395134" y="0"/>
                    <a:pt x="5429250" y="34116"/>
                    <a:pt x="5429250" y="76200"/>
                  </a:cubicBezTo>
                  <a:lnTo>
                    <a:pt x="5429250" y="876300"/>
                  </a:lnTo>
                  <a:cubicBezTo>
                    <a:pt x="5429250" y="918384"/>
                    <a:pt x="5395134" y="952500"/>
                    <a:pt x="535305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71500" y="2619375"/>
              <a:ext cx="57150" cy="9525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4400" y="272415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30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98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核心机制</a:t>
              </a:r>
              <a:endParaRPr lang="zh-CN" sz="16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165" y="3239452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双缓冲 Ping-Pong · 模拟与真实部署对照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5381625" y="2809875"/>
              <a:ext cx="400050" cy="400050"/>
              <a:chOff x="5381625" y="2809875"/>
              <a:chExt cx="400050" cy="4000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431631" y="2809875"/>
                <a:ext cx="350044" cy="175022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175022">
                    <a:moveTo>
                      <a:pt x="200025" y="175022"/>
                    </a:moveTo>
                    <a:lnTo>
                      <a:pt x="175022" y="150019"/>
                    </a:lnTo>
                    <a:lnTo>
                      <a:pt x="232352" y="92689"/>
                    </a:lnTo>
                    <a:lnTo>
                      <a:pt x="217705" y="78043"/>
                    </a:lnTo>
                    <a:cubicBezTo>
                      <a:pt x="199753" y="60091"/>
                      <a:pt x="175406" y="50006"/>
                      <a:pt x="150019" y="50006"/>
                    </a:cubicBezTo>
                    <a:cubicBezTo>
                      <a:pt x="124632" y="50006"/>
                      <a:pt x="100284" y="60091"/>
                      <a:pt x="82333" y="78043"/>
                    </a:cubicBezTo>
                    <a:lnTo>
                      <a:pt x="80188" y="80188"/>
                    </a:lnTo>
                    <a:cubicBezTo>
                      <a:pt x="60863" y="99512"/>
                      <a:pt x="50006" y="125723"/>
                      <a:pt x="50006" y="153052"/>
                    </a:cubicBezTo>
                    <a:lnTo>
                      <a:pt x="50006" y="175022"/>
                    </a:lnTo>
                    <a:lnTo>
                      <a:pt x="0" y="175022"/>
                    </a:lnTo>
                    <a:lnTo>
                      <a:pt x="0" y="153052"/>
                    </a:lnTo>
                    <a:cubicBezTo>
                      <a:pt x="0" y="112460"/>
                      <a:pt x="16125" y="73531"/>
                      <a:pt x="44828" y="44828"/>
                    </a:cubicBezTo>
                    <a:lnTo>
                      <a:pt x="46973" y="42683"/>
                    </a:lnTo>
                    <a:cubicBezTo>
                      <a:pt x="74302" y="15354"/>
                      <a:pt x="111369" y="0"/>
                      <a:pt x="150019" y="0"/>
                    </a:cubicBezTo>
                    <a:cubicBezTo>
                      <a:pt x="188668" y="0"/>
                      <a:pt x="225736" y="15354"/>
                      <a:pt x="253064" y="42683"/>
                    </a:cubicBezTo>
                    <a:lnTo>
                      <a:pt x="267711" y="57329"/>
                    </a:lnTo>
                    <a:lnTo>
                      <a:pt x="325041" y="0"/>
                    </a:lnTo>
                    <a:lnTo>
                      <a:pt x="350044" y="25003"/>
                    </a:lnTo>
                    <a:lnTo>
                      <a:pt x="350044" y="175022"/>
                    </a:lnTo>
                    <a:lnTo>
                      <a:pt x="200025" y="175022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381625" y="3034903"/>
                <a:ext cx="350044" cy="175022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175022">
                    <a:moveTo>
                      <a:pt x="132339" y="96980"/>
                    </a:moveTo>
                    <a:cubicBezTo>
                      <a:pt x="150290" y="114929"/>
                      <a:pt x="174638" y="125016"/>
                      <a:pt x="200025" y="125016"/>
                    </a:cubicBezTo>
                    <a:cubicBezTo>
                      <a:pt x="225412" y="125016"/>
                      <a:pt x="249760" y="114932"/>
                      <a:pt x="267711" y="96980"/>
                    </a:cubicBezTo>
                    <a:lnTo>
                      <a:pt x="269856" y="94834"/>
                    </a:lnTo>
                    <a:cubicBezTo>
                      <a:pt x="289181" y="75509"/>
                      <a:pt x="300038" y="49299"/>
                      <a:pt x="300038" y="21970"/>
                    </a:cubicBezTo>
                    <a:lnTo>
                      <a:pt x="300038" y="0"/>
                    </a:lnTo>
                    <a:lnTo>
                      <a:pt x="350044" y="0"/>
                    </a:lnTo>
                    <a:lnTo>
                      <a:pt x="350044" y="21970"/>
                    </a:lnTo>
                    <a:cubicBezTo>
                      <a:pt x="350044" y="62563"/>
                      <a:pt x="333919" y="101490"/>
                      <a:pt x="305216" y="130194"/>
                    </a:cubicBezTo>
                    <a:lnTo>
                      <a:pt x="303070" y="132339"/>
                    </a:lnTo>
                    <a:cubicBezTo>
                      <a:pt x="275742" y="159667"/>
                      <a:pt x="238675" y="175022"/>
                      <a:pt x="200025" y="175022"/>
                    </a:cubicBezTo>
                    <a:cubicBezTo>
                      <a:pt x="161375" y="175022"/>
                      <a:pt x="124309" y="159667"/>
                      <a:pt x="96979" y="132339"/>
                    </a:cubicBezTo>
                    <a:lnTo>
                      <a:pt x="82333" y="117692"/>
                    </a:lnTo>
                    <a:lnTo>
                      <a:pt x="25003" y="175022"/>
                    </a:lnTo>
                    <a:lnTo>
                      <a:pt x="0" y="150019"/>
                    </a:lnTo>
                    <a:lnTo>
                      <a:pt x="0" y="0"/>
                    </a:lnTo>
                    <a:lnTo>
                      <a:pt x="150019" y="0"/>
                    </a:lnTo>
                    <a:lnTo>
                      <a:pt x="175022" y="25003"/>
                    </a:lnTo>
                    <a:lnTo>
                      <a:pt x="117692" y="82333"/>
                    </a:lnTo>
                    <a:lnTo>
                      <a:pt x="132339" y="96980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6191250" y="2619375"/>
            <a:ext cx="5429250" cy="952500"/>
            <a:chOff x="6191250" y="2619375"/>
            <a:chExt cx="5429250" cy="952500"/>
          </a:xfrm>
        </p:grpSpPr>
        <p:sp>
          <p:nvSpPr>
            <p:cNvPr id="40" name="Freeform 40"/>
            <p:cNvSpPr/>
            <p:nvPr/>
          </p:nvSpPr>
          <p:spPr>
            <a:xfrm>
              <a:off x="6191250" y="2619375"/>
              <a:ext cx="5429250" cy="952500"/>
            </a:xfrm>
            <a:custGeom>
              <a:avLst/>
              <a:gdLst/>
              <a:ahLst/>
              <a:cxnLst/>
              <a:rect l="l" t="t" r="r" b="b"/>
              <a:pathLst>
                <a:path w="5429250" h="952500">
                  <a:moveTo>
                    <a:pt x="76200" y="0"/>
                  </a:moveTo>
                  <a:lnTo>
                    <a:pt x="5353050" y="0"/>
                  </a:lnTo>
                  <a:cubicBezTo>
                    <a:pt x="5395134" y="0"/>
                    <a:pt x="5429250" y="34116"/>
                    <a:pt x="5429250" y="76200"/>
                  </a:cubicBezTo>
                  <a:lnTo>
                    <a:pt x="5429250" y="876300"/>
                  </a:lnTo>
                  <a:cubicBezTo>
                    <a:pt x="5429250" y="918384"/>
                    <a:pt x="5395134" y="952500"/>
                    <a:pt x="535305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91250" y="2619375"/>
              <a:ext cx="57150" cy="9525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34150" y="272415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30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1804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技术实现</a:t>
              </a:r>
              <a:endParaRPr lang="zh-CN" sz="16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58915" y="3239452"/>
              <a:ext cx="38144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FastAPI 异步管线 + WebSocket 双通道 + React 多视图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1001375" y="2809875"/>
              <a:ext cx="400050" cy="400050"/>
              <a:chOff x="11001375" y="2809875"/>
              <a:chExt cx="400050" cy="4000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1151394" y="2959894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100012"/>
                    </a:moveTo>
                    <a:lnTo>
                      <a:pt x="0" y="0"/>
                    </a:lnTo>
                    <a:lnTo>
                      <a:pt x="100012" y="0"/>
                    </a:lnTo>
                    <a:lnTo>
                      <a:pt x="100012" y="100012"/>
                    </a:lnTo>
                    <a:lnTo>
                      <a:pt x="0" y="100012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001375" y="2809875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00050">
                    <a:moveTo>
                      <a:pt x="75009" y="50006"/>
                    </a:moveTo>
                    <a:lnTo>
                      <a:pt x="75009" y="0"/>
                    </a:lnTo>
                    <a:lnTo>
                      <a:pt x="125016" y="0"/>
                    </a:lnTo>
                    <a:lnTo>
                      <a:pt x="125016" y="50006"/>
                    </a:lnTo>
                    <a:lnTo>
                      <a:pt x="175022" y="50006"/>
                    </a:lnTo>
                    <a:lnTo>
                      <a:pt x="175022" y="0"/>
                    </a:lnTo>
                    <a:lnTo>
                      <a:pt x="225028" y="0"/>
                    </a:lnTo>
                    <a:lnTo>
                      <a:pt x="225028" y="50006"/>
                    </a:lnTo>
                    <a:lnTo>
                      <a:pt x="275034" y="50006"/>
                    </a:lnTo>
                    <a:lnTo>
                      <a:pt x="275034" y="0"/>
                    </a:lnTo>
                    <a:lnTo>
                      <a:pt x="325041" y="0"/>
                    </a:lnTo>
                    <a:lnTo>
                      <a:pt x="325041" y="50006"/>
                    </a:lnTo>
                    <a:lnTo>
                      <a:pt x="350044" y="50006"/>
                    </a:lnTo>
                    <a:lnTo>
                      <a:pt x="350044" y="75009"/>
                    </a:lnTo>
                    <a:lnTo>
                      <a:pt x="400050" y="75009"/>
                    </a:lnTo>
                    <a:lnTo>
                      <a:pt x="400050" y="125016"/>
                    </a:lnTo>
                    <a:lnTo>
                      <a:pt x="350044" y="125016"/>
                    </a:lnTo>
                    <a:lnTo>
                      <a:pt x="350044" y="175022"/>
                    </a:lnTo>
                    <a:lnTo>
                      <a:pt x="400050" y="175022"/>
                    </a:lnTo>
                    <a:lnTo>
                      <a:pt x="400050" y="225028"/>
                    </a:lnTo>
                    <a:lnTo>
                      <a:pt x="350044" y="225028"/>
                    </a:lnTo>
                    <a:lnTo>
                      <a:pt x="350044" y="275034"/>
                    </a:lnTo>
                    <a:lnTo>
                      <a:pt x="400050" y="275034"/>
                    </a:lnTo>
                    <a:lnTo>
                      <a:pt x="400050" y="325041"/>
                    </a:lnTo>
                    <a:lnTo>
                      <a:pt x="350044" y="325041"/>
                    </a:lnTo>
                    <a:lnTo>
                      <a:pt x="350044" y="350044"/>
                    </a:lnTo>
                    <a:lnTo>
                      <a:pt x="325041" y="350044"/>
                    </a:lnTo>
                    <a:lnTo>
                      <a:pt x="325041" y="400050"/>
                    </a:lnTo>
                    <a:lnTo>
                      <a:pt x="275034" y="400050"/>
                    </a:lnTo>
                    <a:lnTo>
                      <a:pt x="275034" y="350044"/>
                    </a:lnTo>
                    <a:lnTo>
                      <a:pt x="225028" y="350044"/>
                    </a:lnTo>
                    <a:lnTo>
                      <a:pt x="225028" y="400050"/>
                    </a:lnTo>
                    <a:lnTo>
                      <a:pt x="175022" y="400050"/>
                    </a:lnTo>
                    <a:lnTo>
                      <a:pt x="175022" y="350044"/>
                    </a:lnTo>
                    <a:lnTo>
                      <a:pt x="125016" y="350044"/>
                    </a:lnTo>
                    <a:lnTo>
                      <a:pt x="125016" y="400050"/>
                    </a:lnTo>
                    <a:lnTo>
                      <a:pt x="75009" y="400050"/>
                    </a:lnTo>
                    <a:lnTo>
                      <a:pt x="75009" y="350044"/>
                    </a:lnTo>
                    <a:lnTo>
                      <a:pt x="50006" y="350044"/>
                    </a:lnTo>
                    <a:lnTo>
                      <a:pt x="50006" y="325041"/>
                    </a:lnTo>
                    <a:lnTo>
                      <a:pt x="0" y="325041"/>
                    </a:lnTo>
                    <a:lnTo>
                      <a:pt x="0" y="275034"/>
                    </a:lnTo>
                    <a:lnTo>
                      <a:pt x="50006" y="275034"/>
                    </a:lnTo>
                    <a:lnTo>
                      <a:pt x="50006" y="225028"/>
                    </a:lnTo>
                    <a:lnTo>
                      <a:pt x="0" y="225028"/>
                    </a:lnTo>
                    <a:lnTo>
                      <a:pt x="0" y="175022"/>
                    </a:lnTo>
                    <a:lnTo>
                      <a:pt x="50006" y="175022"/>
                    </a:lnTo>
                    <a:lnTo>
                      <a:pt x="50006" y="125016"/>
                    </a:lnTo>
                    <a:lnTo>
                      <a:pt x="0" y="125016"/>
                    </a:lnTo>
                    <a:lnTo>
                      <a:pt x="0" y="75009"/>
                    </a:lnTo>
                    <a:lnTo>
                      <a:pt x="50006" y="75009"/>
                    </a:lnTo>
                    <a:lnTo>
                      <a:pt x="50006" y="50006"/>
                    </a:lnTo>
                    <a:lnTo>
                      <a:pt x="75009" y="50006"/>
                    </a:lnTo>
                    <a:close/>
                    <a:moveTo>
                      <a:pt x="100012" y="100012"/>
                    </a:moveTo>
                    <a:lnTo>
                      <a:pt x="100012" y="300038"/>
                    </a:lnTo>
                    <a:lnTo>
                      <a:pt x="300038" y="300038"/>
                    </a:lnTo>
                    <a:lnTo>
                      <a:pt x="300038" y="100012"/>
                    </a:lnTo>
                    <a:lnTo>
                      <a:pt x="100012" y="100012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</p:grpSp>
      </p:grpSp>
      <p:grpSp>
        <p:nvGrpSpPr>
          <p:cNvPr id="55" name="Group 55"/>
          <p:cNvGrpSpPr/>
          <p:nvPr/>
        </p:nvGrpSpPr>
        <p:grpSpPr>
          <a:xfrm>
            <a:off x="3381375" y="3762375"/>
            <a:ext cx="5429250" cy="952500"/>
            <a:chOff x="3381375" y="3762375"/>
            <a:chExt cx="5429250" cy="952500"/>
          </a:xfrm>
        </p:grpSpPr>
        <p:sp>
          <p:nvSpPr>
            <p:cNvPr id="49" name="Freeform 49"/>
            <p:cNvSpPr/>
            <p:nvPr/>
          </p:nvSpPr>
          <p:spPr>
            <a:xfrm>
              <a:off x="3381375" y="3762375"/>
              <a:ext cx="5429250" cy="952500"/>
            </a:xfrm>
            <a:custGeom>
              <a:avLst/>
              <a:gdLst/>
              <a:ahLst/>
              <a:cxnLst/>
              <a:rect l="l" t="t" r="r" b="b"/>
              <a:pathLst>
                <a:path w="5429250" h="952500">
                  <a:moveTo>
                    <a:pt x="76200" y="0"/>
                  </a:moveTo>
                  <a:lnTo>
                    <a:pt x="5353050" y="0"/>
                  </a:lnTo>
                  <a:cubicBezTo>
                    <a:pt x="5395134" y="0"/>
                    <a:pt x="5429250" y="34116"/>
                    <a:pt x="5429250" y="76200"/>
                  </a:cubicBezTo>
                  <a:lnTo>
                    <a:pt x="5429250" y="876300"/>
                  </a:lnTo>
                  <a:cubicBezTo>
                    <a:pt x="5429250" y="918384"/>
                    <a:pt x="5395134" y="952500"/>
                    <a:pt x="535305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381375" y="3762375"/>
              <a:ext cx="57150" cy="952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24275" y="386715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</a:t>
              </a:r>
              <a:endParaRPr lang="zh-CN" sz="30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408170" y="401288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系统亮点与展望</a:t>
              </a:r>
              <a:endParaRPr lang="zh-CN" sz="16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49040" y="4382452"/>
              <a:ext cx="2372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五大创新点 · 工程价值 · 未来工作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Freeform 54"/>
            <p:cNvSpPr/>
            <p:nvPr/>
          </p:nvSpPr>
          <p:spPr>
            <a:xfrm>
              <a:off x="8193563" y="3952875"/>
              <a:ext cx="395924" cy="376545"/>
            </a:xfrm>
            <a:custGeom>
              <a:avLst/>
              <a:gdLst/>
              <a:ahLst/>
              <a:cxnLst/>
              <a:rect l="l" t="t" r="r" b="b"/>
              <a:pathLst>
                <a:path w="395924" h="376545">
                  <a:moveTo>
                    <a:pt x="222965" y="0"/>
                  </a:moveTo>
                  <a:lnTo>
                    <a:pt x="172959" y="0"/>
                  </a:lnTo>
                  <a:lnTo>
                    <a:pt x="135777" y="114435"/>
                  </a:lnTo>
                  <a:lnTo>
                    <a:pt x="15453" y="114435"/>
                  </a:lnTo>
                  <a:lnTo>
                    <a:pt x="0" y="161993"/>
                  </a:lnTo>
                  <a:lnTo>
                    <a:pt x="97344" y="232718"/>
                  </a:lnTo>
                  <a:lnTo>
                    <a:pt x="60163" y="347151"/>
                  </a:lnTo>
                  <a:lnTo>
                    <a:pt x="100619" y="376545"/>
                  </a:lnTo>
                  <a:lnTo>
                    <a:pt x="197962" y="305821"/>
                  </a:lnTo>
                  <a:lnTo>
                    <a:pt x="295306" y="376545"/>
                  </a:lnTo>
                  <a:lnTo>
                    <a:pt x="335761" y="347151"/>
                  </a:lnTo>
                  <a:lnTo>
                    <a:pt x="298579" y="232718"/>
                  </a:lnTo>
                  <a:lnTo>
                    <a:pt x="395924" y="161993"/>
                  </a:lnTo>
                  <a:lnTo>
                    <a:pt x="380470" y="114435"/>
                  </a:lnTo>
                  <a:lnTo>
                    <a:pt x="260147" y="114435"/>
                  </a:lnTo>
                  <a:lnTo>
                    <a:pt x="222965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571500" y="5000625"/>
            <a:ext cx="11049000" cy="762000"/>
            <a:chOff x="571500" y="5000625"/>
            <a:chExt cx="11049000" cy="762000"/>
          </a:xfrm>
        </p:grpSpPr>
        <p:sp>
          <p:nvSpPr>
            <p:cNvPr id="56" name="Freeform 56"/>
            <p:cNvSpPr/>
            <p:nvPr/>
          </p:nvSpPr>
          <p:spPr>
            <a:xfrm>
              <a:off x="571500" y="5000625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704850"/>
                  </a:lnTo>
                  <a:cubicBezTo>
                    <a:pt x="11049000" y="736413"/>
                    <a:pt x="11023413" y="762000"/>
                    <a:pt x="10991850" y="762000"/>
                  </a:cubicBezTo>
                  <a:lnTo>
                    <a:pt x="57150" y="762000"/>
                  </a:lnTo>
                  <a:cubicBezTo>
                    <a:pt x="25587" y="762000"/>
                    <a:pt x="0" y="736413"/>
                    <a:pt x="0" y="704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39165" y="51730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汇报节奏</a:t>
              </a:r>
              <a:endParaRPr lang="zh-CN" sz="10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0118" y="5466874"/>
              <a:ext cx="985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陈述 8 - 10 min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Line 59"/>
            <p:cNvSpPr/>
            <p:nvPr/>
          </p:nvSpPr>
          <p:spPr>
            <a:xfrm>
              <a:off x="2667000" y="51435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034665" y="51730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章节分布</a:t>
              </a:r>
              <a:endParaRPr lang="zh-CN" sz="10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035618" y="5466874"/>
              <a:ext cx="25523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I·1.5 → II·3 → III·2 → IV·1.5 → V·1.5 min</a:t>
              </a:r>
              <a:endParaRPr lang="zh-CN" sz="975" dirty="0">
                <a:solidFill>
                  <a:srgbClr val="6666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2" name="Line 62"/>
            <p:cNvSpPr/>
            <p:nvPr/>
          </p:nvSpPr>
          <p:spPr>
            <a:xfrm>
              <a:off x="7620000" y="51435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987665" y="51730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现场演示</a:t>
              </a:r>
              <a:endParaRPr lang="zh-CN" sz="10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88618" y="5466874"/>
              <a:ext cx="18414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C00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/api/spike → 实时溢出告警</a:t>
              </a:r>
              <a:endParaRPr lang="zh-CN" sz="975" b="1" dirty="0">
                <a:solidFill>
                  <a:srgbClr val="CC00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81000" y="6334125"/>
            <a:ext cx="11442383" cy="397669"/>
            <a:chOff x="381000" y="6334125"/>
            <a:chExt cx="11442383" cy="397669"/>
          </a:xfrm>
        </p:grpSpPr>
        <p:sp>
          <p:nvSpPr>
            <p:cNvPr id="66" name="Line 66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782246" y="6541770"/>
              <a:ext cx="6275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CONTENTS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321582" y="6533674"/>
              <a:ext cx="501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2594943" cy="762000"/>
            <a:chOff x="0" y="0"/>
            <a:chExt cx="2594943" cy="762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57150" cy="7620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67665" y="34385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 / RESEARCH BACKGROUND</a:t>
              </a:r>
              <a:endParaRPr lang="zh-CN" sz="1050" dirty="0">
                <a:solidFill>
                  <a:srgbClr val="FFFFFF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8" name="Rectangle 8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76300" y="2495550"/>
            <a:ext cx="3270742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</a:t>
            </a:r>
            <a:endParaRPr lang="zh-CN" sz="21000" b="1" dirty="0">
              <a:solidFill>
                <a:srgbClr val="FFFFFF">
                  <a:alpha val="8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66160" y="2832735"/>
            <a:ext cx="461524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研究背景与挑战</a:t>
            </a:r>
            <a:endParaRPr lang="zh-CN" sz="4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598545" y="3489008"/>
            <a:ext cx="39819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i="1" dirty="0">
                <a:solidFill>
                  <a:srgbClr val="FFFFFF">
                    <a:alpha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Research Background &amp; Challenges</a:t>
            </a:r>
            <a:endParaRPr lang="zh-CN" sz="1650" i="1" dirty="0">
              <a:solidFill>
                <a:srgbClr val="FFFFFF">
                  <a:alpha val="5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600450" y="4076700"/>
            <a:ext cx="53835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国产大模型 × 端-边-云协同 × 深海作战场景的工程现实</a:t>
            </a:r>
            <a:endParaRPr lang="zh-CN" sz="1500" dirty="0">
              <a:solidFill>
                <a:srgbClr val="E8F4F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3619500" y="4667250"/>
            <a:ext cx="4876800" cy="342900"/>
            <a:chOff x="3619500" y="4667250"/>
            <a:chExt cx="4876800" cy="342900"/>
          </a:xfrm>
        </p:grpSpPr>
        <p:sp>
          <p:nvSpPr>
            <p:cNvPr id="14" name="Freeform 14"/>
            <p:cNvSpPr/>
            <p:nvPr/>
          </p:nvSpPr>
          <p:spPr>
            <a:xfrm>
              <a:off x="36195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45802" y="479059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国产大模型机遇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2959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22202" y="479059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端边云三层痛点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9723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73361" y="47905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毫秒级实时性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68618" y="6371749"/>
            <a:ext cx="18189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CHAPTER 01 / 05 · Slides 04</a:t>
            </a:r>
            <a:endParaRPr lang="zh-CN" sz="975" dirty="0">
              <a:solidFill>
                <a:srgbClr val="FFFFFF">
                  <a:alpha val="40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283934" y="63636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>
                    <a:alpha val="4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 / 20</a:t>
            </a:r>
            <a:endParaRPr lang="zh-CN" sz="1050" dirty="0">
              <a:solidFill>
                <a:srgbClr val="FFFFFF">
                  <a:alpha val="4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58838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· 研究背景与挑战 / 技术机遇与场景三大痛点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86945" y="332899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 · 1 / 1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79840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国产大模型 + 国产算力已具备工程可行性 — 但深海端-边-云协同仍面临三大结构性矛盾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81000" y="1476375"/>
            <a:ext cx="5572125" cy="4524375"/>
            <a:chOff x="381000" y="1476375"/>
            <a:chExt cx="5572125" cy="4524375"/>
          </a:xfrm>
        </p:grpSpPr>
        <p:sp>
          <p:nvSpPr>
            <p:cNvPr id="12" name="Freeform 12"/>
            <p:cNvSpPr/>
            <p:nvPr/>
          </p:nvSpPr>
          <p:spPr>
            <a:xfrm>
              <a:off x="381000" y="1476375"/>
              <a:ext cx="5572125" cy="4524375"/>
            </a:xfrm>
            <a:custGeom>
              <a:avLst/>
              <a:gdLst/>
              <a:ahLst/>
              <a:cxnLst/>
              <a:rect l="l" t="t" r="r" b="b"/>
              <a:pathLst>
                <a:path w="5572125" h="4524375">
                  <a:moveTo>
                    <a:pt x="95250" y="0"/>
                  </a:moveTo>
                  <a:lnTo>
                    <a:pt x="5476875" y="0"/>
                  </a:lnTo>
                  <a:cubicBezTo>
                    <a:pt x="5529480" y="0"/>
                    <a:pt x="5572125" y="42645"/>
                    <a:pt x="5572125" y="95250"/>
                  </a:cubicBezTo>
                  <a:lnTo>
                    <a:pt x="5572125" y="4429125"/>
                  </a:lnTo>
                  <a:cubicBezTo>
                    <a:pt x="5572125" y="4481730"/>
                    <a:pt x="5529480" y="4524375"/>
                    <a:pt x="5476875" y="4524375"/>
                  </a:cubicBezTo>
                  <a:lnTo>
                    <a:pt x="95250" y="4524375"/>
                  </a:lnTo>
                  <a:cubicBezTo>
                    <a:pt x="42645" y="4524375"/>
                    <a:pt x="0" y="4481730"/>
                    <a:pt x="0" y="442912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81000" y="1476375"/>
              <a:ext cx="57150" cy="4524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66750" y="1714500"/>
              <a:ext cx="342900" cy="342900"/>
              <a:chOff x="666750" y="1714500"/>
              <a:chExt cx="342900" cy="3429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66750" y="17145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214312" y="342900"/>
                    </a:moveTo>
                    <a:lnTo>
                      <a:pt x="257175" y="300038"/>
                    </a:lnTo>
                    <a:lnTo>
                      <a:pt x="257175" y="214312"/>
                    </a:lnTo>
                    <a:lnTo>
                      <a:pt x="292684" y="178804"/>
                    </a:lnTo>
                    <a:cubicBezTo>
                      <a:pt x="324836" y="146651"/>
                      <a:pt x="342900" y="103042"/>
                      <a:pt x="342900" y="57571"/>
                    </a:cubicBezTo>
                    <a:lnTo>
                      <a:pt x="342900" y="0"/>
                    </a:lnTo>
                    <a:lnTo>
                      <a:pt x="285329" y="0"/>
                    </a:lnTo>
                    <a:cubicBezTo>
                      <a:pt x="239859" y="0"/>
                      <a:pt x="196249" y="18063"/>
                      <a:pt x="164096" y="50217"/>
                    </a:cubicBezTo>
                    <a:lnTo>
                      <a:pt x="128588" y="85725"/>
                    </a:lnTo>
                    <a:lnTo>
                      <a:pt x="42862" y="85725"/>
                    </a:lnTo>
                    <a:lnTo>
                      <a:pt x="0" y="128588"/>
                    </a:lnTo>
                    <a:lnTo>
                      <a:pt x="214312" y="342900"/>
                    </a:lnTo>
                    <a:close/>
                    <a:moveTo>
                      <a:pt x="225028" y="150019"/>
                    </a:moveTo>
                    <a:cubicBezTo>
                      <a:pt x="242782" y="150019"/>
                      <a:pt x="257175" y="135626"/>
                      <a:pt x="257175" y="117872"/>
                    </a:cubicBezTo>
                    <a:cubicBezTo>
                      <a:pt x="257175" y="100118"/>
                      <a:pt x="242782" y="85725"/>
                      <a:pt x="225028" y="85725"/>
                    </a:cubicBezTo>
                    <a:cubicBezTo>
                      <a:pt x="207274" y="85725"/>
                      <a:pt x="192881" y="100118"/>
                      <a:pt x="192881" y="117872"/>
                    </a:cubicBezTo>
                    <a:cubicBezTo>
                      <a:pt x="192881" y="135626"/>
                      <a:pt x="207274" y="150019"/>
                      <a:pt x="225028" y="150019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66750" y="1951800"/>
                <a:ext cx="105600" cy="105600"/>
              </a:xfrm>
              <a:custGeom>
                <a:avLst/>
                <a:gdLst/>
                <a:ahLst/>
                <a:cxnLst/>
                <a:rect l="l" t="t" r="r" b="b"/>
                <a:pathLst>
                  <a:path w="105600" h="105600">
                    <a:moveTo>
                      <a:pt x="105600" y="57504"/>
                    </a:moveTo>
                    <a:lnTo>
                      <a:pt x="48097" y="0"/>
                    </a:lnTo>
                    <a:lnTo>
                      <a:pt x="0" y="84169"/>
                    </a:lnTo>
                    <a:lnTo>
                      <a:pt x="21431" y="105600"/>
                    </a:lnTo>
                    <a:lnTo>
                      <a:pt x="105600" y="57504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122045" y="17840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技术机遇</a:t>
              </a:r>
              <a:endParaRPr lang="zh-CN" sz="16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0618" y="2085499"/>
              <a:ext cx="1619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TECHNICAL OPPORTUNITY</a:t>
              </a:r>
              <a:endParaRPr lang="zh-CN" sz="975" dirty="0">
                <a:solidFill>
                  <a:srgbClr val="6666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66750" y="2476500"/>
              <a:ext cx="5000625" cy="952500"/>
            </a:xfrm>
            <a:custGeom>
              <a:avLst/>
              <a:gdLst/>
              <a:ahLst/>
              <a:cxnLst/>
              <a:rect l="l" t="t" r="r" b="b"/>
              <a:pathLst>
                <a:path w="5000625" h="952500">
                  <a:moveTo>
                    <a:pt x="57150" y="0"/>
                  </a:moveTo>
                  <a:lnTo>
                    <a:pt x="4943475" y="0"/>
                  </a:lnTo>
                  <a:cubicBezTo>
                    <a:pt x="4975038" y="0"/>
                    <a:pt x="5000625" y="25587"/>
                    <a:pt x="5000625" y="57150"/>
                  </a:cubicBezTo>
                  <a:lnTo>
                    <a:pt x="5000625" y="895350"/>
                  </a:lnTo>
                  <a:cubicBezTo>
                    <a:pt x="5000625" y="926913"/>
                    <a:pt x="4975038" y="952500"/>
                    <a:pt x="4943475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" y="2476500"/>
              <a:ext cx="38100" cy="9525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010" y="2613660"/>
              <a:ext cx="32232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DeepSeek-V4 系列国产大模型量产可用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3915" y="2887028"/>
              <a:ext cx="26643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V4-Pro 战略推理 / V4-Flash 战术推理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915" y="3125152"/>
              <a:ext cx="2564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开源、OpenAI 兼容协议，无外部依赖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66750" y="3571875"/>
              <a:ext cx="5000625" cy="952500"/>
            </a:xfrm>
            <a:custGeom>
              <a:avLst/>
              <a:gdLst/>
              <a:ahLst/>
              <a:cxnLst/>
              <a:rect l="l" t="t" r="r" b="b"/>
              <a:pathLst>
                <a:path w="5000625" h="952500">
                  <a:moveTo>
                    <a:pt x="57150" y="0"/>
                  </a:moveTo>
                  <a:lnTo>
                    <a:pt x="4943475" y="0"/>
                  </a:lnTo>
                  <a:cubicBezTo>
                    <a:pt x="4975038" y="0"/>
                    <a:pt x="5000625" y="25587"/>
                    <a:pt x="5000625" y="57150"/>
                  </a:cubicBezTo>
                  <a:lnTo>
                    <a:pt x="5000625" y="895350"/>
                  </a:lnTo>
                  <a:cubicBezTo>
                    <a:pt x="5000625" y="926913"/>
                    <a:pt x="4975038" y="952500"/>
                    <a:pt x="4943475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3571875"/>
              <a:ext cx="38100" cy="9525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010" y="3709035"/>
              <a:ext cx="2284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华为昇腾 GPU 算力大幅跃升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915" y="39824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国有化基础设施承载顶级模型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915" y="4220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本地化部署具备工程可行性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66750" y="4667250"/>
              <a:ext cx="5000625" cy="952500"/>
            </a:xfrm>
            <a:custGeom>
              <a:avLst/>
              <a:gdLst/>
              <a:ahLst/>
              <a:cxnLst/>
              <a:rect l="l" t="t" r="r" b="b"/>
              <a:pathLst>
                <a:path w="5000625" h="952500">
                  <a:moveTo>
                    <a:pt x="57150" y="0"/>
                  </a:moveTo>
                  <a:lnTo>
                    <a:pt x="4943475" y="0"/>
                  </a:lnTo>
                  <a:cubicBezTo>
                    <a:pt x="4975038" y="0"/>
                    <a:pt x="5000625" y="25587"/>
                    <a:pt x="5000625" y="57150"/>
                  </a:cubicBezTo>
                  <a:lnTo>
                    <a:pt x="5000625" y="895350"/>
                  </a:lnTo>
                  <a:cubicBezTo>
                    <a:pt x="5000625" y="926913"/>
                    <a:pt x="4975038" y="952500"/>
                    <a:pt x="4943475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6750" y="4667250"/>
              <a:ext cx="38100" cy="9525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2010" y="4804410"/>
              <a:ext cx="26068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为军事智能化决策提供算力底座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915" y="507777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从理论可能到工程可落地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915" y="531590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军用 / 民用同源算力栈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238875" y="1476375"/>
            <a:ext cx="5572125" cy="4524375"/>
            <a:chOff x="6238875" y="1476375"/>
            <a:chExt cx="5572125" cy="4524375"/>
          </a:xfrm>
        </p:grpSpPr>
        <p:sp>
          <p:nvSpPr>
            <p:cNvPr id="35" name="Freeform 35"/>
            <p:cNvSpPr/>
            <p:nvPr/>
          </p:nvSpPr>
          <p:spPr>
            <a:xfrm>
              <a:off x="6238875" y="1476375"/>
              <a:ext cx="5572125" cy="4524375"/>
            </a:xfrm>
            <a:custGeom>
              <a:avLst/>
              <a:gdLst/>
              <a:ahLst/>
              <a:cxnLst/>
              <a:rect l="l" t="t" r="r" b="b"/>
              <a:pathLst>
                <a:path w="5572125" h="4524375">
                  <a:moveTo>
                    <a:pt x="95250" y="0"/>
                  </a:moveTo>
                  <a:lnTo>
                    <a:pt x="5476875" y="0"/>
                  </a:lnTo>
                  <a:cubicBezTo>
                    <a:pt x="5529480" y="0"/>
                    <a:pt x="5572125" y="42645"/>
                    <a:pt x="5572125" y="95250"/>
                  </a:cubicBezTo>
                  <a:lnTo>
                    <a:pt x="5572125" y="4429125"/>
                  </a:lnTo>
                  <a:cubicBezTo>
                    <a:pt x="5572125" y="4481730"/>
                    <a:pt x="5529480" y="4524375"/>
                    <a:pt x="5476875" y="4524375"/>
                  </a:cubicBezTo>
                  <a:lnTo>
                    <a:pt x="95250" y="4524375"/>
                  </a:lnTo>
                  <a:cubicBezTo>
                    <a:pt x="42645" y="4524375"/>
                    <a:pt x="0" y="4481730"/>
                    <a:pt x="0" y="442912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38875" y="1476375"/>
              <a:ext cx="57150" cy="45243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546056" y="17145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300038" y="192881"/>
                  </a:moveTo>
                  <a:cubicBezTo>
                    <a:pt x="300038" y="275734"/>
                    <a:pt x="232872" y="342900"/>
                    <a:pt x="150019" y="342900"/>
                  </a:cubicBezTo>
                  <a:cubicBezTo>
                    <a:pt x="67166" y="342900"/>
                    <a:pt x="0" y="275734"/>
                    <a:pt x="0" y="192881"/>
                  </a:cubicBezTo>
                  <a:cubicBezTo>
                    <a:pt x="0" y="117872"/>
                    <a:pt x="64294" y="64294"/>
                    <a:pt x="64294" y="64294"/>
                  </a:cubicBezTo>
                  <a:lnTo>
                    <a:pt x="107156" y="64294"/>
                  </a:lnTo>
                  <a:lnTo>
                    <a:pt x="107156" y="96441"/>
                  </a:lnTo>
                  <a:cubicBezTo>
                    <a:pt x="107156" y="108277"/>
                    <a:pt x="116751" y="117872"/>
                    <a:pt x="128588" y="117872"/>
                  </a:cubicBezTo>
                  <a:cubicBezTo>
                    <a:pt x="140424" y="117872"/>
                    <a:pt x="150019" y="108277"/>
                    <a:pt x="150019" y="96441"/>
                  </a:cubicBezTo>
                  <a:lnTo>
                    <a:pt x="150019" y="0"/>
                  </a:lnTo>
                  <a:lnTo>
                    <a:pt x="192881" y="0"/>
                  </a:lnTo>
                  <a:cubicBezTo>
                    <a:pt x="192881" y="0"/>
                    <a:pt x="300038" y="64294"/>
                    <a:pt x="300038" y="192881"/>
                  </a:cubicBezTo>
                  <a:close/>
                  <a:moveTo>
                    <a:pt x="192881" y="257175"/>
                  </a:moveTo>
                  <a:cubicBezTo>
                    <a:pt x="192881" y="280848"/>
                    <a:pt x="173691" y="300038"/>
                    <a:pt x="150019" y="300038"/>
                  </a:cubicBezTo>
                  <a:cubicBezTo>
                    <a:pt x="126346" y="300038"/>
                    <a:pt x="107156" y="280848"/>
                    <a:pt x="107156" y="257175"/>
                  </a:cubicBezTo>
                  <a:cubicBezTo>
                    <a:pt x="107156" y="203597"/>
                    <a:pt x="150019" y="171450"/>
                    <a:pt x="150019" y="171450"/>
                  </a:cubicBezTo>
                  <a:cubicBezTo>
                    <a:pt x="150019" y="171450"/>
                    <a:pt x="192881" y="203597"/>
                    <a:pt x="192881" y="257175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79920" y="17840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场景三大痛点</a:t>
              </a:r>
              <a:endParaRPr lang="zh-CN" sz="16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88492" y="208549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SCENARIO PAIN POINTS</a:t>
              </a:r>
              <a:endParaRPr lang="zh-CN" sz="975" dirty="0">
                <a:solidFill>
                  <a:srgbClr val="6666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524625" y="2476500"/>
              <a:ext cx="5000625" cy="952500"/>
            </a:xfrm>
            <a:custGeom>
              <a:avLst/>
              <a:gdLst/>
              <a:ahLst/>
              <a:cxnLst/>
              <a:rect l="l" t="t" r="r" b="b"/>
              <a:pathLst>
                <a:path w="5000625" h="952500">
                  <a:moveTo>
                    <a:pt x="57150" y="0"/>
                  </a:moveTo>
                  <a:lnTo>
                    <a:pt x="4943475" y="0"/>
                  </a:lnTo>
                  <a:cubicBezTo>
                    <a:pt x="4975038" y="0"/>
                    <a:pt x="5000625" y="25587"/>
                    <a:pt x="5000625" y="57150"/>
                  </a:cubicBezTo>
                  <a:lnTo>
                    <a:pt x="5000625" y="895350"/>
                  </a:lnTo>
                  <a:cubicBezTo>
                    <a:pt x="5000625" y="926913"/>
                    <a:pt x="4975038" y="952500"/>
                    <a:pt x="4943475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524625" y="2476500"/>
              <a:ext cx="38100" cy="952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686550" y="2667000"/>
              <a:ext cx="266700" cy="268167"/>
              <a:chOff x="6686550" y="2667000"/>
              <a:chExt cx="266700" cy="268167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762750" y="2667000"/>
                <a:ext cx="114300" cy="5508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5089">
                    <a:moveTo>
                      <a:pt x="114300" y="0"/>
                    </a:moveTo>
                    <a:lnTo>
                      <a:pt x="0" y="0"/>
                    </a:lnTo>
                    <a:lnTo>
                      <a:pt x="0" y="55089"/>
                    </a:lnTo>
                    <a:lnTo>
                      <a:pt x="57150" y="36039"/>
                    </a:lnTo>
                    <a:lnTo>
                      <a:pt x="114300" y="55089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686550" y="2743200"/>
                <a:ext cx="266700" cy="191967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91967">
                    <a:moveTo>
                      <a:pt x="133350" y="0"/>
                    </a:moveTo>
                    <a:lnTo>
                      <a:pt x="19050" y="38100"/>
                    </a:lnTo>
                    <a:lnTo>
                      <a:pt x="38100" y="152400"/>
                    </a:lnTo>
                    <a:lnTo>
                      <a:pt x="0" y="152400"/>
                    </a:lnTo>
                    <a:lnTo>
                      <a:pt x="0" y="190500"/>
                    </a:lnTo>
                    <a:lnTo>
                      <a:pt x="41769" y="190500"/>
                    </a:lnTo>
                    <a:lnTo>
                      <a:pt x="85725" y="172917"/>
                    </a:lnTo>
                    <a:lnTo>
                      <a:pt x="133350" y="191967"/>
                    </a:lnTo>
                    <a:lnTo>
                      <a:pt x="180975" y="172917"/>
                    </a:lnTo>
                    <a:lnTo>
                      <a:pt x="224931" y="190500"/>
                    </a:lnTo>
                    <a:lnTo>
                      <a:pt x="266700" y="190500"/>
                    </a:lnTo>
                    <a:lnTo>
                      <a:pt x="266700" y="152400"/>
                    </a:lnTo>
                    <a:lnTo>
                      <a:pt x="228600" y="152400"/>
                    </a:lnTo>
                    <a:lnTo>
                      <a:pt x="247650" y="3810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080885" y="2708910"/>
              <a:ext cx="20271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端侧数据积压（潜艇）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1790" y="3010852"/>
              <a:ext cx="29633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深海通信间歇 + 艇内不适宜搭载高成本算力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01790" y="32204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数据只能批量暂存，待上浮一次性上传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524625" y="3571875"/>
              <a:ext cx="5000625" cy="952500"/>
            </a:xfrm>
            <a:custGeom>
              <a:avLst/>
              <a:gdLst/>
              <a:ahLst/>
              <a:cxnLst/>
              <a:rect l="l" t="t" r="r" b="b"/>
              <a:pathLst>
                <a:path w="5000625" h="952500">
                  <a:moveTo>
                    <a:pt x="57150" y="0"/>
                  </a:moveTo>
                  <a:lnTo>
                    <a:pt x="4943475" y="0"/>
                  </a:lnTo>
                  <a:cubicBezTo>
                    <a:pt x="4975038" y="0"/>
                    <a:pt x="5000625" y="25587"/>
                    <a:pt x="5000625" y="57150"/>
                  </a:cubicBezTo>
                  <a:lnTo>
                    <a:pt x="5000625" y="895350"/>
                  </a:lnTo>
                  <a:cubicBezTo>
                    <a:pt x="5000625" y="926913"/>
                    <a:pt x="4975038" y="952500"/>
                    <a:pt x="4943475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524625" y="3571875"/>
              <a:ext cx="38100" cy="952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67500" y="3743325"/>
              <a:ext cx="304800" cy="304800"/>
              <a:chOff x="6667500" y="3743325"/>
              <a:chExt cx="304800" cy="304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781800" y="38576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0"/>
                    </a:lnTo>
                    <a:lnTo>
                      <a:pt x="76200" y="0"/>
                    </a:lnTo>
                    <a:lnTo>
                      <a:pt x="762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667500" y="3743325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57150" y="38100"/>
                    </a:moveTo>
                    <a:lnTo>
                      <a:pt x="57150" y="0"/>
                    </a:lnTo>
                    <a:lnTo>
                      <a:pt x="95250" y="0"/>
                    </a:lnTo>
                    <a:lnTo>
                      <a:pt x="95250" y="38100"/>
                    </a:lnTo>
                    <a:lnTo>
                      <a:pt x="133350" y="38100"/>
                    </a:lnTo>
                    <a:lnTo>
                      <a:pt x="133350" y="0"/>
                    </a:lnTo>
                    <a:lnTo>
                      <a:pt x="171450" y="0"/>
                    </a:lnTo>
                    <a:lnTo>
                      <a:pt x="171450" y="38100"/>
                    </a:lnTo>
                    <a:lnTo>
                      <a:pt x="209550" y="38100"/>
                    </a:lnTo>
                    <a:lnTo>
                      <a:pt x="209550" y="0"/>
                    </a:lnTo>
                    <a:lnTo>
                      <a:pt x="247650" y="0"/>
                    </a:lnTo>
                    <a:lnTo>
                      <a:pt x="247650" y="38100"/>
                    </a:lnTo>
                    <a:lnTo>
                      <a:pt x="266700" y="38100"/>
                    </a:lnTo>
                    <a:lnTo>
                      <a:pt x="266700" y="57150"/>
                    </a:lnTo>
                    <a:lnTo>
                      <a:pt x="304800" y="57150"/>
                    </a:lnTo>
                    <a:lnTo>
                      <a:pt x="304800" y="95250"/>
                    </a:lnTo>
                    <a:lnTo>
                      <a:pt x="266700" y="95250"/>
                    </a:lnTo>
                    <a:lnTo>
                      <a:pt x="266700" y="133350"/>
                    </a:lnTo>
                    <a:lnTo>
                      <a:pt x="304800" y="133350"/>
                    </a:lnTo>
                    <a:lnTo>
                      <a:pt x="304800" y="171450"/>
                    </a:lnTo>
                    <a:lnTo>
                      <a:pt x="266700" y="171450"/>
                    </a:lnTo>
                    <a:lnTo>
                      <a:pt x="266700" y="209550"/>
                    </a:lnTo>
                    <a:lnTo>
                      <a:pt x="304800" y="209550"/>
                    </a:lnTo>
                    <a:lnTo>
                      <a:pt x="304800" y="247650"/>
                    </a:lnTo>
                    <a:lnTo>
                      <a:pt x="266700" y="247650"/>
                    </a:lnTo>
                    <a:lnTo>
                      <a:pt x="266700" y="266700"/>
                    </a:lnTo>
                    <a:lnTo>
                      <a:pt x="247650" y="266700"/>
                    </a:lnTo>
                    <a:lnTo>
                      <a:pt x="247650" y="304800"/>
                    </a:lnTo>
                    <a:lnTo>
                      <a:pt x="209550" y="304800"/>
                    </a:lnTo>
                    <a:lnTo>
                      <a:pt x="209550" y="266700"/>
                    </a:lnTo>
                    <a:lnTo>
                      <a:pt x="171450" y="266700"/>
                    </a:lnTo>
                    <a:lnTo>
                      <a:pt x="171450" y="304800"/>
                    </a:lnTo>
                    <a:lnTo>
                      <a:pt x="133350" y="304800"/>
                    </a:lnTo>
                    <a:lnTo>
                      <a:pt x="133350" y="266700"/>
                    </a:lnTo>
                    <a:lnTo>
                      <a:pt x="95250" y="266700"/>
                    </a:lnTo>
                    <a:lnTo>
                      <a:pt x="95250" y="304800"/>
                    </a:lnTo>
                    <a:lnTo>
                      <a:pt x="57150" y="304800"/>
                    </a:lnTo>
                    <a:lnTo>
                      <a:pt x="57150" y="266700"/>
                    </a:lnTo>
                    <a:lnTo>
                      <a:pt x="38100" y="266700"/>
                    </a:lnTo>
                    <a:lnTo>
                      <a:pt x="38100" y="247650"/>
                    </a:lnTo>
                    <a:lnTo>
                      <a:pt x="0" y="247650"/>
                    </a:lnTo>
                    <a:lnTo>
                      <a:pt x="0" y="209550"/>
                    </a:lnTo>
                    <a:lnTo>
                      <a:pt x="38100" y="209550"/>
                    </a:lnTo>
                    <a:lnTo>
                      <a:pt x="38100" y="171450"/>
                    </a:lnTo>
                    <a:lnTo>
                      <a:pt x="0" y="171450"/>
                    </a:lnTo>
                    <a:lnTo>
                      <a:pt x="0" y="133350"/>
                    </a:lnTo>
                    <a:lnTo>
                      <a:pt x="38100" y="133350"/>
                    </a:lnTo>
                    <a:lnTo>
                      <a:pt x="38100" y="95250"/>
                    </a:lnTo>
                    <a:lnTo>
                      <a:pt x="0" y="95250"/>
                    </a:lnTo>
                    <a:lnTo>
                      <a:pt x="0" y="57150"/>
                    </a:lnTo>
                    <a:lnTo>
                      <a:pt x="38100" y="57150"/>
                    </a:lnTo>
                    <a:lnTo>
                      <a:pt x="38100" y="38100"/>
                    </a:lnTo>
                    <a:lnTo>
                      <a:pt x="57150" y="38100"/>
                    </a:lnTo>
                    <a:close/>
                    <a:moveTo>
                      <a:pt x="76200" y="76200"/>
                    </a:moveTo>
                    <a:lnTo>
                      <a:pt x="76200" y="228600"/>
                    </a:lnTo>
                    <a:lnTo>
                      <a:pt x="228600" y="228600"/>
                    </a:lnTo>
                    <a:lnTo>
                      <a:pt x="228600" y="76200"/>
                    </a:lnTo>
                    <a:lnTo>
                      <a:pt x="76200" y="7620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080885" y="3804285"/>
              <a:ext cx="20271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边缘算力瓶颈（航母）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01790" y="41062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一次性接收量大且突发性强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01790" y="431577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边缘算力资源有限，时效窗口内无法消化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Freeform 56"/>
            <p:cNvSpPr/>
            <p:nvPr/>
          </p:nvSpPr>
          <p:spPr>
            <a:xfrm>
              <a:off x="6524625" y="4667250"/>
              <a:ext cx="5000625" cy="952500"/>
            </a:xfrm>
            <a:custGeom>
              <a:avLst/>
              <a:gdLst/>
              <a:ahLst/>
              <a:cxnLst/>
              <a:rect l="l" t="t" r="r" b="b"/>
              <a:pathLst>
                <a:path w="5000625" h="952500">
                  <a:moveTo>
                    <a:pt x="57150" y="0"/>
                  </a:moveTo>
                  <a:lnTo>
                    <a:pt x="4943475" y="0"/>
                  </a:lnTo>
                  <a:cubicBezTo>
                    <a:pt x="4975038" y="0"/>
                    <a:pt x="5000625" y="25587"/>
                    <a:pt x="5000625" y="57150"/>
                  </a:cubicBezTo>
                  <a:lnTo>
                    <a:pt x="5000625" y="895350"/>
                  </a:lnTo>
                  <a:cubicBezTo>
                    <a:pt x="5000625" y="926913"/>
                    <a:pt x="4975038" y="952500"/>
                    <a:pt x="4943475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524625" y="4667250"/>
              <a:ext cx="38100" cy="952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6667500" y="48768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228600" y="76200"/>
                  </a:moveTo>
                  <a:cubicBezTo>
                    <a:pt x="228600" y="34116"/>
                    <a:pt x="194483" y="0"/>
                    <a:pt x="152400" y="0"/>
                  </a:cubicBezTo>
                  <a:cubicBezTo>
                    <a:pt x="110316" y="0"/>
                    <a:pt x="76200" y="34116"/>
                    <a:pt x="76200" y="76200"/>
                  </a:cubicBezTo>
                  <a:cubicBezTo>
                    <a:pt x="34116" y="76200"/>
                    <a:pt x="0" y="110316"/>
                    <a:pt x="0" y="152400"/>
                  </a:cubicBezTo>
                  <a:lnTo>
                    <a:pt x="0" y="228600"/>
                  </a:lnTo>
                  <a:lnTo>
                    <a:pt x="304800" y="228600"/>
                  </a:lnTo>
                  <a:lnTo>
                    <a:pt x="304800" y="171450"/>
                  </a:lnTo>
                  <a:cubicBezTo>
                    <a:pt x="304800" y="129366"/>
                    <a:pt x="270683" y="95250"/>
                    <a:pt x="228600" y="95250"/>
                  </a:cubicBezTo>
                  <a:lnTo>
                    <a:pt x="228600" y="7620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80885" y="4899660"/>
              <a:ext cx="23951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云端时效不足（数据中心）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01790" y="5201602"/>
              <a:ext cx="26566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陆地算力充沛，但传输延迟 + 排队处理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01790" y="54111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无法满足战术级实时性要求</a:t>
              </a:r>
              <a:endParaRPr lang="zh-CN" sz="10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81000" y="6334125"/>
            <a:ext cx="11442383" cy="378619"/>
            <a:chOff x="381000" y="6334125"/>
            <a:chExt cx="11442383" cy="378619"/>
          </a:xfrm>
        </p:grpSpPr>
        <p:sp>
          <p:nvSpPr>
            <p:cNvPr id="63" name="Line 63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64909" y="6522720"/>
              <a:ext cx="14621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I · 研究背景与挑战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321582" y="6514624"/>
              <a:ext cx="501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2602611" cy="762000"/>
            <a:chOff x="0" y="0"/>
            <a:chExt cx="2602611" cy="762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57150" cy="7620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67665" y="343852"/>
              <a:ext cx="2234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II / SYSTEM ARCHITECTURE</a:t>
              </a:r>
              <a:endParaRPr lang="zh-CN" sz="1050" dirty="0">
                <a:solidFill>
                  <a:srgbClr val="FFFFFF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8" name="Rectangle 8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76300" y="24955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21000" b="1" dirty="0">
              <a:solidFill>
                <a:srgbClr val="FFFFFF">
                  <a:alpha val="8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66160" y="2832735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系统架构</a:t>
            </a:r>
            <a:endParaRPr lang="zh-CN" sz="4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598545" y="3489008"/>
            <a:ext cx="24878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i="1" dirty="0">
                <a:solidFill>
                  <a:srgbClr val="FFFFFF">
                    <a:alpha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System Architecture</a:t>
            </a:r>
            <a:endParaRPr lang="zh-CN" sz="1650" i="1" dirty="0">
              <a:solidFill>
                <a:srgbClr val="FFFFFF">
                  <a:alpha val="5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600450" y="4076700"/>
            <a:ext cx="47263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端-边-云三层 + 三级评估路由器 + 弹性溢出保护</a:t>
            </a:r>
            <a:endParaRPr lang="zh-CN" sz="1500" dirty="0">
              <a:solidFill>
                <a:srgbClr val="E8F4F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3619500" y="4667250"/>
            <a:ext cx="4876800" cy="342900"/>
            <a:chOff x="3619500" y="4667250"/>
            <a:chExt cx="4876800" cy="342900"/>
          </a:xfrm>
        </p:grpSpPr>
        <p:sp>
          <p:nvSpPr>
            <p:cNvPr id="14" name="Freeform 14"/>
            <p:cNvSpPr/>
            <p:nvPr/>
          </p:nvSpPr>
          <p:spPr>
            <a:xfrm>
              <a:off x="36195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23374" y="4790599"/>
              <a:ext cx="11162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端 / 边 / 云三层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2959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73609" y="4790599"/>
              <a:ext cx="1168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L0 / L1 / L2 路由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9723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09816" y="4790599"/>
              <a:ext cx="1048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SPILLOVER 85%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68618" y="6371749"/>
            <a:ext cx="20895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CHAPTER 02 / 05 · Slides 06–09</a:t>
            </a:r>
            <a:endParaRPr lang="zh-CN" sz="975" dirty="0">
              <a:solidFill>
                <a:srgbClr val="FFFFFF">
                  <a:alpha val="40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283934" y="63636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>
                    <a:alpha val="4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 / 20</a:t>
            </a:r>
            <a:endParaRPr lang="zh-CN" sz="1050" dirty="0">
              <a:solidFill>
                <a:srgbClr val="FFFFFF">
                  <a:alpha val="4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43242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· 系统架构 / 端-边-云三层总览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08625" y="332899"/>
              <a:ext cx="9147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II · 1 / 4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58931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三层架构职责分明：端采集 → 边推理 → 云统筹，溢出时云端兜底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476375"/>
            <a:ext cx="11049000" cy="666750"/>
            <a:chOff x="571500" y="1476375"/>
            <a:chExt cx="11049000" cy="666750"/>
          </a:xfrm>
        </p:grpSpPr>
        <p:sp>
          <p:nvSpPr>
            <p:cNvPr id="12" name="Freeform 12"/>
            <p:cNvSpPr/>
            <p:nvPr/>
          </p:nvSpPr>
          <p:spPr>
            <a:xfrm>
              <a:off x="571500" y="1476375"/>
              <a:ext cx="11049000" cy="666750"/>
            </a:xfrm>
            <a:custGeom>
              <a:avLst/>
              <a:gdLst/>
              <a:ahLst/>
              <a:cxnLst/>
              <a:rect l="l" t="t" r="r" b="b"/>
              <a:pathLst>
                <a:path w="11049000" h="666750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609600"/>
                  </a:lnTo>
                  <a:cubicBezTo>
                    <a:pt x="11049000" y="641163"/>
                    <a:pt x="11023413" y="666750"/>
                    <a:pt x="109918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CC000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476375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83431" y="1659731"/>
              <a:ext cx="300038" cy="301688"/>
              <a:chOff x="783431" y="1659731"/>
              <a:chExt cx="300038" cy="30168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69156" y="1659731"/>
                <a:ext cx="128588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61975">
                    <a:moveTo>
                      <a:pt x="128588" y="0"/>
                    </a:moveTo>
                    <a:lnTo>
                      <a:pt x="0" y="0"/>
                    </a:lnTo>
                    <a:lnTo>
                      <a:pt x="0" y="61975"/>
                    </a:lnTo>
                    <a:lnTo>
                      <a:pt x="64294" y="40544"/>
                    </a:lnTo>
                    <a:lnTo>
                      <a:pt x="128588" y="61975"/>
                    </a:lnTo>
                    <a:lnTo>
                      <a:pt x="128588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83431" y="1745456"/>
                <a:ext cx="300038" cy="215963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15963">
                    <a:moveTo>
                      <a:pt x="150019" y="0"/>
                    </a:moveTo>
                    <a:lnTo>
                      <a:pt x="21431" y="42862"/>
                    </a:lnTo>
                    <a:lnTo>
                      <a:pt x="42862" y="171450"/>
                    </a:lnTo>
                    <a:lnTo>
                      <a:pt x="0" y="171450"/>
                    </a:lnTo>
                    <a:lnTo>
                      <a:pt x="0" y="214312"/>
                    </a:lnTo>
                    <a:lnTo>
                      <a:pt x="46990" y="214312"/>
                    </a:lnTo>
                    <a:lnTo>
                      <a:pt x="96441" y="194531"/>
                    </a:lnTo>
                    <a:lnTo>
                      <a:pt x="150019" y="215963"/>
                    </a:lnTo>
                    <a:lnTo>
                      <a:pt x="203597" y="194531"/>
                    </a:lnTo>
                    <a:lnTo>
                      <a:pt x="253047" y="214312"/>
                    </a:lnTo>
                    <a:lnTo>
                      <a:pt x="300038" y="214312"/>
                    </a:lnTo>
                    <a:lnTo>
                      <a:pt x="300038" y="171450"/>
                    </a:lnTo>
                    <a:lnTo>
                      <a:pt x="257175" y="171450"/>
                    </a:lnTo>
                    <a:lnTo>
                      <a:pt x="278606" y="42862"/>
                    </a:lnTo>
                    <a:lnTo>
                      <a:pt x="150019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23010" y="1623060"/>
              <a:ext cx="7297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端 / END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25868" y="1894999"/>
              <a:ext cx="21251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SUB-001 ··· SUB-016 / 16 艘潜艇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3048000" y="1619250"/>
              <a:ext cx="1333500" cy="304800"/>
              <a:chOff x="3048000" y="1619250"/>
              <a:chExt cx="1333500" cy="304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048000" y="16192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219450" y="16192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390900" y="16192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562350" y="16192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733800" y="16192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905250" y="16192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076700" y="16192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248150" y="16192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048000" y="17907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219450" y="17907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390900" y="17907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562350" y="17907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733800" y="17907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905250" y="17907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076700" y="17907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248150" y="17907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694694" y="166639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遥测：6 维特征 · 400ms / 包</a:t>
              </a:r>
              <a:endParaRPr lang="zh-CN" sz="97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23815" y="1875949"/>
              <a:ext cx="20610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每 50 tick 注入 1 次 emergency</a:t>
              </a:r>
              <a:endParaRPr lang="zh-CN" sz="97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39" name="Line 39"/>
          <p:cNvSpPr/>
          <p:nvPr/>
        </p:nvSpPr>
        <p:spPr>
          <a:xfrm>
            <a:off x="6096000" y="2162175"/>
            <a:ext cx="1" cy="238125"/>
          </a:xfrm>
          <a:prstGeom prst="line">
            <a:avLst/>
          </a:prstGeom>
          <a:noFill/>
          <a:ln w="19050">
            <a:solidFill>
              <a:srgbClr val="003366"/>
            </a:solidFill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6275070" y="2255520"/>
            <a:ext cx="14096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数据上行 (WebSocket)</a:t>
            </a:r>
            <a:endParaRPr lang="zh-CN" sz="900" dirty="0">
              <a:solidFill>
                <a:srgbClr val="66666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63" name="Group 63"/>
          <p:cNvGrpSpPr/>
          <p:nvPr/>
        </p:nvGrpSpPr>
        <p:grpSpPr>
          <a:xfrm>
            <a:off x="571500" y="2524125"/>
            <a:ext cx="11049000" cy="666750"/>
            <a:chOff x="571500" y="2524125"/>
            <a:chExt cx="11049000" cy="666750"/>
          </a:xfrm>
        </p:grpSpPr>
        <p:sp>
          <p:nvSpPr>
            <p:cNvPr id="41" name="Freeform 41"/>
            <p:cNvSpPr/>
            <p:nvPr/>
          </p:nvSpPr>
          <p:spPr>
            <a:xfrm>
              <a:off x="571500" y="2524125"/>
              <a:ext cx="11049000" cy="666750"/>
            </a:xfrm>
            <a:custGeom>
              <a:avLst/>
              <a:gdLst/>
              <a:ahLst/>
              <a:cxnLst/>
              <a:rect l="l" t="t" r="r" b="b"/>
              <a:pathLst>
                <a:path w="11049000" h="666750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609600"/>
                  </a:lnTo>
                  <a:cubicBezTo>
                    <a:pt x="11049000" y="641163"/>
                    <a:pt x="11023413" y="666750"/>
                    <a:pt x="109918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66CC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1500" y="2524125"/>
              <a:ext cx="57150" cy="6667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62000" y="2686050"/>
              <a:ext cx="342900" cy="342900"/>
              <a:chOff x="762000" y="2686050"/>
              <a:chExt cx="342900" cy="3429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90588" y="28146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0" y="0"/>
                    </a:lnTo>
                    <a:lnTo>
                      <a:pt x="85725" y="0"/>
                    </a:lnTo>
                    <a:lnTo>
                      <a:pt x="85725" y="85725"/>
                    </a:lnTo>
                    <a:lnTo>
                      <a:pt x="0" y="85725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62000" y="26860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64294" y="42862"/>
                    </a:moveTo>
                    <a:lnTo>
                      <a:pt x="64294" y="0"/>
                    </a:lnTo>
                    <a:lnTo>
                      <a:pt x="107156" y="0"/>
                    </a:lnTo>
                    <a:lnTo>
                      <a:pt x="107156" y="42862"/>
                    </a:lnTo>
                    <a:lnTo>
                      <a:pt x="150019" y="42862"/>
                    </a:lnTo>
                    <a:lnTo>
                      <a:pt x="150019" y="0"/>
                    </a:lnTo>
                    <a:lnTo>
                      <a:pt x="192881" y="0"/>
                    </a:lnTo>
                    <a:lnTo>
                      <a:pt x="192881" y="42862"/>
                    </a:lnTo>
                    <a:lnTo>
                      <a:pt x="235744" y="42862"/>
                    </a:lnTo>
                    <a:lnTo>
                      <a:pt x="235744" y="0"/>
                    </a:lnTo>
                    <a:lnTo>
                      <a:pt x="278606" y="0"/>
                    </a:lnTo>
                    <a:lnTo>
                      <a:pt x="278606" y="42862"/>
                    </a:lnTo>
                    <a:lnTo>
                      <a:pt x="300038" y="42862"/>
                    </a:lnTo>
                    <a:lnTo>
                      <a:pt x="300038" y="64294"/>
                    </a:lnTo>
                    <a:lnTo>
                      <a:pt x="342900" y="64294"/>
                    </a:lnTo>
                    <a:lnTo>
                      <a:pt x="342900" y="107156"/>
                    </a:lnTo>
                    <a:lnTo>
                      <a:pt x="300038" y="107156"/>
                    </a:lnTo>
                    <a:lnTo>
                      <a:pt x="300038" y="150019"/>
                    </a:lnTo>
                    <a:lnTo>
                      <a:pt x="342900" y="150019"/>
                    </a:lnTo>
                    <a:lnTo>
                      <a:pt x="342900" y="192881"/>
                    </a:lnTo>
                    <a:lnTo>
                      <a:pt x="300038" y="192881"/>
                    </a:lnTo>
                    <a:lnTo>
                      <a:pt x="300038" y="235744"/>
                    </a:lnTo>
                    <a:lnTo>
                      <a:pt x="342900" y="235744"/>
                    </a:lnTo>
                    <a:lnTo>
                      <a:pt x="342900" y="278606"/>
                    </a:lnTo>
                    <a:lnTo>
                      <a:pt x="300038" y="278606"/>
                    </a:lnTo>
                    <a:lnTo>
                      <a:pt x="300038" y="300038"/>
                    </a:lnTo>
                    <a:lnTo>
                      <a:pt x="278606" y="300038"/>
                    </a:lnTo>
                    <a:lnTo>
                      <a:pt x="278606" y="342900"/>
                    </a:lnTo>
                    <a:lnTo>
                      <a:pt x="235744" y="342900"/>
                    </a:lnTo>
                    <a:lnTo>
                      <a:pt x="235744" y="300038"/>
                    </a:lnTo>
                    <a:lnTo>
                      <a:pt x="192881" y="300038"/>
                    </a:lnTo>
                    <a:lnTo>
                      <a:pt x="192881" y="342900"/>
                    </a:lnTo>
                    <a:lnTo>
                      <a:pt x="150019" y="342900"/>
                    </a:lnTo>
                    <a:lnTo>
                      <a:pt x="150019" y="300038"/>
                    </a:lnTo>
                    <a:lnTo>
                      <a:pt x="107156" y="300038"/>
                    </a:lnTo>
                    <a:lnTo>
                      <a:pt x="107156" y="342900"/>
                    </a:lnTo>
                    <a:lnTo>
                      <a:pt x="64294" y="342900"/>
                    </a:lnTo>
                    <a:lnTo>
                      <a:pt x="64294" y="300038"/>
                    </a:lnTo>
                    <a:lnTo>
                      <a:pt x="42862" y="300038"/>
                    </a:lnTo>
                    <a:lnTo>
                      <a:pt x="42862" y="278606"/>
                    </a:lnTo>
                    <a:lnTo>
                      <a:pt x="0" y="278606"/>
                    </a:lnTo>
                    <a:lnTo>
                      <a:pt x="0" y="235744"/>
                    </a:lnTo>
                    <a:lnTo>
                      <a:pt x="42862" y="235744"/>
                    </a:lnTo>
                    <a:lnTo>
                      <a:pt x="42862" y="192881"/>
                    </a:lnTo>
                    <a:lnTo>
                      <a:pt x="0" y="192881"/>
                    </a:lnTo>
                    <a:lnTo>
                      <a:pt x="0" y="150019"/>
                    </a:lnTo>
                    <a:lnTo>
                      <a:pt x="42862" y="150019"/>
                    </a:lnTo>
                    <a:lnTo>
                      <a:pt x="42862" y="107156"/>
                    </a:lnTo>
                    <a:lnTo>
                      <a:pt x="0" y="107156"/>
                    </a:lnTo>
                    <a:lnTo>
                      <a:pt x="0" y="64294"/>
                    </a:lnTo>
                    <a:lnTo>
                      <a:pt x="42862" y="64294"/>
                    </a:lnTo>
                    <a:lnTo>
                      <a:pt x="42862" y="42862"/>
                    </a:lnTo>
                    <a:lnTo>
                      <a:pt x="64294" y="42862"/>
                    </a:lnTo>
                    <a:close/>
                    <a:moveTo>
                      <a:pt x="85725" y="85725"/>
                    </a:moveTo>
                    <a:lnTo>
                      <a:pt x="85725" y="257175"/>
                    </a:lnTo>
                    <a:lnTo>
                      <a:pt x="257175" y="257175"/>
                    </a:lnTo>
                    <a:lnTo>
                      <a:pt x="257175" y="85725"/>
                    </a:lnTo>
                    <a:lnTo>
                      <a:pt x="85725" y="85725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223010" y="2670810"/>
              <a:ext cx="17786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边 / EDGE — 水面航母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25868" y="2942749"/>
              <a:ext cx="4068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10× H100 80GB · L0 熔断 + L1 战术（V4-Flash） · Ping-Pong DB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5715000" y="2667000"/>
              <a:ext cx="2438400" cy="381000"/>
              <a:chOff x="5715000" y="2667000"/>
              <a:chExt cx="2438400" cy="3810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715000" y="2667000"/>
                <a:ext cx="2095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381000">
                    <a:moveTo>
                      <a:pt x="28575" y="0"/>
                    </a:moveTo>
                    <a:lnTo>
                      <a:pt x="180975" y="0"/>
                    </a:lnTo>
                    <a:cubicBezTo>
                      <a:pt x="196757" y="0"/>
                      <a:pt x="209550" y="12793"/>
                      <a:pt x="209550" y="28575"/>
                    </a:cubicBezTo>
                    <a:lnTo>
                      <a:pt x="209550" y="352425"/>
                    </a:lnTo>
                    <a:cubicBezTo>
                      <a:pt x="209550" y="368207"/>
                      <a:pt x="196757" y="381000"/>
                      <a:pt x="180975" y="381000"/>
                    </a:cubicBezTo>
                    <a:lnTo>
                      <a:pt x="28575" y="381000"/>
                    </a:lnTo>
                    <a:cubicBezTo>
                      <a:pt x="12793" y="381000"/>
                      <a:pt x="0" y="368207"/>
                      <a:pt x="0" y="3524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962650" y="2667000"/>
                <a:ext cx="2095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381000">
                    <a:moveTo>
                      <a:pt x="28575" y="0"/>
                    </a:moveTo>
                    <a:lnTo>
                      <a:pt x="180975" y="0"/>
                    </a:lnTo>
                    <a:cubicBezTo>
                      <a:pt x="196757" y="0"/>
                      <a:pt x="209550" y="12793"/>
                      <a:pt x="209550" y="28575"/>
                    </a:cubicBezTo>
                    <a:lnTo>
                      <a:pt x="209550" y="352425"/>
                    </a:lnTo>
                    <a:cubicBezTo>
                      <a:pt x="209550" y="368207"/>
                      <a:pt x="196757" y="381000"/>
                      <a:pt x="180975" y="381000"/>
                    </a:cubicBezTo>
                    <a:lnTo>
                      <a:pt x="28575" y="381000"/>
                    </a:lnTo>
                    <a:cubicBezTo>
                      <a:pt x="12793" y="381000"/>
                      <a:pt x="0" y="368207"/>
                      <a:pt x="0" y="3524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210300" y="2667000"/>
                <a:ext cx="2095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381000">
                    <a:moveTo>
                      <a:pt x="28575" y="0"/>
                    </a:moveTo>
                    <a:lnTo>
                      <a:pt x="180975" y="0"/>
                    </a:lnTo>
                    <a:cubicBezTo>
                      <a:pt x="196757" y="0"/>
                      <a:pt x="209550" y="12793"/>
                      <a:pt x="209550" y="28575"/>
                    </a:cubicBezTo>
                    <a:lnTo>
                      <a:pt x="209550" y="352425"/>
                    </a:lnTo>
                    <a:cubicBezTo>
                      <a:pt x="209550" y="368207"/>
                      <a:pt x="196757" y="381000"/>
                      <a:pt x="180975" y="381000"/>
                    </a:cubicBezTo>
                    <a:lnTo>
                      <a:pt x="28575" y="381000"/>
                    </a:lnTo>
                    <a:cubicBezTo>
                      <a:pt x="12793" y="381000"/>
                      <a:pt x="0" y="368207"/>
                      <a:pt x="0" y="3524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57950" y="2667000"/>
                <a:ext cx="2095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381000">
                    <a:moveTo>
                      <a:pt x="28575" y="0"/>
                    </a:moveTo>
                    <a:lnTo>
                      <a:pt x="180975" y="0"/>
                    </a:lnTo>
                    <a:cubicBezTo>
                      <a:pt x="196757" y="0"/>
                      <a:pt x="209550" y="12793"/>
                      <a:pt x="209550" y="28575"/>
                    </a:cubicBezTo>
                    <a:lnTo>
                      <a:pt x="209550" y="352425"/>
                    </a:lnTo>
                    <a:cubicBezTo>
                      <a:pt x="209550" y="368207"/>
                      <a:pt x="196757" y="381000"/>
                      <a:pt x="180975" y="381000"/>
                    </a:cubicBezTo>
                    <a:lnTo>
                      <a:pt x="28575" y="381000"/>
                    </a:lnTo>
                    <a:cubicBezTo>
                      <a:pt x="12793" y="381000"/>
                      <a:pt x="0" y="368207"/>
                      <a:pt x="0" y="3524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05600" y="2667000"/>
                <a:ext cx="2095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381000">
                    <a:moveTo>
                      <a:pt x="28575" y="0"/>
                    </a:moveTo>
                    <a:lnTo>
                      <a:pt x="180975" y="0"/>
                    </a:lnTo>
                    <a:cubicBezTo>
                      <a:pt x="196757" y="0"/>
                      <a:pt x="209550" y="12793"/>
                      <a:pt x="209550" y="28575"/>
                    </a:cubicBezTo>
                    <a:lnTo>
                      <a:pt x="209550" y="352425"/>
                    </a:lnTo>
                    <a:cubicBezTo>
                      <a:pt x="209550" y="368207"/>
                      <a:pt x="196757" y="381000"/>
                      <a:pt x="180975" y="381000"/>
                    </a:cubicBezTo>
                    <a:lnTo>
                      <a:pt x="28575" y="381000"/>
                    </a:lnTo>
                    <a:cubicBezTo>
                      <a:pt x="12793" y="381000"/>
                      <a:pt x="0" y="368207"/>
                      <a:pt x="0" y="3524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953250" y="2667000"/>
                <a:ext cx="2095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381000">
                    <a:moveTo>
                      <a:pt x="28575" y="0"/>
                    </a:moveTo>
                    <a:lnTo>
                      <a:pt x="180975" y="0"/>
                    </a:lnTo>
                    <a:cubicBezTo>
                      <a:pt x="196757" y="0"/>
                      <a:pt x="209550" y="12793"/>
                      <a:pt x="209550" y="28575"/>
                    </a:cubicBezTo>
                    <a:lnTo>
                      <a:pt x="209550" y="352425"/>
                    </a:lnTo>
                    <a:cubicBezTo>
                      <a:pt x="209550" y="368207"/>
                      <a:pt x="196757" y="381000"/>
                      <a:pt x="180975" y="381000"/>
                    </a:cubicBezTo>
                    <a:lnTo>
                      <a:pt x="28575" y="381000"/>
                    </a:lnTo>
                    <a:cubicBezTo>
                      <a:pt x="12793" y="381000"/>
                      <a:pt x="0" y="368207"/>
                      <a:pt x="0" y="3524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200900" y="2667000"/>
                <a:ext cx="2095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381000">
                    <a:moveTo>
                      <a:pt x="28575" y="0"/>
                    </a:moveTo>
                    <a:lnTo>
                      <a:pt x="180975" y="0"/>
                    </a:lnTo>
                    <a:cubicBezTo>
                      <a:pt x="196757" y="0"/>
                      <a:pt x="209550" y="12793"/>
                      <a:pt x="209550" y="28575"/>
                    </a:cubicBezTo>
                    <a:lnTo>
                      <a:pt x="209550" y="352425"/>
                    </a:lnTo>
                    <a:cubicBezTo>
                      <a:pt x="209550" y="368207"/>
                      <a:pt x="196757" y="381000"/>
                      <a:pt x="180975" y="381000"/>
                    </a:cubicBezTo>
                    <a:lnTo>
                      <a:pt x="28575" y="381000"/>
                    </a:lnTo>
                    <a:cubicBezTo>
                      <a:pt x="12793" y="381000"/>
                      <a:pt x="0" y="368207"/>
                      <a:pt x="0" y="3524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448550" y="2667000"/>
                <a:ext cx="2095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381000">
                    <a:moveTo>
                      <a:pt x="28575" y="0"/>
                    </a:moveTo>
                    <a:lnTo>
                      <a:pt x="180975" y="0"/>
                    </a:lnTo>
                    <a:cubicBezTo>
                      <a:pt x="196757" y="0"/>
                      <a:pt x="209550" y="12793"/>
                      <a:pt x="209550" y="28575"/>
                    </a:cubicBezTo>
                    <a:lnTo>
                      <a:pt x="209550" y="352425"/>
                    </a:lnTo>
                    <a:cubicBezTo>
                      <a:pt x="209550" y="368207"/>
                      <a:pt x="196757" y="381000"/>
                      <a:pt x="180975" y="381000"/>
                    </a:cubicBezTo>
                    <a:lnTo>
                      <a:pt x="28575" y="381000"/>
                    </a:lnTo>
                    <a:cubicBezTo>
                      <a:pt x="12793" y="381000"/>
                      <a:pt x="0" y="368207"/>
                      <a:pt x="0" y="3524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696200" y="2667000"/>
                <a:ext cx="2095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381000">
                    <a:moveTo>
                      <a:pt x="28575" y="0"/>
                    </a:moveTo>
                    <a:lnTo>
                      <a:pt x="180975" y="0"/>
                    </a:lnTo>
                    <a:cubicBezTo>
                      <a:pt x="196757" y="0"/>
                      <a:pt x="209550" y="12793"/>
                      <a:pt x="209550" y="28575"/>
                    </a:cubicBezTo>
                    <a:lnTo>
                      <a:pt x="209550" y="352425"/>
                    </a:lnTo>
                    <a:cubicBezTo>
                      <a:pt x="209550" y="368207"/>
                      <a:pt x="196757" y="381000"/>
                      <a:pt x="180975" y="381000"/>
                    </a:cubicBezTo>
                    <a:lnTo>
                      <a:pt x="28575" y="381000"/>
                    </a:lnTo>
                    <a:cubicBezTo>
                      <a:pt x="12793" y="381000"/>
                      <a:pt x="0" y="368207"/>
                      <a:pt x="0" y="3524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943850" y="2667000"/>
                <a:ext cx="2095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381000">
                    <a:moveTo>
                      <a:pt x="28575" y="0"/>
                    </a:moveTo>
                    <a:lnTo>
                      <a:pt x="180975" y="0"/>
                    </a:lnTo>
                    <a:cubicBezTo>
                      <a:pt x="196757" y="0"/>
                      <a:pt x="209550" y="12793"/>
                      <a:pt x="209550" y="28575"/>
                    </a:cubicBezTo>
                    <a:lnTo>
                      <a:pt x="209550" y="352425"/>
                    </a:lnTo>
                    <a:cubicBezTo>
                      <a:pt x="209550" y="368207"/>
                      <a:pt x="196757" y="381000"/>
                      <a:pt x="180975" y="381000"/>
                    </a:cubicBezTo>
                    <a:lnTo>
                      <a:pt x="28575" y="381000"/>
                    </a:lnTo>
                    <a:cubicBezTo>
                      <a:pt x="12793" y="381000"/>
                      <a:pt x="0" y="368207"/>
                      <a:pt x="0" y="3524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FFA500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8255318" y="2704624"/>
              <a:ext cx="570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10× H100</a:t>
              </a:r>
              <a:endParaRPr lang="zh-CN" sz="975" b="1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57222" y="2911316"/>
              <a:ext cx="8583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avg load 76.4%</a:t>
              </a:r>
              <a:endParaRPr lang="zh-CN" sz="825" dirty="0">
                <a:solidFill>
                  <a:srgbClr val="6666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025253" y="2712720"/>
              <a:ext cx="14161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L0 / L1 / L1-ESCALATED</a:t>
              </a:r>
              <a:endParaRPr lang="zh-CN" sz="900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355837" y="2903220"/>
              <a:ext cx="1085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85% → SPILLOVER</a:t>
              </a:r>
              <a:endParaRPr lang="zh-CN" sz="900" b="1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64" name="Line 64"/>
          <p:cNvSpPr/>
          <p:nvPr/>
        </p:nvSpPr>
        <p:spPr>
          <a:xfrm>
            <a:off x="6096000" y="3209925"/>
            <a:ext cx="1" cy="238125"/>
          </a:xfrm>
          <a:prstGeom prst="line">
            <a:avLst/>
          </a:prstGeom>
          <a:noFill/>
          <a:ln w="19050">
            <a:solidFill>
              <a:srgbClr val="FFA500"/>
            </a:solidFill>
            <a:prstDash val="dash"/>
            <a:tailEnd type="triangle" w="lg" len="lg"/>
          </a:ln>
        </p:spPr>
      </p:sp>
      <p:sp>
        <p:nvSpPr>
          <p:cNvPr id="65" name="TextBox 65"/>
          <p:cNvSpPr txBox="1"/>
          <p:nvPr/>
        </p:nvSpPr>
        <p:spPr>
          <a:xfrm>
            <a:off x="6275070" y="3303270"/>
            <a:ext cx="18446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A5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L1-ESCALATED 上抛 + L2 路由</a:t>
            </a:r>
            <a:endParaRPr lang="zh-CN" sz="900" b="1" dirty="0">
              <a:solidFill>
                <a:srgbClr val="FFA5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76" name="Group 76"/>
          <p:cNvGrpSpPr/>
          <p:nvPr/>
        </p:nvGrpSpPr>
        <p:grpSpPr>
          <a:xfrm>
            <a:off x="571500" y="3571875"/>
            <a:ext cx="11049000" cy="666750"/>
            <a:chOff x="571500" y="3571875"/>
            <a:chExt cx="11049000" cy="666750"/>
          </a:xfrm>
        </p:grpSpPr>
        <p:sp>
          <p:nvSpPr>
            <p:cNvPr id="66" name="Freeform 66"/>
            <p:cNvSpPr/>
            <p:nvPr/>
          </p:nvSpPr>
          <p:spPr>
            <a:xfrm>
              <a:off x="571500" y="3571875"/>
              <a:ext cx="11049000" cy="666750"/>
            </a:xfrm>
            <a:custGeom>
              <a:avLst/>
              <a:gdLst/>
              <a:ahLst/>
              <a:cxnLst/>
              <a:rect l="l" t="t" r="r" b="b"/>
              <a:pathLst>
                <a:path w="11049000" h="666750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609600"/>
                  </a:lnTo>
                  <a:cubicBezTo>
                    <a:pt x="11049000" y="641163"/>
                    <a:pt x="11023413" y="666750"/>
                    <a:pt x="109918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7A2B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71500" y="3571875"/>
              <a:ext cx="57150" cy="666750"/>
            </a:xfrm>
            <a:prstGeom prst="rect">
              <a:avLst/>
            </a:prstGeom>
            <a:solidFill>
              <a:srgbClr val="17A2B8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62000" y="3776662"/>
              <a:ext cx="342900" cy="257175"/>
              <a:chOff x="762000" y="3776662"/>
              <a:chExt cx="342900" cy="25717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62000" y="3776662"/>
                <a:ext cx="3429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07156">
                    <a:moveTo>
                      <a:pt x="342900" y="0"/>
                    </a:moveTo>
                    <a:lnTo>
                      <a:pt x="0" y="0"/>
                    </a:lnTo>
                    <a:lnTo>
                      <a:pt x="0" y="107156"/>
                    </a:lnTo>
                    <a:lnTo>
                      <a:pt x="342900" y="107156"/>
                    </a:lnTo>
                    <a:lnTo>
                      <a:pt x="342900" y="0"/>
                    </a:lnTo>
                    <a:close/>
                    <a:moveTo>
                      <a:pt x="85725" y="53578"/>
                    </a:moveTo>
                    <a:cubicBezTo>
                      <a:pt x="85725" y="65414"/>
                      <a:pt x="76130" y="75009"/>
                      <a:pt x="64294" y="75009"/>
                    </a:cubicBezTo>
                    <a:cubicBezTo>
                      <a:pt x="52458" y="75009"/>
                      <a:pt x="42862" y="65414"/>
                      <a:pt x="42862" y="53578"/>
                    </a:cubicBezTo>
                    <a:cubicBezTo>
                      <a:pt x="42862" y="41742"/>
                      <a:pt x="52458" y="32147"/>
                      <a:pt x="64294" y="32147"/>
                    </a:cubicBezTo>
                    <a:cubicBezTo>
                      <a:pt x="76130" y="32147"/>
                      <a:pt x="85725" y="41742"/>
                      <a:pt x="85725" y="53578"/>
                    </a:cubicBezTo>
                    <a:close/>
                  </a:path>
                </a:pathLst>
              </a:custGeom>
              <a:solidFill>
                <a:srgbClr val="17A2B8"/>
              </a:solidFill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62000" y="3926681"/>
                <a:ext cx="3429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07156">
                    <a:moveTo>
                      <a:pt x="342900" y="0"/>
                    </a:moveTo>
                    <a:lnTo>
                      <a:pt x="0" y="0"/>
                    </a:lnTo>
                    <a:lnTo>
                      <a:pt x="0" y="107156"/>
                    </a:lnTo>
                    <a:lnTo>
                      <a:pt x="342900" y="107156"/>
                    </a:lnTo>
                    <a:lnTo>
                      <a:pt x="342900" y="0"/>
                    </a:lnTo>
                    <a:close/>
                    <a:moveTo>
                      <a:pt x="64294" y="75009"/>
                    </a:moveTo>
                    <a:cubicBezTo>
                      <a:pt x="76130" y="75009"/>
                      <a:pt x="85725" y="65415"/>
                      <a:pt x="85725" y="53578"/>
                    </a:cubicBezTo>
                    <a:cubicBezTo>
                      <a:pt x="85725" y="41742"/>
                      <a:pt x="76130" y="32147"/>
                      <a:pt x="64294" y="32147"/>
                    </a:cubicBezTo>
                    <a:cubicBezTo>
                      <a:pt x="52458" y="32147"/>
                      <a:pt x="42862" y="41742"/>
                      <a:pt x="42862" y="53578"/>
                    </a:cubicBezTo>
                    <a:cubicBezTo>
                      <a:pt x="42862" y="65415"/>
                      <a:pt x="52458" y="75009"/>
                      <a:pt x="64294" y="75009"/>
                    </a:cubicBezTo>
                    <a:close/>
                  </a:path>
                </a:pathLst>
              </a:custGeom>
              <a:solidFill>
                <a:srgbClr val="17A2B8"/>
              </a:solidFill>
              <a:ln>
                <a:noFill/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223010" y="3718560"/>
              <a:ext cx="2284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云 / CLOUD — 陆地数据中心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225868" y="3990499"/>
              <a:ext cx="43109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超算级算力 / DeepSeek-V4-Pro / L2 战略深度推理 + 边缘溢出兜底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Freeform 73"/>
            <p:cNvSpPr/>
            <p:nvPr/>
          </p:nvSpPr>
          <p:spPr>
            <a:xfrm>
              <a:off x="6096000" y="3724275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342900" y="114300"/>
                  </a:moveTo>
                  <a:cubicBezTo>
                    <a:pt x="342900" y="51174"/>
                    <a:pt x="291725" y="0"/>
                    <a:pt x="228600" y="0"/>
                  </a:cubicBezTo>
                  <a:cubicBezTo>
                    <a:pt x="165474" y="0"/>
                    <a:pt x="114300" y="51174"/>
                    <a:pt x="114300" y="114300"/>
                  </a:cubicBezTo>
                  <a:cubicBezTo>
                    <a:pt x="51174" y="114300"/>
                    <a:pt x="0" y="165474"/>
                    <a:pt x="0" y="228600"/>
                  </a:cubicBezTo>
                  <a:lnTo>
                    <a:pt x="0" y="342900"/>
                  </a:lnTo>
                  <a:lnTo>
                    <a:pt x="457200" y="342900"/>
                  </a:lnTo>
                  <a:lnTo>
                    <a:pt x="457200" y="257175"/>
                  </a:lnTo>
                  <a:cubicBezTo>
                    <a:pt x="457200" y="194049"/>
                    <a:pt x="406025" y="142875"/>
                    <a:pt x="342900" y="142875"/>
                  </a:cubicBezTo>
                  <a:lnTo>
                    <a:pt x="342900" y="114300"/>
                  </a:lnTo>
                  <a:close/>
                </a:path>
              </a:pathLst>
            </a:custGeom>
            <a:solidFill>
              <a:srgbClr val="17A2B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92265" y="3734752"/>
              <a:ext cx="13550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A2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DeepSeek-V4-Pro</a:t>
              </a:r>
              <a:endParaRPr lang="zh-CN" sz="1050" b="1" dirty="0">
                <a:solidFill>
                  <a:srgbClr val="17A2B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95122" y="3959066"/>
              <a:ext cx="17982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deep evaluation · long context</a:t>
              </a:r>
              <a:endParaRPr lang="zh-CN" sz="825" dirty="0">
                <a:solidFill>
                  <a:srgbClr val="6666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381000" y="4429125"/>
            <a:ext cx="3714750" cy="1619250"/>
            <a:chOff x="381000" y="4429125"/>
            <a:chExt cx="3714750" cy="1619250"/>
          </a:xfrm>
        </p:grpSpPr>
        <p:sp>
          <p:nvSpPr>
            <p:cNvPr id="77" name="Freeform 77"/>
            <p:cNvSpPr/>
            <p:nvPr/>
          </p:nvSpPr>
          <p:spPr>
            <a:xfrm>
              <a:off x="381000" y="4429125"/>
              <a:ext cx="3714750" cy="1619250"/>
            </a:xfrm>
            <a:custGeom>
              <a:avLst/>
              <a:gdLst/>
              <a:ahLst/>
              <a:cxnLst/>
              <a:rect l="l" t="t" r="r" b="b"/>
              <a:pathLst>
                <a:path w="3714750" h="1619250">
                  <a:moveTo>
                    <a:pt x="57150" y="0"/>
                  </a:moveTo>
                  <a:lnTo>
                    <a:pt x="3657600" y="0"/>
                  </a:lnTo>
                  <a:cubicBezTo>
                    <a:pt x="3689163" y="0"/>
                    <a:pt x="3714750" y="25587"/>
                    <a:pt x="3714750" y="57150"/>
                  </a:cubicBezTo>
                  <a:lnTo>
                    <a:pt x="3714750" y="1562100"/>
                  </a:lnTo>
                  <a:cubicBezTo>
                    <a:pt x="3714750" y="1593663"/>
                    <a:pt x="3689163" y="1619250"/>
                    <a:pt x="3657600" y="1619250"/>
                  </a:cubicBezTo>
                  <a:lnTo>
                    <a:pt x="57150" y="1619250"/>
                  </a:lnTo>
                  <a:cubicBezTo>
                    <a:pt x="25587" y="1619250"/>
                    <a:pt x="0" y="1593663"/>
                    <a:pt x="0" y="1562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381000" y="4429125"/>
              <a:ext cx="57150" cy="16192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54355" y="4597718"/>
              <a:ext cx="8209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端 / END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61022" y="4882991"/>
              <a:ext cx="10270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SUBMARINE SWARM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1" name="Line 81"/>
            <p:cNvSpPr/>
            <p:nvPr/>
          </p:nvSpPr>
          <p:spPr>
            <a:xfrm>
              <a:off x="571500" y="50958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59118" y="5209699"/>
              <a:ext cx="1655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物理载体：潜艇集群 16 艘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59118" y="54382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算力配置：无独立推理算力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59118" y="56668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职责：数据采集与批量上传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61022" y="5854541"/>
              <a:ext cx="14969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C00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[6-feat × 16 subs × 0.4s]</a:t>
              </a:r>
              <a:endParaRPr lang="zh-CN" sz="825" dirty="0">
                <a:solidFill>
                  <a:srgbClr val="CC00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4238625" y="4429125"/>
            <a:ext cx="3714750" cy="1619250"/>
            <a:chOff x="4238625" y="4429125"/>
            <a:chExt cx="3714750" cy="1619250"/>
          </a:xfrm>
        </p:grpSpPr>
        <p:sp>
          <p:nvSpPr>
            <p:cNvPr id="87" name="Freeform 87"/>
            <p:cNvSpPr/>
            <p:nvPr/>
          </p:nvSpPr>
          <p:spPr>
            <a:xfrm>
              <a:off x="4238625" y="4429125"/>
              <a:ext cx="3714750" cy="1619250"/>
            </a:xfrm>
            <a:custGeom>
              <a:avLst/>
              <a:gdLst/>
              <a:ahLst/>
              <a:cxnLst/>
              <a:rect l="l" t="t" r="r" b="b"/>
              <a:pathLst>
                <a:path w="3714750" h="1619250">
                  <a:moveTo>
                    <a:pt x="57150" y="0"/>
                  </a:moveTo>
                  <a:lnTo>
                    <a:pt x="3657600" y="0"/>
                  </a:lnTo>
                  <a:cubicBezTo>
                    <a:pt x="3689163" y="0"/>
                    <a:pt x="3714750" y="25587"/>
                    <a:pt x="3714750" y="57150"/>
                  </a:cubicBezTo>
                  <a:lnTo>
                    <a:pt x="3714750" y="1562100"/>
                  </a:lnTo>
                  <a:cubicBezTo>
                    <a:pt x="3714750" y="1593663"/>
                    <a:pt x="3689163" y="1619250"/>
                    <a:pt x="3657600" y="1619250"/>
                  </a:cubicBezTo>
                  <a:lnTo>
                    <a:pt x="57150" y="1619250"/>
                  </a:lnTo>
                  <a:cubicBezTo>
                    <a:pt x="25587" y="1619250"/>
                    <a:pt x="0" y="1593663"/>
                    <a:pt x="0" y="1562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4238625" y="4429125"/>
              <a:ext cx="57150" cy="1619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411980" y="4597718"/>
              <a:ext cx="9348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边 / EDGE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418648" y="4882991"/>
              <a:ext cx="10330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CARRIER · 10× H100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1" name="Line 91"/>
            <p:cNvSpPr/>
            <p:nvPr/>
          </p:nvSpPr>
          <p:spPr>
            <a:xfrm>
              <a:off x="4429125" y="50958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416742" y="52096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物理载体：水面航母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416742" y="54382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算力配置：10× H100 80GB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416742" y="5666899"/>
              <a:ext cx="1975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职责：L0 硬熔断 + L1 战术推理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418648" y="5854541"/>
              <a:ext cx="2003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[V4-Flash · Ping-Pong · spillover]</a:t>
              </a:r>
              <a:endParaRPr lang="zh-CN" sz="825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096250" y="4429125"/>
            <a:ext cx="3714750" cy="1619250"/>
            <a:chOff x="8096250" y="4429125"/>
            <a:chExt cx="3714750" cy="1619250"/>
          </a:xfrm>
        </p:grpSpPr>
        <p:sp>
          <p:nvSpPr>
            <p:cNvPr id="97" name="Freeform 97"/>
            <p:cNvSpPr/>
            <p:nvPr/>
          </p:nvSpPr>
          <p:spPr>
            <a:xfrm>
              <a:off x="8096250" y="4429125"/>
              <a:ext cx="3714750" cy="1619250"/>
            </a:xfrm>
            <a:custGeom>
              <a:avLst/>
              <a:gdLst/>
              <a:ahLst/>
              <a:cxnLst/>
              <a:rect l="l" t="t" r="r" b="b"/>
              <a:pathLst>
                <a:path w="3714750" h="1619250">
                  <a:moveTo>
                    <a:pt x="57150" y="0"/>
                  </a:moveTo>
                  <a:lnTo>
                    <a:pt x="3657600" y="0"/>
                  </a:lnTo>
                  <a:cubicBezTo>
                    <a:pt x="3689163" y="0"/>
                    <a:pt x="3714750" y="25587"/>
                    <a:pt x="3714750" y="57150"/>
                  </a:cubicBezTo>
                  <a:lnTo>
                    <a:pt x="3714750" y="1562100"/>
                  </a:lnTo>
                  <a:cubicBezTo>
                    <a:pt x="3714750" y="1593663"/>
                    <a:pt x="3689163" y="1619250"/>
                    <a:pt x="3657600" y="1619250"/>
                  </a:cubicBezTo>
                  <a:lnTo>
                    <a:pt x="57150" y="1619250"/>
                  </a:lnTo>
                  <a:cubicBezTo>
                    <a:pt x="25587" y="1619250"/>
                    <a:pt x="0" y="1593663"/>
                    <a:pt x="0" y="1562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8096250" y="4429125"/>
              <a:ext cx="57150" cy="1619250"/>
            </a:xfrm>
            <a:prstGeom prst="rect">
              <a:avLst/>
            </a:prstGeom>
            <a:solidFill>
              <a:srgbClr val="17A2B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269605" y="4597718"/>
              <a:ext cx="10901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云 / CLOUD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276272" y="4882991"/>
              <a:ext cx="7198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DATA CENTER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1" name="Line 101"/>
            <p:cNvSpPr/>
            <p:nvPr/>
          </p:nvSpPr>
          <p:spPr>
            <a:xfrm>
              <a:off x="8286750" y="50958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274368" y="52096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物理载体：陆地数据中心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274368" y="54382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算力配置：超算级集群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274368" y="5666899"/>
              <a:ext cx="19542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职责：L2 战略推理 + 溢出兜底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276272" y="5854541"/>
              <a:ext cx="2129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A2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[V4-Pro · long-context · deep eval]</a:t>
              </a:r>
              <a:endParaRPr lang="zh-CN" sz="825" dirty="0">
                <a:solidFill>
                  <a:srgbClr val="17A2B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81000" y="6334125"/>
            <a:ext cx="11442383" cy="378619"/>
            <a:chOff x="381000" y="6334125"/>
            <a:chExt cx="11442383" cy="378619"/>
          </a:xfrm>
        </p:grpSpPr>
        <p:sp>
          <p:nvSpPr>
            <p:cNvPr id="107" name="Line 107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5542359" y="6522720"/>
              <a:ext cx="11072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II · 系统架构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321582" y="6514624"/>
              <a:ext cx="501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06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402061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· 系统架构 / 三级评估路由器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73026" y="332899"/>
              <a:ext cx="9503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II · 2 / 4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71973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路由器是系统核心 — 三级递进决策：硬熔断 → 智能分流 → 弹性溢出 → 云端兜底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714500"/>
            <a:ext cx="1143000" cy="666750"/>
            <a:chOff x="381000" y="1714500"/>
            <a:chExt cx="1143000" cy="666750"/>
          </a:xfrm>
        </p:grpSpPr>
        <p:sp>
          <p:nvSpPr>
            <p:cNvPr id="12" name="Freeform 12"/>
            <p:cNvSpPr/>
            <p:nvPr/>
          </p:nvSpPr>
          <p:spPr>
            <a:xfrm>
              <a:off x="381000" y="1714500"/>
              <a:ext cx="1143000" cy="666750"/>
            </a:xfrm>
            <a:custGeom>
              <a:avLst/>
              <a:gdLst/>
              <a:ahLst/>
              <a:cxnLst/>
              <a:rect l="l" t="t" r="r" b="b"/>
              <a:pathLst>
                <a:path w="1143000" h="6667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609600"/>
                  </a:lnTo>
                  <a:cubicBezTo>
                    <a:pt x="1143000" y="641163"/>
                    <a:pt x="1117413" y="666750"/>
                    <a:pt x="10858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6615" y="19440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遥测数据包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1984" y="2158841"/>
              <a:ext cx="10210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8F4F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6-feat / SUB-xxx</a:t>
              </a:r>
              <a:endParaRPr lang="zh-CN" sz="825" dirty="0">
                <a:solidFill>
                  <a:srgbClr val="E8F4F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857375" y="1724025"/>
            <a:ext cx="2286000" cy="2752725"/>
            <a:chOff x="1857375" y="1724025"/>
            <a:chExt cx="2286000" cy="2752725"/>
          </a:xfrm>
        </p:grpSpPr>
        <p:sp>
          <p:nvSpPr>
            <p:cNvPr id="16" name="Ellipse 16"/>
            <p:cNvSpPr/>
            <p:nvPr/>
          </p:nvSpPr>
          <p:spPr>
            <a:xfrm>
              <a:off x="2009775" y="1724025"/>
              <a:ext cx="647700" cy="6477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70376" y="1874520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16813" y="2009775"/>
              <a:ext cx="233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57375" y="2571750"/>
              <a:ext cx="2286000" cy="1905000"/>
            </a:xfrm>
            <a:custGeom>
              <a:avLst/>
              <a:gdLst/>
              <a:ahLst/>
              <a:cxnLst/>
              <a:rect l="l" t="t" r="r" b="b"/>
              <a:pathLst>
                <a:path w="2286000" h="1905000">
                  <a:moveTo>
                    <a:pt x="57150" y="0"/>
                  </a:moveTo>
                  <a:lnTo>
                    <a:pt x="2228850" y="0"/>
                  </a:lnTo>
                  <a:cubicBezTo>
                    <a:pt x="2260413" y="0"/>
                    <a:pt x="2286000" y="25587"/>
                    <a:pt x="2286000" y="57150"/>
                  </a:cubicBezTo>
                  <a:lnTo>
                    <a:pt x="2286000" y="1847850"/>
                  </a:lnTo>
                  <a:cubicBezTo>
                    <a:pt x="2286000" y="1879413"/>
                    <a:pt x="2260413" y="1905000"/>
                    <a:pt x="22288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CC0000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833688" y="2667000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79774" y="318918"/>
                  </a:moveTo>
                  <a:lnTo>
                    <a:pt x="166688" y="381000"/>
                  </a:lnTo>
                  <a:lnTo>
                    <a:pt x="253601" y="318918"/>
                  </a:lnTo>
                  <a:cubicBezTo>
                    <a:pt x="303664" y="283159"/>
                    <a:pt x="333375" y="225425"/>
                    <a:pt x="333375" y="163903"/>
                  </a:cubicBezTo>
                  <a:lnTo>
                    <a:pt x="333375" y="71438"/>
                  </a:lnTo>
                  <a:lnTo>
                    <a:pt x="166688" y="0"/>
                  </a:lnTo>
                  <a:lnTo>
                    <a:pt x="0" y="71438"/>
                  </a:lnTo>
                  <a:lnTo>
                    <a:pt x="0" y="163903"/>
                  </a:lnTo>
                  <a:cubicBezTo>
                    <a:pt x="0" y="225425"/>
                    <a:pt x="29712" y="283159"/>
                    <a:pt x="79774" y="318918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30219" y="3124200"/>
              <a:ext cx="174031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C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L0 规则前置拦截</a:t>
              </a:r>
              <a:endParaRPr lang="zh-CN" sz="1500" b="1" dirty="0">
                <a:solidFill>
                  <a:srgbClr val="CC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38055" y="3387566"/>
              <a:ext cx="9246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CIRCUIT BREAKER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2047875" y="3619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035492" y="3704749"/>
              <a:ext cx="15626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硬编码 if-else / 零延迟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37398" y="3911441"/>
              <a:ext cx="11114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emergency == True</a:t>
              </a:r>
              <a:endParaRPr lang="zh-CN" sz="825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37398" y="4082891"/>
              <a:ext cx="7559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battery &lt; 8%</a:t>
              </a:r>
              <a:endParaRPr lang="zh-CN" sz="825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37398" y="4254341"/>
              <a:ext cx="10571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pressure &gt; 85 bar</a:t>
              </a:r>
              <a:endParaRPr lang="zh-CN" sz="825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24375" y="1724025"/>
            <a:ext cx="2286000" cy="2752725"/>
            <a:chOff x="4524375" y="1724025"/>
            <a:chExt cx="2286000" cy="2752725"/>
          </a:xfrm>
        </p:grpSpPr>
        <p:sp>
          <p:nvSpPr>
            <p:cNvPr id="29" name="Ellipse 29"/>
            <p:cNvSpPr/>
            <p:nvPr/>
          </p:nvSpPr>
          <p:spPr>
            <a:xfrm>
              <a:off x="4676775" y="1724025"/>
              <a:ext cx="647700" cy="6477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37376" y="1874520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55059" y="200977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524375" y="2571750"/>
              <a:ext cx="2286000" cy="1905000"/>
            </a:xfrm>
            <a:custGeom>
              <a:avLst/>
              <a:gdLst/>
              <a:ahLst/>
              <a:cxnLst/>
              <a:rect l="l" t="t" r="r" b="b"/>
              <a:pathLst>
                <a:path w="2286000" h="1905000">
                  <a:moveTo>
                    <a:pt x="57150" y="0"/>
                  </a:moveTo>
                  <a:lnTo>
                    <a:pt x="2228850" y="0"/>
                  </a:lnTo>
                  <a:cubicBezTo>
                    <a:pt x="2260413" y="0"/>
                    <a:pt x="2286000" y="25587"/>
                    <a:pt x="2286000" y="57150"/>
                  </a:cubicBezTo>
                  <a:lnTo>
                    <a:pt x="2286000" y="1847850"/>
                  </a:lnTo>
                  <a:cubicBezTo>
                    <a:pt x="2286000" y="1879413"/>
                    <a:pt x="2260413" y="1905000"/>
                    <a:pt x="22288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0066CC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5512594" y="2667000"/>
              <a:ext cx="309562" cy="381000"/>
            </a:xfrm>
            <a:custGeom>
              <a:avLst/>
              <a:gdLst/>
              <a:ahLst/>
              <a:cxnLst/>
              <a:rect l="l" t="t" r="r" b="b"/>
              <a:pathLst>
                <a:path w="309562" h="381000">
                  <a:moveTo>
                    <a:pt x="83344" y="114109"/>
                  </a:moveTo>
                  <a:cubicBezTo>
                    <a:pt x="104369" y="104923"/>
                    <a:pt x="119062" y="83943"/>
                    <a:pt x="119062" y="59531"/>
                  </a:cubicBezTo>
                  <a:cubicBezTo>
                    <a:pt x="119062" y="26653"/>
                    <a:pt x="92409" y="0"/>
                    <a:pt x="59531" y="0"/>
                  </a:cubicBezTo>
                  <a:cubicBezTo>
                    <a:pt x="26653" y="0"/>
                    <a:pt x="0" y="26653"/>
                    <a:pt x="0" y="59531"/>
                  </a:cubicBezTo>
                  <a:cubicBezTo>
                    <a:pt x="0" y="83943"/>
                    <a:pt x="14694" y="104923"/>
                    <a:pt x="35719" y="114109"/>
                  </a:cubicBezTo>
                  <a:lnTo>
                    <a:pt x="35719" y="214312"/>
                  </a:lnTo>
                  <a:lnTo>
                    <a:pt x="130969" y="214312"/>
                  </a:lnTo>
                  <a:lnTo>
                    <a:pt x="130969" y="266890"/>
                  </a:lnTo>
                  <a:cubicBezTo>
                    <a:pt x="109944" y="276077"/>
                    <a:pt x="95250" y="297056"/>
                    <a:pt x="95250" y="321469"/>
                  </a:cubicBezTo>
                  <a:cubicBezTo>
                    <a:pt x="95250" y="354347"/>
                    <a:pt x="121903" y="381000"/>
                    <a:pt x="154781" y="381000"/>
                  </a:cubicBezTo>
                  <a:cubicBezTo>
                    <a:pt x="187659" y="381000"/>
                    <a:pt x="214312" y="354347"/>
                    <a:pt x="214312" y="321469"/>
                  </a:cubicBezTo>
                  <a:cubicBezTo>
                    <a:pt x="214312" y="297056"/>
                    <a:pt x="199619" y="276077"/>
                    <a:pt x="178594" y="266890"/>
                  </a:cubicBezTo>
                  <a:lnTo>
                    <a:pt x="178594" y="214312"/>
                  </a:lnTo>
                  <a:lnTo>
                    <a:pt x="273844" y="214312"/>
                  </a:lnTo>
                  <a:lnTo>
                    <a:pt x="273844" y="114109"/>
                  </a:lnTo>
                  <a:cubicBezTo>
                    <a:pt x="294870" y="104923"/>
                    <a:pt x="309562" y="83943"/>
                    <a:pt x="309562" y="59531"/>
                  </a:cubicBezTo>
                  <a:cubicBezTo>
                    <a:pt x="309562" y="26653"/>
                    <a:pt x="282909" y="0"/>
                    <a:pt x="250031" y="0"/>
                  </a:cubicBezTo>
                  <a:cubicBezTo>
                    <a:pt x="217153" y="0"/>
                    <a:pt x="190500" y="26653"/>
                    <a:pt x="190500" y="59531"/>
                  </a:cubicBezTo>
                  <a:cubicBezTo>
                    <a:pt x="190500" y="83943"/>
                    <a:pt x="205192" y="104923"/>
                    <a:pt x="226219" y="114109"/>
                  </a:cubicBezTo>
                  <a:lnTo>
                    <a:pt x="226219" y="166688"/>
                  </a:lnTo>
                  <a:lnTo>
                    <a:pt x="83344" y="166688"/>
                  </a:lnTo>
                  <a:lnTo>
                    <a:pt x="83344" y="114109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40987" y="3124200"/>
              <a:ext cx="14527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66C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MLP 智能分流</a:t>
              </a:r>
              <a:endParaRPr lang="zh-CN" sz="1500" b="1" dirty="0">
                <a:solidFill>
                  <a:srgbClr val="0066C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39380" y="3387566"/>
              <a:ext cx="12559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CLASSIFIER 6→32→32→2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4714875" y="3619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02492" y="3704749"/>
              <a:ext cx="1313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 维特征 → Softmax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04398" y="3911441"/>
              <a:ext cx="12379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P(L2) ≥ 0.5 → L2 路由</a:t>
              </a:r>
              <a:endParaRPr lang="zh-CN" sz="825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04398" y="4082891"/>
              <a:ext cx="14307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P(L2) &lt; 0.5 → 进溢出检查</a:t>
              </a:r>
              <a:endParaRPr lang="zh-CN" sz="825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03445" y="4246245"/>
              <a:ext cx="9955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推理延迟：μs 级</a:t>
              </a:r>
              <a:endParaRPr lang="zh-CN" sz="9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191375" y="1724025"/>
            <a:ext cx="2286000" cy="2752725"/>
            <a:chOff x="7191375" y="1724025"/>
            <a:chExt cx="2286000" cy="2752725"/>
          </a:xfrm>
        </p:grpSpPr>
        <p:sp>
          <p:nvSpPr>
            <p:cNvPr id="42" name="Ellipse 42"/>
            <p:cNvSpPr/>
            <p:nvPr/>
          </p:nvSpPr>
          <p:spPr>
            <a:xfrm>
              <a:off x="7343775" y="1724025"/>
              <a:ext cx="647700" cy="64770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04376" y="1874520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22059" y="200977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Freeform 45"/>
            <p:cNvSpPr/>
            <p:nvPr/>
          </p:nvSpPr>
          <p:spPr>
            <a:xfrm>
              <a:off x="7191375" y="2571750"/>
              <a:ext cx="2286000" cy="1905000"/>
            </a:xfrm>
            <a:custGeom>
              <a:avLst/>
              <a:gdLst/>
              <a:ahLst/>
              <a:cxnLst/>
              <a:rect l="l" t="t" r="r" b="b"/>
              <a:pathLst>
                <a:path w="2286000" h="1905000">
                  <a:moveTo>
                    <a:pt x="57150" y="0"/>
                  </a:moveTo>
                  <a:lnTo>
                    <a:pt x="2228850" y="0"/>
                  </a:lnTo>
                  <a:cubicBezTo>
                    <a:pt x="2260413" y="0"/>
                    <a:pt x="2286000" y="25587"/>
                    <a:pt x="2286000" y="57150"/>
                  </a:cubicBezTo>
                  <a:lnTo>
                    <a:pt x="2286000" y="1847850"/>
                  </a:lnTo>
                  <a:cubicBezTo>
                    <a:pt x="2286000" y="1879413"/>
                    <a:pt x="2260413" y="1905000"/>
                    <a:pt x="22288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FFA500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167688" y="2667000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333375" y="214312"/>
                  </a:moveTo>
                  <a:cubicBezTo>
                    <a:pt x="333375" y="306372"/>
                    <a:pt x="258747" y="381000"/>
                    <a:pt x="166688" y="381000"/>
                  </a:cubicBezTo>
                  <a:cubicBezTo>
                    <a:pt x="74629" y="381000"/>
                    <a:pt x="0" y="306372"/>
                    <a:pt x="0" y="214312"/>
                  </a:cubicBezTo>
                  <a:cubicBezTo>
                    <a:pt x="0" y="130969"/>
                    <a:pt x="71438" y="71438"/>
                    <a:pt x="71438" y="71438"/>
                  </a:cubicBezTo>
                  <a:lnTo>
                    <a:pt x="119062" y="71438"/>
                  </a:lnTo>
                  <a:lnTo>
                    <a:pt x="119062" y="107156"/>
                  </a:lnTo>
                  <a:cubicBezTo>
                    <a:pt x="119062" y="120307"/>
                    <a:pt x="129724" y="130969"/>
                    <a:pt x="142875" y="130969"/>
                  </a:cubicBezTo>
                  <a:cubicBezTo>
                    <a:pt x="156026" y="130969"/>
                    <a:pt x="166688" y="120307"/>
                    <a:pt x="166688" y="107156"/>
                  </a:cubicBezTo>
                  <a:lnTo>
                    <a:pt x="166688" y="0"/>
                  </a:lnTo>
                  <a:lnTo>
                    <a:pt x="214312" y="0"/>
                  </a:lnTo>
                  <a:cubicBezTo>
                    <a:pt x="214312" y="0"/>
                    <a:pt x="333375" y="71438"/>
                    <a:pt x="333375" y="214312"/>
                  </a:cubicBezTo>
                  <a:close/>
                  <a:moveTo>
                    <a:pt x="214312" y="285750"/>
                  </a:moveTo>
                  <a:cubicBezTo>
                    <a:pt x="214312" y="312053"/>
                    <a:pt x="192990" y="333375"/>
                    <a:pt x="166688" y="333375"/>
                  </a:cubicBezTo>
                  <a:cubicBezTo>
                    <a:pt x="140385" y="333375"/>
                    <a:pt x="119062" y="312053"/>
                    <a:pt x="119062" y="285750"/>
                  </a:cubicBezTo>
                  <a:cubicBezTo>
                    <a:pt x="119062" y="226219"/>
                    <a:pt x="166688" y="190500"/>
                    <a:pt x="166688" y="190500"/>
                  </a:cubicBezTo>
                  <a:cubicBezTo>
                    <a:pt x="166688" y="190500"/>
                    <a:pt x="214312" y="226219"/>
                    <a:pt x="214312" y="285750"/>
                  </a:cubicBezTo>
                  <a:close/>
                </a:path>
              </a:pathLst>
            </a:custGeom>
            <a:solidFill>
              <a:srgbClr val="FFA50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25239" y="31242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9770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动态算力溢出</a:t>
              </a:r>
              <a:endParaRPr lang="zh-CN" sz="1500" b="1" dirty="0">
                <a:solidFill>
                  <a:srgbClr val="D9770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44945" y="3387566"/>
              <a:ext cx="9788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SPILLOVER GUARD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9" name="Line 49"/>
            <p:cNvSpPr/>
            <p:nvPr/>
          </p:nvSpPr>
          <p:spPr>
            <a:xfrm>
              <a:off x="7381875" y="3619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69492" y="370474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10× H100 平均负载检测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71398" y="3911441"/>
              <a:ext cx="14189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28A74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load &lt; 85% → L1 边缘消化</a:t>
              </a:r>
              <a:endParaRPr lang="zh-CN" sz="825" b="1" dirty="0">
                <a:solidFill>
                  <a:srgbClr val="28A74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71398" y="4082891"/>
              <a:ext cx="15707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CC00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load ≥ 85% → L1-ESCALATED</a:t>
              </a:r>
              <a:endParaRPr lang="zh-CN" sz="825" b="1" dirty="0">
                <a:solidFill>
                  <a:srgbClr val="CC00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70445" y="4246245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 500ms 监控一次</a:t>
              </a:r>
              <a:endParaRPr lang="zh-CN" sz="9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858375" y="1724025"/>
            <a:ext cx="1952625" cy="2752725"/>
            <a:chOff x="9858375" y="1724025"/>
            <a:chExt cx="1952625" cy="2752725"/>
          </a:xfrm>
        </p:grpSpPr>
        <p:sp>
          <p:nvSpPr>
            <p:cNvPr id="55" name="Ellipse 55"/>
            <p:cNvSpPr/>
            <p:nvPr/>
          </p:nvSpPr>
          <p:spPr>
            <a:xfrm>
              <a:off x="10010775" y="1724025"/>
              <a:ext cx="647700" cy="647700"/>
            </a:xfrm>
            <a:prstGeom prst="ellipse">
              <a:avLst/>
            </a:prstGeom>
            <a:solidFill>
              <a:srgbClr val="17A2B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171376" y="1874520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89059" y="200977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Freeform 58"/>
            <p:cNvSpPr/>
            <p:nvPr/>
          </p:nvSpPr>
          <p:spPr>
            <a:xfrm>
              <a:off x="9858375" y="2571750"/>
              <a:ext cx="1952625" cy="1905000"/>
            </a:xfrm>
            <a:custGeom>
              <a:avLst/>
              <a:gdLst/>
              <a:ahLst/>
              <a:cxnLst/>
              <a:rect l="l" t="t" r="r" b="b"/>
              <a:pathLst>
                <a:path w="1952625" h="1905000">
                  <a:moveTo>
                    <a:pt x="57150" y="0"/>
                  </a:moveTo>
                  <a:lnTo>
                    <a:pt x="1895475" y="0"/>
                  </a:lnTo>
                  <a:cubicBezTo>
                    <a:pt x="1927038" y="0"/>
                    <a:pt x="1952625" y="25587"/>
                    <a:pt x="1952625" y="57150"/>
                  </a:cubicBezTo>
                  <a:lnTo>
                    <a:pt x="1952625" y="1847850"/>
                  </a:lnTo>
                  <a:cubicBezTo>
                    <a:pt x="1952625" y="1879413"/>
                    <a:pt x="1927038" y="1905000"/>
                    <a:pt x="1895475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17A2B8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10639425" y="2714625"/>
              <a:ext cx="381000" cy="285749"/>
              <a:chOff x="10639425" y="2714625"/>
              <a:chExt cx="381000" cy="28574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0639425" y="2714625"/>
                <a:ext cx="381000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19062">
                    <a:moveTo>
                      <a:pt x="381000" y="0"/>
                    </a:moveTo>
                    <a:lnTo>
                      <a:pt x="0" y="0"/>
                    </a:lnTo>
                    <a:lnTo>
                      <a:pt x="0" y="119062"/>
                    </a:lnTo>
                    <a:lnTo>
                      <a:pt x="381000" y="119062"/>
                    </a:lnTo>
                    <a:lnTo>
                      <a:pt x="381000" y="0"/>
                    </a:lnTo>
                    <a:close/>
                    <a:moveTo>
                      <a:pt x="95250" y="59531"/>
                    </a:moveTo>
                    <a:cubicBezTo>
                      <a:pt x="95250" y="72682"/>
                      <a:pt x="84589" y="83344"/>
                      <a:pt x="71438" y="83344"/>
                    </a:cubicBezTo>
                    <a:cubicBezTo>
                      <a:pt x="58286" y="83344"/>
                      <a:pt x="47625" y="72682"/>
                      <a:pt x="47625" y="59531"/>
                    </a:cubicBezTo>
                    <a:cubicBezTo>
                      <a:pt x="47625" y="46380"/>
                      <a:pt x="58286" y="35719"/>
                      <a:pt x="71438" y="35719"/>
                    </a:cubicBezTo>
                    <a:cubicBezTo>
                      <a:pt x="84589" y="35719"/>
                      <a:pt x="95250" y="46380"/>
                      <a:pt x="95250" y="59531"/>
                    </a:cubicBezTo>
                    <a:close/>
                  </a:path>
                </a:pathLst>
              </a:custGeom>
              <a:solidFill>
                <a:srgbClr val="17A2B8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0639425" y="2881312"/>
                <a:ext cx="381000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19062">
                    <a:moveTo>
                      <a:pt x="381000" y="0"/>
                    </a:moveTo>
                    <a:lnTo>
                      <a:pt x="0" y="0"/>
                    </a:lnTo>
                    <a:lnTo>
                      <a:pt x="0" y="119062"/>
                    </a:lnTo>
                    <a:lnTo>
                      <a:pt x="381000" y="119062"/>
                    </a:lnTo>
                    <a:lnTo>
                      <a:pt x="381000" y="0"/>
                    </a:lnTo>
                    <a:close/>
                    <a:moveTo>
                      <a:pt x="71438" y="83344"/>
                    </a:moveTo>
                    <a:cubicBezTo>
                      <a:pt x="84589" y="83344"/>
                      <a:pt x="95250" y="72683"/>
                      <a:pt x="95250" y="59531"/>
                    </a:cubicBezTo>
                    <a:cubicBezTo>
                      <a:pt x="95250" y="46380"/>
                      <a:pt x="84589" y="35719"/>
                      <a:pt x="71438" y="35719"/>
                    </a:cubicBezTo>
                    <a:cubicBezTo>
                      <a:pt x="58286" y="35719"/>
                      <a:pt x="47625" y="46380"/>
                      <a:pt x="47625" y="59531"/>
                    </a:cubicBezTo>
                    <a:cubicBezTo>
                      <a:pt x="47625" y="72683"/>
                      <a:pt x="58286" y="83344"/>
                      <a:pt x="71438" y="83344"/>
                    </a:cubicBezTo>
                    <a:close/>
                  </a:path>
                </a:pathLst>
              </a:custGeom>
              <a:solidFill>
                <a:srgbClr val="17A2B8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189797" y="3124200"/>
              <a:ext cx="12802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A2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L2 云端兜底</a:t>
              </a:r>
              <a:endParaRPr lang="zh-CN" sz="1500" b="1" dirty="0">
                <a:solidFill>
                  <a:srgbClr val="17A2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373630" y="3387566"/>
              <a:ext cx="9125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DEEP REASONING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4" name="Line 64"/>
            <p:cNvSpPr/>
            <p:nvPr/>
          </p:nvSpPr>
          <p:spPr>
            <a:xfrm>
              <a:off x="10048875" y="3619500"/>
              <a:ext cx="1571625" cy="9525"/>
            </a:xfrm>
            <a:custGeom>
              <a:avLst/>
              <a:gdLst/>
              <a:ahLst/>
              <a:cxnLst/>
              <a:rect l="l" t="t" r="r" b="b"/>
              <a:pathLst>
                <a:path w="1571625" h="9525">
                  <a:moveTo>
                    <a:pt x="0" y="0"/>
                  </a:moveTo>
                  <a:lnTo>
                    <a:pt x="1571625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036492" y="3704749"/>
              <a:ext cx="1199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DeepSeek-V4-Pro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38398" y="391144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战略级深度推理</a:t>
              </a:r>
              <a:endParaRPr lang="zh-CN" sz="825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38398" y="4082891"/>
              <a:ext cx="8463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+ 接管溢出任务</a:t>
              </a:r>
              <a:endParaRPr lang="zh-CN" sz="825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37445" y="42462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长上下文 / 高准确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0" name="Line 70"/>
          <p:cNvSpPr/>
          <p:nvPr/>
        </p:nvSpPr>
        <p:spPr>
          <a:xfrm>
            <a:off x="1524000" y="2047875"/>
            <a:ext cx="457200" cy="1"/>
          </a:xfrm>
          <a:prstGeom prst="line">
            <a:avLst/>
          </a:prstGeom>
          <a:noFill/>
          <a:ln w="19050">
            <a:solidFill>
              <a:srgbClr val="003366"/>
            </a:solidFill>
            <a:tailEnd type="triangle" w="lg" len="lg"/>
          </a:ln>
        </p:spPr>
      </p:sp>
      <p:sp>
        <p:nvSpPr>
          <p:cNvPr id="71" name="Line 71"/>
          <p:cNvSpPr/>
          <p:nvPr/>
        </p:nvSpPr>
        <p:spPr>
          <a:xfrm>
            <a:off x="2667000" y="2047875"/>
            <a:ext cx="2009775" cy="1"/>
          </a:xfrm>
          <a:prstGeom prst="line">
            <a:avLst/>
          </a:prstGeom>
          <a:noFill/>
          <a:ln w="19050">
            <a:solidFill>
              <a:srgbClr val="003366"/>
            </a:solidFill>
            <a:tailEnd type="triangle" w="lg" len="lg"/>
          </a:ln>
        </p:spPr>
      </p:sp>
      <p:sp>
        <p:nvSpPr>
          <p:cNvPr id="72" name="Line 72"/>
          <p:cNvSpPr/>
          <p:nvPr/>
        </p:nvSpPr>
        <p:spPr>
          <a:xfrm>
            <a:off x="5334000" y="2047875"/>
            <a:ext cx="2009775" cy="1"/>
          </a:xfrm>
          <a:prstGeom prst="line">
            <a:avLst/>
          </a:prstGeom>
          <a:noFill/>
          <a:ln w="19050">
            <a:solidFill>
              <a:srgbClr val="003366"/>
            </a:solidFill>
            <a:tailEnd type="triangle" w="lg" len="lg"/>
          </a:ln>
        </p:spPr>
      </p:sp>
      <p:sp>
        <p:nvSpPr>
          <p:cNvPr id="73" name="Line 73"/>
          <p:cNvSpPr/>
          <p:nvPr/>
        </p:nvSpPr>
        <p:spPr>
          <a:xfrm>
            <a:off x="8001000" y="2047875"/>
            <a:ext cx="2009775" cy="1"/>
          </a:xfrm>
          <a:prstGeom prst="line">
            <a:avLst/>
          </a:prstGeom>
          <a:noFill/>
          <a:ln w="19050">
            <a:solidFill>
              <a:srgbClr val="003366"/>
            </a:solidFill>
            <a:tailEnd type="triangle" w="lg" len="lg"/>
          </a:ln>
        </p:spPr>
      </p:sp>
      <p:grpSp>
        <p:nvGrpSpPr>
          <p:cNvPr id="91" name="Group 91"/>
          <p:cNvGrpSpPr/>
          <p:nvPr/>
        </p:nvGrpSpPr>
        <p:grpSpPr>
          <a:xfrm>
            <a:off x="381000" y="4762500"/>
            <a:ext cx="11430000" cy="1285875"/>
            <a:chOff x="381000" y="4762500"/>
            <a:chExt cx="11430000" cy="1285875"/>
          </a:xfrm>
        </p:grpSpPr>
        <p:sp>
          <p:nvSpPr>
            <p:cNvPr id="74" name="Freeform 74"/>
            <p:cNvSpPr/>
            <p:nvPr/>
          </p:nvSpPr>
          <p:spPr>
            <a:xfrm>
              <a:off x="381000" y="4762500"/>
              <a:ext cx="11430000" cy="1285875"/>
            </a:xfrm>
            <a:custGeom>
              <a:avLst/>
              <a:gdLst/>
              <a:ahLst/>
              <a:cxnLst/>
              <a:rect l="l" t="t" r="r" b="b"/>
              <a:pathLst>
                <a:path w="11430000" h="1285875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1209675"/>
                  </a:lnTo>
                  <a:cubicBezTo>
                    <a:pt x="11430000" y="1251759"/>
                    <a:pt x="11395884" y="1285875"/>
                    <a:pt x="11353800" y="1285875"/>
                  </a:cubicBezTo>
                  <a:lnTo>
                    <a:pt x="76200" y="1285875"/>
                  </a:lnTo>
                  <a:cubicBezTo>
                    <a:pt x="34116" y="1285875"/>
                    <a:pt x="0" y="1251759"/>
                    <a:pt x="0" y="12096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56260" y="496633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路由结果分布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61022" y="5206841"/>
              <a:ext cx="18162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8F4FC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ROUTING OUTCOME DISTRIBUTION</a:t>
              </a:r>
              <a:endParaRPr lang="zh-CN" sz="825" dirty="0">
                <a:solidFill>
                  <a:srgbClr val="E8F4FC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7" name="Freeform 77"/>
            <p:cNvSpPr/>
            <p:nvPr/>
          </p:nvSpPr>
          <p:spPr>
            <a:xfrm>
              <a:off x="571500" y="54768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87718" y="5495449"/>
              <a:ext cx="1078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L0 紧急本地熔断</a:t>
              </a:r>
              <a:endParaRPr lang="zh-CN" sz="9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9622" y="5740241"/>
              <a:ext cx="10933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FFFF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~2% · zero latency</a:t>
              </a:r>
              <a:endParaRPr lang="zh-CN" sz="825" dirty="0">
                <a:solidFill>
                  <a:srgbClr val="FFFFFF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0" name="Freeform 80"/>
            <p:cNvSpPr/>
            <p:nvPr/>
          </p:nvSpPr>
          <p:spPr>
            <a:xfrm>
              <a:off x="2571750" y="54768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8A745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2787968" y="54954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L1 边缘正常处理</a:t>
              </a:r>
              <a:endParaRPr lang="zh-CN" sz="9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789872" y="5740241"/>
              <a:ext cx="12017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FFFF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~75% · V4-Flash 边缘</a:t>
              </a:r>
              <a:endParaRPr lang="zh-CN" sz="825" dirty="0">
                <a:solidFill>
                  <a:srgbClr val="FFFFFF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3" name="Freeform 83"/>
            <p:cNvSpPr/>
            <p:nvPr/>
          </p:nvSpPr>
          <p:spPr>
            <a:xfrm>
              <a:off x="4857750" y="54768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FA500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073968" y="5495449"/>
              <a:ext cx="1256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L1-ESCALATED 溢出</a:t>
              </a:r>
              <a:endParaRPr lang="zh-CN" sz="9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075872" y="5740241"/>
              <a:ext cx="990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FFFF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load &gt; 85% 时上抛</a:t>
              </a:r>
              <a:endParaRPr lang="zh-CN" sz="825" dirty="0">
                <a:solidFill>
                  <a:srgbClr val="FFFFFF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6" name="Freeform 86"/>
            <p:cNvSpPr/>
            <p:nvPr/>
          </p:nvSpPr>
          <p:spPr>
            <a:xfrm>
              <a:off x="7429500" y="54768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17A2B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645718" y="5495449"/>
              <a:ext cx="1078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L2 云端战略推理</a:t>
              </a:r>
              <a:endParaRPr lang="zh-CN" sz="9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647622" y="5740241"/>
              <a:ext cx="12198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FFFF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~23% · V4-Pro 深加工</a:t>
              </a:r>
              <a:endParaRPr lang="zh-CN" sz="825" dirty="0">
                <a:solidFill>
                  <a:srgbClr val="FFFFFF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9" name="Freeform 89"/>
            <p:cNvSpPr/>
            <p:nvPr/>
          </p:nvSpPr>
          <p:spPr>
            <a:xfrm>
              <a:off x="9906000" y="5476875"/>
              <a:ext cx="1714500" cy="381000"/>
            </a:xfrm>
            <a:custGeom>
              <a:avLst/>
              <a:gdLst/>
              <a:ahLst/>
              <a:cxnLst/>
              <a:rect l="l" t="t" r="r" b="b"/>
              <a:pathLst>
                <a:path w="1714500" h="381000">
                  <a:moveTo>
                    <a:pt x="38100" y="0"/>
                  </a:moveTo>
                  <a:lnTo>
                    <a:pt x="1676400" y="0"/>
                  </a:lnTo>
                  <a:cubicBezTo>
                    <a:pt x="1697442" y="0"/>
                    <a:pt x="1714500" y="17058"/>
                    <a:pt x="1714500" y="38100"/>
                  </a:cubicBezTo>
                  <a:lnTo>
                    <a:pt x="1714500" y="342900"/>
                  </a:lnTo>
                  <a:cubicBezTo>
                    <a:pt x="1714500" y="363942"/>
                    <a:pt x="1697442" y="381000"/>
                    <a:pt x="16764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078033" y="56097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三道防线，层层兜底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381000" y="6334125"/>
            <a:ext cx="11442383" cy="378619"/>
            <a:chOff x="381000" y="6334125"/>
            <a:chExt cx="11442383" cy="378619"/>
          </a:xfrm>
        </p:grpSpPr>
        <p:sp>
          <p:nvSpPr>
            <p:cNvPr id="92" name="Line 92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542359" y="6522720"/>
              <a:ext cx="11072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II · 系统架构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321582" y="6514624"/>
              <a:ext cx="501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07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489012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· 系统架构 / MLP 分类器选型与训练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73026" y="332899"/>
              <a:ext cx="9503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II · 3 / 4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7746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 候选方案对比 → MLP 兼顾速度 / 精度 / 部署便捷性，启动时现场训练 4000 条样本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65760" y="1394460"/>
            <a:ext cx="11445240" cy="2120265"/>
            <a:chOff x="365760" y="1394460"/>
            <a:chExt cx="11445240" cy="2120265"/>
          </a:xfrm>
        </p:grpSpPr>
        <p:sp>
          <p:nvSpPr>
            <p:cNvPr id="12" name="TextBox 12"/>
            <p:cNvSpPr txBox="1"/>
            <p:nvPr/>
          </p:nvSpPr>
          <p:spPr>
            <a:xfrm>
              <a:off x="365760" y="1394460"/>
              <a:ext cx="39869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 · 选型对比 / Algorithm Selection Trade-off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381000" y="1666875"/>
              <a:ext cx="11430000" cy="361950"/>
            </a:xfrm>
            <a:custGeom>
              <a:avLst/>
              <a:gdLst/>
              <a:ahLst/>
              <a:cxnLst/>
              <a:rect l="l" t="t" r="r" b="b"/>
              <a:pathLst>
                <a:path w="11430000" h="361950">
                  <a:moveTo>
                    <a:pt x="38100" y="0"/>
                  </a:moveTo>
                  <a:lnTo>
                    <a:pt x="11391900" y="0"/>
                  </a:lnTo>
                  <a:cubicBezTo>
                    <a:pt x="11412942" y="0"/>
                    <a:pt x="11430000" y="17058"/>
                    <a:pt x="11430000" y="38100"/>
                  </a:cubicBezTo>
                  <a:lnTo>
                    <a:pt x="11430000" y="323850"/>
                  </a:lnTo>
                  <a:cubicBezTo>
                    <a:pt x="11430000" y="344892"/>
                    <a:pt x="11412942" y="361950"/>
                    <a:pt x="11391900" y="361950"/>
                  </a:cubicBezTo>
                  <a:lnTo>
                    <a:pt x="38100" y="361950"/>
                  </a:lnTo>
                  <a:cubicBezTo>
                    <a:pt x="17058" y="361950"/>
                    <a:pt x="0" y="344892"/>
                    <a:pt x="0" y="3238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5790" y="17916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候选方案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84125" y="17916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推理延迟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28105" y="1791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训练数据需求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52595" y="17916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边缘部署适配性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98018" y="1791652"/>
              <a:ext cx="1177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不选 / 选用理由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1000" y="2028825"/>
              <a:ext cx="11430000" cy="361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6742" y="2152174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决策树 / 随机森林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70053" y="2160270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8A74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极低</a:t>
              </a:r>
              <a:endParaRPr lang="zh-CN" sz="900" b="1" dirty="0">
                <a:solidFill>
                  <a:srgbClr val="28A74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69719" y="21521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中等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45918" y="2152174"/>
              <a:ext cx="1671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8A74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</a:t>
              </a:r>
              <a:endParaRPr lang="zh-CN" sz="975" dirty="0">
                <a:solidFill>
                  <a:srgbClr val="28A7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05022" y="21521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C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非线性拟合能力弱</a:t>
              </a:r>
              <a:endParaRPr lang="zh-CN" sz="975" dirty="0">
                <a:solidFill>
                  <a:srgbClr val="CC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1000" y="2390775"/>
              <a:ext cx="11430000" cy="361950"/>
            </a:xfrm>
            <a:prstGeom prst="rect">
              <a:avLst/>
            </a:pr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6742" y="2514124"/>
              <a:ext cx="2882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SVM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39061" y="2522220"/>
              <a:ext cx="160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8A74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低</a:t>
              </a:r>
              <a:endParaRPr lang="zh-CN" sz="900" b="1" dirty="0">
                <a:solidFill>
                  <a:srgbClr val="28A74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69719" y="251412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中等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45918" y="2514124"/>
              <a:ext cx="1671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8A74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</a:t>
              </a:r>
              <a:endParaRPr lang="zh-CN" sz="975" dirty="0">
                <a:solidFill>
                  <a:srgbClr val="28A7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33823" y="251412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C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概率输出需额外校准</a:t>
              </a:r>
              <a:endParaRPr lang="zh-CN" sz="975" dirty="0">
                <a:solidFill>
                  <a:srgbClr val="CC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" y="2752725"/>
              <a:ext cx="11430000" cy="361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6742" y="2876074"/>
              <a:ext cx="9147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Transformer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39061" y="2884170"/>
              <a:ext cx="160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C00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高</a:t>
              </a:r>
              <a:endParaRPr lang="zh-CN" sz="900" b="1" dirty="0">
                <a:solidFill>
                  <a:srgbClr val="CC00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69719" y="28760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C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大量</a:t>
              </a:r>
              <a:endParaRPr lang="zh-CN" sz="975" dirty="0">
                <a:solidFill>
                  <a:srgbClr val="CC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45918" y="2876074"/>
              <a:ext cx="1671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C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</a:t>
              </a:r>
              <a:endParaRPr lang="zh-CN" sz="975" dirty="0">
                <a:solidFill>
                  <a:srgbClr val="CC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91424" y="2876074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C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推理开销大，不适合网关</a:t>
              </a:r>
              <a:endParaRPr lang="zh-CN" sz="975" dirty="0">
                <a:solidFill>
                  <a:srgbClr val="CC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81000" y="3114675"/>
              <a:ext cx="11430000" cy="400050"/>
            </a:xfrm>
            <a:prstGeom prst="rect">
              <a:avLst/>
            </a:prstGeom>
            <a:solidFill>
              <a:srgbClr val="0066CC">
                <a:alpha val="12000"/>
              </a:srgbClr>
            </a:solidFill>
            <a:ln w="19050">
              <a:solidFill>
                <a:srgbClr val="0066CC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1000" y="3114675"/>
              <a:ext cx="57150" cy="4000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5790" y="3248978"/>
              <a:ext cx="10571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66C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MLP（选用）★</a:t>
              </a:r>
              <a:endParaRPr lang="zh-CN" sz="1050" b="1" dirty="0">
                <a:solidFill>
                  <a:srgbClr val="0066C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70700" y="3257074"/>
              <a:ext cx="6975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8A74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极低 (μs)</a:t>
              </a:r>
              <a:endParaRPr lang="zh-CN" sz="975" b="1" dirty="0">
                <a:solidFill>
                  <a:srgbClr val="28A74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93465" y="3257074"/>
              <a:ext cx="862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66C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中等 (4000)</a:t>
              </a:r>
              <a:endParaRPr lang="zh-CN" sz="975" b="1" dirty="0">
                <a:solidFill>
                  <a:srgbClr val="0066C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42358" y="3257074"/>
              <a:ext cx="1742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8A74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</a:t>
              </a:r>
              <a:endParaRPr lang="zh-CN" sz="975" b="1" dirty="0">
                <a:solidFill>
                  <a:srgbClr val="28A7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55078" y="3257074"/>
              <a:ext cx="1863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66C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速度 / 精度 / 部署均衡最优</a:t>
              </a:r>
              <a:endParaRPr lang="zh-CN" sz="975" b="1" dirty="0">
                <a:solidFill>
                  <a:srgbClr val="0066C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365760" y="3737610"/>
            <a:ext cx="11445240" cy="2120265"/>
            <a:chOff x="365760" y="3737610"/>
            <a:chExt cx="11445240" cy="2120265"/>
          </a:xfrm>
        </p:grpSpPr>
        <p:sp>
          <p:nvSpPr>
            <p:cNvPr id="45" name="TextBox 45"/>
            <p:cNvSpPr txBox="1"/>
            <p:nvPr/>
          </p:nvSpPr>
          <p:spPr>
            <a:xfrm>
              <a:off x="365760" y="3737610"/>
              <a:ext cx="5201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 · 训练流程 / Training Pipeline (启动时现场训练 60 epochs)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Freeform 46"/>
            <p:cNvSpPr/>
            <p:nvPr/>
          </p:nvSpPr>
          <p:spPr>
            <a:xfrm>
              <a:off x="381000" y="4000500"/>
              <a:ext cx="2209800" cy="1857375"/>
            </a:xfrm>
            <a:custGeom>
              <a:avLst/>
              <a:gdLst/>
              <a:ahLst/>
              <a:cxnLst/>
              <a:rect l="l" t="t" r="r" b="b"/>
              <a:pathLst>
                <a:path w="2209800" h="1857375">
                  <a:moveTo>
                    <a:pt x="57150" y="0"/>
                  </a:moveTo>
                  <a:lnTo>
                    <a:pt x="2152650" y="0"/>
                  </a:lnTo>
                  <a:cubicBezTo>
                    <a:pt x="2184213" y="0"/>
                    <a:pt x="2209800" y="25587"/>
                    <a:pt x="2209800" y="57150"/>
                  </a:cubicBezTo>
                  <a:lnTo>
                    <a:pt x="2209800" y="1800225"/>
                  </a:lnTo>
                  <a:cubicBezTo>
                    <a:pt x="2209800" y="1831788"/>
                    <a:pt x="2184213" y="1857375"/>
                    <a:pt x="2152650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476250" y="4114800"/>
              <a:ext cx="266700" cy="2667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4790" y="4190524"/>
              <a:ext cx="696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4865" y="41729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数据生成</a:t>
              </a:r>
              <a:endParaRPr lang="zh-CN" sz="10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Line 50"/>
            <p:cNvSpPr/>
            <p:nvPr/>
          </p:nvSpPr>
          <p:spPr>
            <a:xfrm>
              <a:off x="523875" y="4429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2445" y="4551045"/>
              <a:ext cx="1271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4000 条模拟历史样本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12445" y="47605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 维特征 + 加权打分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2445" y="4970145"/>
              <a:ext cx="1488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优先级 0.55 + 声呐 0.30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2445" y="5179695"/>
              <a:ext cx="11072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+ 深度 0.15 + 噪声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13398" y="5578316"/>
              <a:ext cx="10270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score &gt; 0.55 → L2</a:t>
              </a:r>
              <a:endParaRPr lang="zh-CN" sz="825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6" name="Freeform 56"/>
            <p:cNvSpPr/>
            <p:nvPr/>
          </p:nvSpPr>
          <p:spPr>
            <a:xfrm>
              <a:off x="2686050" y="4000500"/>
              <a:ext cx="2209800" cy="1857375"/>
            </a:xfrm>
            <a:custGeom>
              <a:avLst/>
              <a:gdLst/>
              <a:ahLst/>
              <a:cxnLst/>
              <a:rect l="l" t="t" r="r" b="b"/>
              <a:pathLst>
                <a:path w="2209800" h="1857375">
                  <a:moveTo>
                    <a:pt x="57150" y="0"/>
                  </a:moveTo>
                  <a:lnTo>
                    <a:pt x="2152650" y="0"/>
                  </a:lnTo>
                  <a:cubicBezTo>
                    <a:pt x="2184213" y="0"/>
                    <a:pt x="2209800" y="25587"/>
                    <a:pt x="2209800" y="57150"/>
                  </a:cubicBezTo>
                  <a:lnTo>
                    <a:pt x="2209800" y="1800225"/>
                  </a:lnTo>
                  <a:cubicBezTo>
                    <a:pt x="2209800" y="1831788"/>
                    <a:pt x="2184213" y="1857375"/>
                    <a:pt x="2152650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2781300" y="4114800"/>
              <a:ext cx="266700" cy="2667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861150" y="41905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129915" y="41729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特征标准化</a:t>
              </a:r>
              <a:endParaRPr lang="zh-CN" sz="10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Line 60"/>
            <p:cNvSpPr/>
            <p:nvPr/>
          </p:nvSpPr>
          <p:spPr>
            <a:xfrm>
              <a:off x="2828925" y="4429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817495" y="4551045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Z-score 标准化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817495" y="4760595"/>
              <a:ext cx="9824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x' = (x − μ) / σ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817495" y="4970145"/>
              <a:ext cx="9758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μ, σ 持久化磁盘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817495" y="51796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推理时复用同一参数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818448" y="5578316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消除量纲差异</a:t>
              </a:r>
              <a:endParaRPr lang="zh-CN" sz="825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6" name="Freeform 66"/>
            <p:cNvSpPr/>
            <p:nvPr/>
          </p:nvSpPr>
          <p:spPr>
            <a:xfrm>
              <a:off x="4991100" y="4000500"/>
              <a:ext cx="2209800" cy="1857375"/>
            </a:xfrm>
            <a:custGeom>
              <a:avLst/>
              <a:gdLst/>
              <a:ahLst/>
              <a:cxnLst/>
              <a:rect l="l" t="t" r="r" b="b"/>
              <a:pathLst>
                <a:path w="2209800" h="1857375">
                  <a:moveTo>
                    <a:pt x="57150" y="0"/>
                  </a:moveTo>
                  <a:lnTo>
                    <a:pt x="2152650" y="0"/>
                  </a:lnTo>
                  <a:cubicBezTo>
                    <a:pt x="2184213" y="0"/>
                    <a:pt x="2209800" y="25587"/>
                    <a:pt x="2209800" y="57150"/>
                  </a:cubicBezTo>
                  <a:lnTo>
                    <a:pt x="2209800" y="1800225"/>
                  </a:lnTo>
                  <a:cubicBezTo>
                    <a:pt x="2209800" y="1831788"/>
                    <a:pt x="2184213" y="1857375"/>
                    <a:pt x="2152650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5086350" y="4114800"/>
              <a:ext cx="266700" cy="2667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166200" y="41905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434965" y="41729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模型训练</a:t>
              </a:r>
              <a:endParaRPr lang="zh-CN" sz="10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Line 70"/>
            <p:cNvSpPr/>
            <p:nvPr/>
          </p:nvSpPr>
          <p:spPr>
            <a:xfrm>
              <a:off x="5133975" y="4429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122545" y="4551045"/>
              <a:ext cx="9101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 → 32 → 32 → 2</a:t>
              </a:r>
              <a:endParaRPr lang="zh-CN" sz="900" dirty="0">
                <a:solidFill>
                  <a:srgbClr val="6666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122545" y="4760595"/>
              <a:ext cx="9955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ReLU / Softmax</a:t>
              </a:r>
              <a:endParaRPr lang="zh-CN" sz="900" dirty="0">
                <a:solidFill>
                  <a:srgbClr val="6666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122545" y="4970145"/>
              <a:ext cx="850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Adam lr=3e-3</a:t>
              </a:r>
              <a:endParaRPr lang="zh-CN" sz="900" dirty="0">
                <a:solidFill>
                  <a:srgbClr val="6666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122545" y="517969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60 epochs / batch 256</a:t>
              </a:r>
              <a:endParaRPr lang="zh-CN" sz="900" dirty="0">
                <a:solidFill>
                  <a:srgbClr val="6666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123498" y="5578316"/>
              <a:ext cx="14186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CrossEntropyLoss · GPU</a:t>
              </a:r>
              <a:endParaRPr lang="zh-CN" sz="825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6" name="Freeform 76"/>
            <p:cNvSpPr/>
            <p:nvPr/>
          </p:nvSpPr>
          <p:spPr>
            <a:xfrm>
              <a:off x="7296150" y="4000500"/>
              <a:ext cx="2209800" cy="1857375"/>
            </a:xfrm>
            <a:custGeom>
              <a:avLst/>
              <a:gdLst/>
              <a:ahLst/>
              <a:cxnLst/>
              <a:rect l="l" t="t" r="r" b="b"/>
              <a:pathLst>
                <a:path w="2209800" h="1857375">
                  <a:moveTo>
                    <a:pt x="57150" y="0"/>
                  </a:moveTo>
                  <a:lnTo>
                    <a:pt x="2152650" y="0"/>
                  </a:lnTo>
                  <a:cubicBezTo>
                    <a:pt x="2184213" y="0"/>
                    <a:pt x="2209800" y="25587"/>
                    <a:pt x="2209800" y="57150"/>
                  </a:cubicBezTo>
                  <a:lnTo>
                    <a:pt x="2209800" y="1800225"/>
                  </a:lnTo>
                  <a:cubicBezTo>
                    <a:pt x="2209800" y="1831788"/>
                    <a:pt x="2184213" y="1857375"/>
                    <a:pt x="2152650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7391400" y="4114800"/>
              <a:ext cx="266700" cy="2667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71250" y="41905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40015" y="41729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权重持久化</a:t>
              </a:r>
              <a:endParaRPr lang="zh-CN" sz="10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Line 80"/>
            <p:cNvSpPr/>
            <p:nvPr/>
          </p:nvSpPr>
          <p:spPr>
            <a:xfrm>
              <a:off x="7439025" y="4429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427595" y="4551045"/>
              <a:ext cx="8641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classifier.pt</a:t>
              </a:r>
              <a:endParaRPr lang="zh-CN" sz="900" dirty="0">
                <a:solidFill>
                  <a:srgbClr val="6666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427595" y="47605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+ 标准化参数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427595" y="49701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二次启动秒级加载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427595" y="51796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无需重新训练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428548" y="5578316"/>
              <a:ext cx="8945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删除 .pt 即重训</a:t>
              </a:r>
              <a:endParaRPr lang="zh-CN" sz="825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6" name="Freeform 86"/>
            <p:cNvSpPr/>
            <p:nvPr/>
          </p:nvSpPr>
          <p:spPr>
            <a:xfrm>
              <a:off x="9601200" y="4000500"/>
              <a:ext cx="2209800" cy="1857375"/>
            </a:xfrm>
            <a:custGeom>
              <a:avLst/>
              <a:gdLst/>
              <a:ahLst/>
              <a:cxnLst/>
              <a:rect l="l" t="t" r="r" b="b"/>
              <a:pathLst>
                <a:path w="2209800" h="1857375">
                  <a:moveTo>
                    <a:pt x="57150" y="0"/>
                  </a:moveTo>
                  <a:lnTo>
                    <a:pt x="2152650" y="0"/>
                  </a:lnTo>
                  <a:cubicBezTo>
                    <a:pt x="2184213" y="0"/>
                    <a:pt x="2209800" y="25587"/>
                    <a:pt x="2209800" y="57150"/>
                  </a:cubicBezTo>
                  <a:lnTo>
                    <a:pt x="2209800" y="1800225"/>
                  </a:lnTo>
                  <a:cubicBezTo>
                    <a:pt x="2209800" y="1831788"/>
                    <a:pt x="2184213" y="1857375"/>
                    <a:pt x="2152650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9696450" y="4114800"/>
              <a:ext cx="266700" cy="266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776300" y="41905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</a:t>
              </a:r>
              <a:endParaRPr lang="zh-CN" sz="975" b="1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045065" y="41729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在线推理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0" name="Line 90"/>
            <p:cNvSpPr/>
            <p:nvPr/>
          </p:nvSpPr>
          <p:spPr>
            <a:xfrm>
              <a:off x="9744075" y="4429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732645" y="4551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提取特征</a:t>
              </a:r>
              <a:endPara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732645" y="4760595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Z-score 标准化</a:t>
              </a:r>
              <a:endPara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732645" y="4970145"/>
              <a:ext cx="1048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前向传播 (μs 级)</a:t>
              </a:r>
              <a:endPara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732645" y="5179695"/>
              <a:ext cx="10678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Softmax → P(L2)</a:t>
              </a:r>
              <a:endPara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733598" y="5578316"/>
              <a:ext cx="10204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FFFFFF">
                      <a:alpha val="85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 ≥ 0.5 → 路由 L2</a:t>
              </a:r>
              <a:endParaRPr lang="zh-CN" sz="825" b="1" dirty="0">
                <a:solidFill>
                  <a:srgbClr val="FFFFFF">
                    <a:alpha val="85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381000" y="6334125"/>
            <a:ext cx="11442383" cy="378619"/>
            <a:chOff x="381000" y="6334125"/>
            <a:chExt cx="11442383" cy="378619"/>
          </a:xfrm>
        </p:grpSpPr>
        <p:sp>
          <p:nvSpPr>
            <p:cNvPr id="97" name="Line 97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542359" y="6522720"/>
              <a:ext cx="11072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II · 系统架构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321582" y="6514624"/>
              <a:ext cx="501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08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66567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· 系统架构 / 动态算力溢出（Compute Spillover）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73026" y="332899"/>
              <a:ext cx="9503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II · 4 / 4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87086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10× H100 平均负载 ≥ 85% 时，本应走 L1 的任务被强制 ESCALATE 至 L2，保护边缘节点不被压垮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1285875"/>
            <a:ext cx="11430000" cy="3238500"/>
            <a:chOff x="381000" y="1285875"/>
            <a:chExt cx="11430000" cy="3238500"/>
          </a:xfrm>
        </p:grpSpPr>
        <p:sp>
          <p:nvSpPr>
            <p:cNvPr id="12" name="Freeform 12"/>
            <p:cNvSpPr/>
            <p:nvPr/>
          </p:nvSpPr>
          <p:spPr>
            <a:xfrm>
              <a:off x="381000" y="1285875"/>
              <a:ext cx="11430000" cy="3238500"/>
            </a:xfrm>
            <a:custGeom>
              <a:avLst/>
              <a:gdLst/>
              <a:ahLst/>
              <a:cxnLst/>
              <a:rect l="l" t="t" r="r" b="b"/>
              <a:pathLst>
                <a:path w="11430000" h="32385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3181350"/>
                  </a:lnTo>
                  <a:cubicBezTo>
                    <a:pt x="11430000" y="3212913"/>
                    <a:pt x="11404413" y="3238500"/>
                    <a:pt x="11372850" y="3238500"/>
                  </a:cubicBezTo>
                  <a:lnTo>
                    <a:pt x="57150" y="3238500"/>
                  </a:lnTo>
                  <a:cubicBezTo>
                    <a:pt x="25587" y="3238500"/>
                    <a:pt x="0" y="3212913"/>
                    <a:pt x="0" y="3181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0050" y="1304925"/>
              <a:ext cx="11391900" cy="3200400"/>
            </a:xfrm>
            <a:prstGeom prst="rect">
              <a:avLst/>
            </a:prstGeom>
          </p:spPr>
        </p:pic>
        <p:sp>
          <p:nvSpPr>
            <p:cNvPr id="14" name="Freeform 14"/>
            <p:cNvSpPr/>
            <p:nvPr/>
          </p:nvSpPr>
          <p:spPr>
            <a:xfrm>
              <a:off x="571500" y="1476375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38100" y="0"/>
                  </a:moveTo>
                  <a:lnTo>
                    <a:pt x="1676400" y="0"/>
                  </a:lnTo>
                  <a:cubicBezTo>
                    <a:pt x="1697442" y="0"/>
                    <a:pt x="1714500" y="17058"/>
                    <a:pt x="1714500" y="38100"/>
                  </a:cubicBezTo>
                  <a:lnTo>
                    <a:pt x="1714500" y="266700"/>
                  </a:lnTo>
                  <a:cubicBezTo>
                    <a:pt x="1714500" y="287742"/>
                    <a:pt x="1697442" y="304800"/>
                    <a:pt x="1676400" y="304800"/>
                  </a:cubicBezTo>
                  <a:lnTo>
                    <a:pt x="38100" y="304800"/>
                  </a:lnTo>
                  <a:cubicBezTo>
                    <a:pt x="17058" y="304800"/>
                    <a:pt x="0" y="287742"/>
                    <a:pt x="0" y="266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4015" y="157114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LIVE · /api/spike DEMO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096500" y="1476375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266700"/>
                  </a:lnTo>
                  <a:cubicBezTo>
                    <a:pt x="1524000" y="287742"/>
                    <a:pt x="1506942" y="304800"/>
                    <a:pt x="1485900" y="304800"/>
                  </a:cubicBezTo>
                  <a:lnTo>
                    <a:pt x="38100" y="304800"/>
                  </a:lnTo>
                  <a:cubicBezTo>
                    <a:pt x="17058" y="304800"/>
                    <a:pt x="0" y="287742"/>
                    <a:pt x="0" y="266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26540" y="1571149"/>
              <a:ext cx="10639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avg load 92.3%</a:t>
              </a:r>
              <a:endParaRPr lang="zh-CN" sz="975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81000" y="4714875"/>
            <a:ext cx="3714750" cy="1476375"/>
            <a:chOff x="381000" y="4714875"/>
            <a:chExt cx="3714750" cy="1476375"/>
          </a:xfrm>
        </p:grpSpPr>
        <p:sp>
          <p:nvSpPr>
            <p:cNvPr id="19" name="Freeform 19"/>
            <p:cNvSpPr/>
            <p:nvPr/>
          </p:nvSpPr>
          <p:spPr>
            <a:xfrm>
              <a:off x="381000" y="4714875"/>
              <a:ext cx="3714750" cy="1476375"/>
            </a:xfrm>
            <a:custGeom>
              <a:avLst/>
              <a:gdLst/>
              <a:ahLst/>
              <a:cxnLst/>
              <a:rect l="l" t="t" r="r" b="b"/>
              <a:pathLst>
                <a:path w="3714750" h="1476375">
                  <a:moveTo>
                    <a:pt x="76200" y="0"/>
                  </a:moveTo>
                  <a:lnTo>
                    <a:pt x="3638550" y="0"/>
                  </a:lnTo>
                  <a:cubicBezTo>
                    <a:pt x="3680634" y="0"/>
                    <a:pt x="3714750" y="34116"/>
                    <a:pt x="3714750" y="76200"/>
                  </a:cubicBezTo>
                  <a:lnTo>
                    <a:pt x="3714750" y="1400175"/>
                  </a:lnTo>
                  <a:cubicBezTo>
                    <a:pt x="3714750" y="1442259"/>
                    <a:pt x="3680634" y="1476375"/>
                    <a:pt x="3638550" y="1476375"/>
                  </a:cubicBezTo>
                  <a:lnTo>
                    <a:pt x="76200" y="1476375"/>
                  </a:lnTo>
                  <a:cubicBezTo>
                    <a:pt x="34116" y="1476375"/>
                    <a:pt x="0" y="1442259"/>
                    <a:pt x="0" y="14001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1000" y="4714875"/>
              <a:ext cx="57150" cy="1476375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38175" y="48577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71450"/>
                  </a:moveTo>
                  <a:cubicBezTo>
                    <a:pt x="266700" y="245097"/>
                    <a:pt x="206997" y="304800"/>
                    <a:pt x="133350" y="304800"/>
                  </a:cubicBezTo>
                  <a:cubicBezTo>
                    <a:pt x="59703" y="304800"/>
                    <a:pt x="0" y="245097"/>
                    <a:pt x="0" y="171450"/>
                  </a:cubicBezTo>
                  <a:cubicBezTo>
                    <a:pt x="0" y="104775"/>
                    <a:pt x="57150" y="57150"/>
                    <a:pt x="57150" y="57150"/>
                  </a:cubicBezTo>
                  <a:lnTo>
                    <a:pt x="95250" y="57150"/>
                  </a:lnTo>
                  <a:lnTo>
                    <a:pt x="95250" y="85725"/>
                  </a:lnTo>
                  <a:cubicBezTo>
                    <a:pt x="95250" y="96246"/>
                    <a:pt x="103779" y="104775"/>
                    <a:pt x="114300" y="104775"/>
                  </a:cubicBezTo>
                  <a:cubicBezTo>
                    <a:pt x="124821" y="104775"/>
                    <a:pt x="133350" y="96246"/>
                    <a:pt x="133350" y="85725"/>
                  </a:cubicBezTo>
                  <a:lnTo>
                    <a:pt x="133350" y="0"/>
                  </a:lnTo>
                  <a:lnTo>
                    <a:pt x="171450" y="0"/>
                  </a:lnTo>
                  <a:cubicBezTo>
                    <a:pt x="171450" y="0"/>
                    <a:pt x="266700" y="57150"/>
                    <a:pt x="266700" y="171450"/>
                  </a:cubicBezTo>
                  <a:close/>
                  <a:moveTo>
                    <a:pt x="171450" y="228600"/>
                  </a:moveTo>
                  <a:cubicBezTo>
                    <a:pt x="171450" y="249643"/>
                    <a:pt x="154392" y="266700"/>
                    <a:pt x="133350" y="266700"/>
                  </a:cubicBezTo>
                  <a:cubicBezTo>
                    <a:pt x="112308" y="266700"/>
                    <a:pt x="95250" y="249643"/>
                    <a:pt x="95250" y="228600"/>
                  </a:cubicBezTo>
                  <a:cubicBezTo>
                    <a:pt x="95250" y="180975"/>
                    <a:pt x="133350" y="152400"/>
                    <a:pt x="133350" y="152400"/>
                  </a:cubicBezTo>
                  <a:cubicBezTo>
                    <a:pt x="133350" y="152400"/>
                    <a:pt x="171450" y="180975"/>
                    <a:pt x="171450" y="228600"/>
                  </a:cubicBezTo>
                  <a:close/>
                </a:path>
              </a:pathLst>
            </a:custGeom>
            <a:solidFill>
              <a:srgbClr val="FFA5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4885" y="49377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触发条件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9648" y="5168741"/>
              <a:ext cx="10752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TRIGGER CONDITION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571500" y="538162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8165" y="5506402"/>
              <a:ext cx="1548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avg(load_10) ≥ 0.85</a:t>
              </a:r>
              <a:endParaRPr lang="zh-CN" sz="1050" b="1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9118" y="5724049"/>
              <a:ext cx="12636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 张 H100 平均负载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9118" y="591454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 500ms 检测一次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38625" y="4714875"/>
            <a:ext cx="3714750" cy="1476375"/>
            <a:chOff x="4238625" y="4714875"/>
            <a:chExt cx="3714750" cy="1476375"/>
          </a:xfrm>
        </p:grpSpPr>
        <p:sp>
          <p:nvSpPr>
            <p:cNvPr id="29" name="Freeform 29"/>
            <p:cNvSpPr/>
            <p:nvPr/>
          </p:nvSpPr>
          <p:spPr>
            <a:xfrm>
              <a:off x="4238625" y="4714875"/>
              <a:ext cx="3714750" cy="1476375"/>
            </a:xfrm>
            <a:custGeom>
              <a:avLst/>
              <a:gdLst/>
              <a:ahLst/>
              <a:cxnLst/>
              <a:rect l="l" t="t" r="r" b="b"/>
              <a:pathLst>
                <a:path w="3714750" h="1476375">
                  <a:moveTo>
                    <a:pt x="76200" y="0"/>
                  </a:moveTo>
                  <a:lnTo>
                    <a:pt x="3638550" y="0"/>
                  </a:lnTo>
                  <a:cubicBezTo>
                    <a:pt x="3680634" y="0"/>
                    <a:pt x="3714750" y="34116"/>
                    <a:pt x="3714750" y="76200"/>
                  </a:cubicBezTo>
                  <a:lnTo>
                    <a:pt x="3714750" y="1400175"/>
                  </a:lnTo>
                  <a:cubicBezTo>
                    <a:pt x="3714750" y="1442259"/>
                    <a:pt x="3680634" y="1476375"/>
                    <a:pt x="3638550" y="1476375"/>
                  </a:cubicBezTo>
                  <a:lnTo>
                    <a:pt x="76200" y="1476375"/>
                  </a:lnTo>
                  <a:cubicBezTo>
                    <a:pt x="34116" y="1476375"/>
                    <a:pt x="0" y="1442259"/>
                    <a:pt x="0" y="14001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38625" y="4714875"/>
              <a:ext cx="57150" cy="1476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495800" y="48577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63819" y="255135"/>
                  </a:moveTo>
                  <a:lnTo>
                    <a:pt x="133350" y="304800"/>
                  </a:lnTo>
                  <a:lnTo>
                    <a:pt x="202881" y="255135"/>
                  </a:lnTo>
                  <a:cubicBezTo>
                    <a:pt x="242931" y="226527"/>
                    <a:pt x="266700" y="180340"/>
                    <a:pt x="266700" y="131122"/>
                  </a:cubicBezTo>
                  <a:lnTo>
                    <a:pt x="266700" y="57150"/>
                  </a:lnTo>
                  <a:lnTo>
                    <a:pt x="133350" y="0"/>
                  </a:lnTo>
                  <a:lnTo>
                    <a:pt x="0" y="57150"/>
                  </a:lnTo>
                  <a:lnTo>
                    <a:pt x="0" y="131122"/>
                  </a:lnTo>
                  <a:cubicBezTo>
                    <a:pt x="0" y="180340"/>
                    <a:pt x="23769" y="226527"/>
                    <a:pt x="63819" y="255135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842510" y="49377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保护动作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47272" y="5168741"/>
              <a:ext cx="11294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PROTECTION ACTION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4429125" y="538162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16742" y="5514499"/>
              <a:ext cx="1557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tag = [L1-ESCALATED]</a:t>
              </a:r>
              <a:endParaRPr lang="zh-CN" sz="975" b="1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16742" y="5724049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强制上抛至云端 L2 队列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16742" y="59145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保护边缘节点不被压垮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096250" y="4714875"/>
            <a:ext cx="3714750" cy="1476375"/>
            <a:chOff x="8096250" y="4714875"/>
            <a:chExt cx="3714750" cy="1476375"/>
          </a:xfrm>
        </p:grpSpPr>
        <p:sp>
          <p:nvSpPr>
            <p:cNvPr id="39" name="Freeform 39"/>
            <p:cNvSpPr/>
            <p:nvPr/>
          </p:nvSpPr>
          <p:spPr>
            <a:xfrm>
              <a:off x="8096250" y="4714875"/>
              <a:ext cx="3714750" cy="1476375"/>
            </a:xfrm>
            <a:custGeom>
              <a:avLst/>
              <a:gdLst/>
              <a:ahLst/>
              <a:cxnLst/>
              <a:rect l="l" t="t" r="r" b="b"/>
              <a:pathLst>
                <a:path w="3714750" h="1476375">
                  <a:moveTo>
                    <a:pt x="76200" y="0"/>
                  </a:moveTo>
                  <a:lnTo>
                    <a:pt x="3638550" y="0"/>
                  </a:lnTo>
                  <a:cubicBezTo>
                    <a:pt x="3680634" y="0"/>
                    <a:pt x="3714750" y="34116"/>
                    <a:pt x="3714750" y="76200"/>
                  </a:cubicBezTo>
                  <a:lnTo>
                    <a:pt x="3714750" y="1400175"/>
                  </a:lnTo>
                  <a:cubicBezTo>
                    <a:pt x="3714750" y="1442259"/>
                    <a:pt x="3680634" y="1476375"/>
                    <a:pt x="3638550" y="1476375"/>
                  </a:cubicBezTo>
                  <a:lnTo>
                    <a:pt x="76200" y="1476375"/>
                  </a:lnTo>
                  <a:cubicBezTo>
                    <a:pt x="34116" y="1476375"/>
                    <a:pt x="0" y="1442259"/>
                    <a:pt x="0" y="14001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096250" y="4714875"/>
              <a:ext cx="57150" cy="14763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372475" y="485775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FFA50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00135" y="49377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现场演示触发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04898" y="5168741"/>
              <a:ext cx="10752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8F4FC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LIVE DEMO TRIGGER</a:t>
              </a:r>
              <a:endParaRPr lang="zh-CN" sz="825" dirty="0">
                <a:solidFill>
                  <a:srgbClr val="E8F4FC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4" name="Line 44"/>
            <p:cNvSpPr/>
            <p:nvPr/>
          </p:nvSpPr>
          <p:spPr>
            <a:xfrm>
              <a:off x="8286750" y="538162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267700" y="5524500"/>
              <a:ext cx="3409950" cy="304800"/>
            </a:xfrm>
            <a:custGeom>
              <a:avLst/>
              <a:gdLst/>
              <a:ahLst/>
              <a:cxnLst/>
              <a:rect l="l" t="t" r="r" b="b"/>
              <a:pathLst>
                <a:path w="3409950" h="304800">
                  <a:moveTo>
                    <a:pt x="38100" y="0"/>
                  </a:moveTo>
                  <a:lnTo>
                    <a:pt x="3371850" y="0"/>
                  </a:lnTo>
                  <a:cubicBezTo>
                    <a:pt x="3392892" y="0"/>
                    <a:pt x="3409950" y="17058"/>
                    <a:pt x="3409950" y="38100"/>
                  </a:cubicBezTo>
                  <a:lnTo>
                    <a:pt x="3409950" y="266700"/>
                  </a:lnTo>
                  <a:cubicBezTo>
                    <a:pt x="3409950" y="287742"/>
                    <a:pt x="3392892" y="304800"/>
                    <a:pt x="3371850" y="304800"/>
                  </a:cubicBezTo>
                  <a:lnTo>
                    <a:pt x="38100" y="304800"/>
                  </a:lnTo>
                  <a:cubicBezTo>
                    <a:pt x="17058" y="304800"/>
                    <a:pt x="0" y="287742"/>
                    <a:pt x="0" y="266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50568" y="5619274"/>
              <a:ext cx="25890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curl -X POST /api/spike?duration=5</a:t>
              </a:r>
              <a:endParaRPr lang="zh-CN" sz="975" b="1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55318" y="5943124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一键拉满 → 红色告警 + L2 队列暴增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81000" y="6334125"/>
            <a:ext cx="11442383" cy="378619"/>
            <a:chOff x="381000" y="6334125"/>
            <a:chExt cx="11442383" cy="378619"/>
          </a:xfrm>
        </p:grpSpPr>
        <p:sp>
          <p:nvSpPr>
            <p:cNvPr id="49" name="Line 49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542359" y="6522720"/>
              <a:ext cx="11072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II · 系统架构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321582" y="6514624"/>
              <a:ext cx="501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2372582" cy="762000"/>
            <a:chOff x="0" y="0"/>
            <a:chExt cx="2372582" cy="762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57150" cy="7620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67665" y="343852"/>
              <a:ext cx="20049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III / CORE MECHANISMS</a:t>
              </a:r>
              <a:endParaRPr lang="zh-CN" sz="1050" dirty="0">
                <a:solidFill>
                  <a:srgbClr val="FFFFFF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8" name="Rectangle 8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76300" y="24955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21000" b="1" dirty="0">
              <a:solidFill>
                <a:srgbClr val="FFFFFF">
                  <a:alpha val="8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66160" y="2832735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核心机制</a:t>
            </a:r>
            <a:endParaRPr lang="zh-CN" sz="4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598545" y="3489008"/>
            <a:ext cx="20059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i="1" dirty="0">
                <a:solidFill>
                  <a:srgbClr val="FFFFFF">
                    <a:alpha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Core Mechanisms</a:t>
            </a:r>
            <a:endParaRPr lang="zh-CN" sz="1650" i="1" dirty="0">
              <a:solidFill>
                <a:srgbClr val="FFFFFF">
                  <a:alpha val="5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600450" y="4076700"/>
            <a:ext cx="55806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双缓冲读写分离 + 多视角实时观测 + 模拟与真实部署对照</a:t>
            </a:r>
            <a:endParaRPr lang="zh-CN" sz="1500" dirty="0">
              <a:solidFill>
                <a:srgbClr val="E8F4F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3619500" y="4667250"/>
            <a:ext cx="4904679" cy="342900"/>
            <a:chOff x="3619500" y="4667250"/>
            <a:chExt cx="4904679" cy="342900"/>
          </a:xfrm>
        </p:grpSpPr>
        <p:sp>
          <p:nvSpPr>
            <p:cNvPr id="14" name="Freeform 14"/>
            <p:cNvSpPr/>
            <p:nvPr/>
          </p:nvSpPr>
          <p:spPr>
            <a:xfrm>
              <a:off x="36195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98134" y="4790599"/>
              <a:ext cx="9667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PING-PONG DB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2959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60507" y="4790599"/>
              <a:ext cx="7947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SIM ↔ PROD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9723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44420" y="4790599"/>
              <a:ext cx="1579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DUAL-WS / 16 SUB-LOG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68618" y="6371749"/>
            <a:ext cx="19827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CHAPTER 03 / 05 · Slides 11–14</a:t>
            </a:r>
            <a:endParaRPr lang="zh-CN" sz="975" dirty="0">
              <a:solidFill>
                <a:srgbClr val="FFFFFF">
                  <a:alpha val="40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322272" y="63636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>
                    <a:alpha val="4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/ 20</a:t>
            </a:r>
            <a:endParaRPr lang="zh-CN" sz="1050" dirty="0">
              <a:solidFill>
                <a:srgbClr val="FFFFFF">
                  <a:alpha val="4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62564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核心机制 / 双缓冲（Ping-Pong DB）读写分离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65906" y="332899"/>
              <a:ext cx="9574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III · 1 / 4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78702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写入 400ms / AI 推理秒级 — 双缓冲指针每 3s 翻转，临界区 O(1)，写入近乎不被阻塞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81000" y="1285875"/>
            <a:ext cx="5143500" cy="4905375"/>
            <a:chOff x="381000" y="1285875"/>
            <a:chExt cx="5143500" cy="4905375"/>
          </a:xfrm>
        </p:grpSpPr>
        <p:sp>
          <p:nvSpPr>
            <p:cNvPr id="12" name="Freeform 12"/>
            <p:cNvSpPr/>
            <p:nvPr/>
          </p:nvSpPr>
          <p:spPr>
            <a:xfrm>
              <a:off x="381000" y="1285875"/>
              <a:ext cx="5143500" cy="4905375"/>
            </a:xfrm>
            <a:custGeom>
              <a:avLst/>
              <a:gdLst/>
              <a:ahLst/>
              <a:cxnLst/>
              <a:rect l="l" t="t" r="r" b="b"/>
              <a:pathLst>
                <a:path w="5143500" h="4905375">
                  <a:moveTo>
                    <a:pt x="95250" y="0"/>
                  </a:moveTo>
                  <a:lnTo>
                    <a:pt x="5048250" y="0"/>
                  </a:lnTo>
                  <a:cubicBezTo>
                    <a:pt x="5100855" y="0"/>
                    <a:pt x="5143500" y="42645"/>
                    <a:pt x="5143500" y="95250"/>
                  </a:cubicBezTo>
                  <a:lnTo>
                    <a:pt x="5143500" y="4810125"/>
                  </a:lnTo>
                  <a:cubicBezTo>
                    <a:pt x="5143500" y="4862730"/>
                    <a:pt x="5100855" y="4905375"/>
                    <a:pt x="5048250" y="4905375"/>
                  </a:cubicBezTo>
                  <a:lnTo>
                    <a:pt x="95250" y="4905375"/>
                  </a:lnTo>
                  <a:cubicBezTo>
                    <a:pt x="42645" y="4905375"/>
                    <a:pt x="0" y="4862730"/>
                    <a:pt x="0" y="481012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56260" y="145161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双缓冲翻转时序图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1022" y="16825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PING-PONG TIMING DIAGRAM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8165" y="19631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t₀ · active_write_db = "A"</a:t>
              </a:r>
              <a:endParaRPr lang="zh-CN" sz="1050" b="1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571500" y="2209800"/>
              <a:ext cx="2095500" cy="764381"/>
              <a:chOff x="571500" y="2209800"/>
              <a:chExt cx="2095500" cy="76438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71500" y="2209800"/>
                <a:ext cx="2095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762000">
                    <a:moveTo>
                      <a:pt x="57150" y="0"/>
                    </a:moveTo>
                    <a:lnTo>
                      <a:pt x="2038350" y="0"/>
                    </a:lnTo>
                    <a:cubicBezTo>
                      <a:pt x="2069913" y="0"/>
                      <a:pt x="2095500" y="25587"/>
                      <a:pt x="2095500" y="57150"/>
                    </a:cubicBezTo>
                    <a:lnTo>
                      <a:pt x="2095500" y="704850"/>
                    </a:lnTo>
                    <a:cubicBezTo>
                      <a:pt x="2095500" y="736413"/>
                      <a:pt x="2069913" y="762000"/>
                      <a:pt x="2038350" y="762000"/>
                    </a:cubicBezTo>
                    <a:lnTo>
                      <a:pt x="57150" y="762000"/>
                    </a:lnTo>
                    <a:cubicBezTo>
                      <a:pt x="25587" y="762000"/>
                      <a:pt x="0" y="736413"/>
                      <a:pt x="0" y="7048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47168" y="2333625"/>
                <a:ext cx="54416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DB_A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55499" y="2628424"/>
                <a:ext cx="7275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[ 写入中 ]</a:t>
                </a:r>
                <a:endPara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65967" y="2806541"/>
                <a:ext cx="90656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E8F4F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writes / 400ms</a:t>
                </a:r>
                <a:endParaRPr lang="zh-CN" sz="825" dirty="0">
                  <a:solidFill>
                    <a:srgbClr val="E8F4F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857500" y="2209800"/>
              <a:ext cx="2095500" cy="764381"/>
              <a:chOff x="2857500" y="2209800"/>
              <a:chExt cx="2095500" cy="76438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2857500" y="2209800"/>
                <a:ext cx="2095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762000">
                    <a:moveTo>
                      <a:pt x="57150" y="0"/>
                    </a:moveTo>
                    <a:lnTo>
                      <a:pt x="2038350" y="0"/>
                    </a:lnTo>
                    <a:cubicBezTo>
                      <a:pt x="2069913" y="0"/>
                      <a:pt x="2095500" y="25587"/>
                      <a:pt x="2095500" y="57150"/>
                    </a:cubicBezTo>
                    <a:lnTo>
                      <a:pt x="2095500" y="704850"/>
                    </a:lnTo>
                    <a:cubicBezTo>
                      <a:pt x="2095500" y="736413"/>
                      <a:pt x="2069913" y="762000"/>
                      <a:pt x="2038350" y="762000"/>
                    </a:cubicBezTo>
                    <a:lnTo>
                      <a:pt x="57150" y="762000"/>
                    </a:lnTo>
                    <a:cubicBezTo>
                      <a:pt x="25587" y="762000"/>
                      <a:pt x="0" y="736413"/>
                      <a:pt x="0" y="7048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0D7E0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633168" y="2333625"/>
                <a:ext cx="54416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336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DB_B</a:t>
                </a:r>
                <a:endParaRPr lang="zh-CN" sz="15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616258" y="2628424"/>
                <a:ext cx="5779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999999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[ 空闲 ]</a:t>
                </a:r>
                <a:endParaRPr lang="zh-CN" sz="975" b="1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92355" y="2806541"/>
                <a:ext cx="2257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999999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idle</a:t>
                </a:r>
                <a:endPara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714500" y="3286125"/>
              <a:ext cx="2105025" cy="285750"/>
              <a:chOff x="1714500" y="3286125"/>
              <a:chExt cx="2105025" cy="28575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2072630" y="3296602"/>
                <a:ext cx="13792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C000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⇅ 每 3s 指针翻转 ⇅</a:t>
                </a:r>
                <a:endParaRPr lang="zh-CN" sz="1050" b="1" dirty="0">
                  <a:solidFill>
                    <a:srgbClr val="CC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1714500" y="3286125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CC0000"/>
                </a:solidFill>
                <a:custDash>
                  <a:ds d="200000" sp="150000"/>
                </a:custDash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0000" y="3286125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CC0000"/>
                </a:solidFill>
                <a:custDash>
                  <a:ds d="200000" sp="150000"/>
                </a:custDash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58165" y="37157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t₁ · active_write_db = "B"</a:t>
              </a:r>
              <a:endParaRPr lang="zh-CN" sz="1050" b="1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571500" y="3962400"/>
              <a:ext cx="2095500" cy="764381"/>
              <a:chOff x="571500" y="3962400"/>
              <a:chExt cx="2095500" cy="76438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71500" y="3962400"/>
                <a:ext cx="2095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762000">
                    <a:moveTo>
                      <a:pt x="57150" y="0"/>
                    </a:moveTo>
                    <a:lnTo>
                      <a:pt x="2038350" y="0"/>
                    </a:lnTo>
                    <a:cubicBezTo>
                      <a:pt x="2069913" y="0"/>
                      <a:pt x="2095500" y="25587"/>
                      <a:pt x="2095500" y="57150"/>
                    </a:cubicBezTo>
                    <a:lnTo>
                      <a:pt x="2095500" y="704850"/>
                    </a:lnTo>
                    <a:cubicBezTo>
                      <a:pt x="2095500" y="736413"/>
                      <a:pt x="2069913" y="762000"/>
                      <a:pt x="2038350" y="762000"/>
                    </a:cubicBezTo>
                    <a:lnTo>
                      <a:pt x="57150" y="762000"/>
                    </a:lnTo>
                    <a:cubicBezTo>
                      <a:pt x="25587" y="762000"/>
                      <a:pt x="0" y="736413"/>
                      <a:pt x="0" y="7048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FFA500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347168" y="4086225"/>
                <a:ext cx="54416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336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DB_A</a:t>
                </a:r>
                <a:endParaRPr lang="zh-CN" sz="15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69525" y="4381024"/>
                <a:ext cx="8994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A50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[ AI 处理中 ]</a:t>
                </a:r>
                <a:endParaRPr lang="zh-CN" sz="975" b="1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57525" y="4559141"/>
                <a:ext cx="112345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999999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V4-Flash inference</a:t>
                </a:r>
                <a:endPara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2857500" y="3962400"/>
              <a:ext cx="2095500" cy="764381"/>
              <a:chOff x="2857500" y="3962400"/>
              <a:chExt cx="2095500" cy="76438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2857500" y="3962400"/>
                <a:ext cx="2095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762000">
                    <a:moveTo>
                      <a:pt x="57150" y="0"/>
                    </a:moveTo>
                    <a:lnTo>
                      <a:pt x="2038350" y="0"/>
                    </a:lnTo>
                    <a:cubicBezTo>
                      <a:pt x="2069913" y="0"/>
                      <a:pt x="2095500" y="25587"/>
                      <a:pt x="2095500" y="57150"/>
                    </a:cubicBezTo>
                    <a:lnTo>
                      <a:pt x="2095500" y="704850"/>
                    </a:lnTo>
                    <a:cubicBezTo>
                      <a:pt x="2095500" y="736413"/>
                      <a:pt x="2069913" y="762000"/>
                      <a:pt x="2038350" y="762000"/>
                    </a:cubicBezTo>
                    <a:lnTo>
                      <a:pt x="57150" y="762000"/>
                    </a:lnTo>
                    <a:cubicBezTo>
                      <a:pt x="25587" y="762000"/>
                      <a:pt x="0" y="736413"/>
                      <a:pt x="0" y="7048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633168" y="4086225"/>
                <a:ext cx="54416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DB_B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541499" y="4381024"/>
                <a:ext cx="7275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[ 写入中 ]</a:t>
                </a:r>
                <a:endPara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451967" y="4559141"/>
                <a:ext cx="90656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E8F4F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writes / 400ms</a:t>
                </a:r>
                <a:endParaRPr lang="zh-CN" sz="825" dirty="0">
                  <a:solidFill>
                    <a:srgbClr val="E8F4F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sp>
          <p:nvSpPr>
            <p:cNvPr id="41" name="Line 41"/>
            <p:cNvSpPr/>
            <p:nvPr/>
          </p:nvSpPr>
          <p:spPr>
            <a:xfrm>
              <a:off x="571500" y="50292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71500" y="5143500"/>
              <a:ext cx="1505832" cy="588169"/>
              <a:chOff x="571500" y="5143500"/>
              <a:chExt cx="1505832" cy="58816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571500" y="51435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49618" y="5152549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333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写入</a:t>
                </a:r>
                <a:endPara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571500" y="53340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FFA500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49618" y="5343049"/>
                <a:ext cx="13277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333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 推理处理（锁外）</a:t>
                </a:r>
                <a:endPara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571500" y="55245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9050" y="0"/>
                    </a:move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114300"/>
                    </a:lnTo>
                    <a:cubicBezTo>
                      <a:pt x="133350" y="124821"/>
                      <a:pt x="124821" y="133350"/>
                      <a:pt x="1143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0D7E0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49618" y="5533549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333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空闲</a:t>
                </a:r>
                <a:endPara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3035618" y="5152549"/>
              <a:ext cx="1403984" cy="571976"/>
              <a:chOff x="3035618" y="5152549"/>
              <a:chExt cx="1403984" cy="571976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3035618" y="5152549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336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关键参数</a:t>
                </a:r>
                <a:endParaRPr lang="zh-CN" sz="975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036570" y="5351145"/>
                <a:ext cx="13767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FLIP_INTERVAL = 3.0 s</a:t>
                </a:r>
                <a:endParaRPr lang="zh-CN" sz="900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036570" y="5541645"/>
                <a:ext cx="14030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CRITICAL = O(1) 指针切</a:t>
                </a:r>
                <a:endParaRPr lang="zh-CN" sz="900" dirty="0">
                  <a:solidFill>
                    <a:srgbClr val="6666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5715000" y="1285875"/>
            <a:ext cx="6096000" cy="4886325"/>
            <a:chOff x="5715000" y="1285875"/>
            <a:chExt cx="6096000" cy="4886325"/>
          </a:xfrm>
        </p:grpSpPr>
        <p:sp>
          <p:nvSpPr>
            <p:cNvPr id="54" name="Freeform 54"/>
            <p:cNvSpPr/>
            <p:nvPr/>
          </p:nvSpPr>
          <p:spPr>
            <a:xfrm>
              <a:off x="5715000" y="1285875"/>
              <a:ext cx="6096000" cy="876300"/>
            </a:xfrm>
            <a:custGeom>
              <a:avLst/>
              <a:gdLst/>
              <a:ahLst/>
              <a:cxnLst/>
              <a:rect l="l" t="t" r="r" b="b"/>
              <a:pathLst>
                <a:path w="6096000" h="876300">
                  <a:moveTo>
                    <a:pt x="76200" y="0"/>
                  </a:moveTo>
                  <a:lnTo>
                    <a:pt x="6019800" y="0"/>
                  </a:lnTo>
                  <a:cubicBezTo>
                    <a:pt x="6061884" y="0"/>
                    <a:pt x="6096000" y="34116"/>
                    <a:pt x="6096000" y="76200"/>
                  </a:cubicBezTo>
                  <a:lnTo>
                    <a:pt x="6096000" y="800100"/>
                  </a:lnTo>
                  <a:cubicBezTo>
                    <a:pt x="6096000" y="842184"/>
                    <a:pt x="6061884" y="876300"/>
                    <a:pt x="6019800" y="876300"/>
                  </a:cubicBezTo>
                  <a:lnTo>
                    <a:pt x="76200" y="876300"/>
                  </a:lnTo>
                  <a:cubicBezTo>
                    <a:pt x="34116" y="876300"/>
                    <a:pt x="0" y="842184"/>
                    <a:pt x="0" y="8001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CC000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715000" y="1285875"/>
              <a:ext cx="57150" cy="8763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5886450" y="143827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133350"/>
                  </a:moveTo>
                  <a:cubicBezTo>
                    <a:pt x="266700" y="206998"/>
                    <a:pt x="206998" y="266700"/>
                    <a:pt x="133350" y="266700"/>
                  </a:cubicBezTo>
                  <a:cubicBezTo>
                    <a:pt x="59703" y="266700"/>
                    <a:pt x="0" y="206998"/>
                    <a:pt x="0" y="133350"/>
                  </a:cubicBezTo>
                  <a:cubicBezTo>
                    <a:pt x="0" y="59703"/>
                    <a:pt x="59703" y="0"/>
                    <a:pt x="133350" y="0"/>
                  </a:cubicBezTo>
                  <a:cubicBezTo>
                    <a:pt x="206998" y="0"/>
                    <a:pt x="266700" y="59703"/>
                    <a:pt x="266700" y="133350"/>
                  </a:cubicBezTo>
                  <a:close/>
                  <a:moveTo>
                    <a:pt x="116681" y="133350"/>
                  </a:moveTo>
                  <a:lnTo>
                    <a:pt x="100012" y="133350"/>
                  </a:lnTo>
                  <a:lnTo>
                    <a:pt x="100012" y="100012"/>
                  </a:lnTo>
                  <a:lnTo>
                    <a:pt x="150019" y="100012"/>
                  </a:lnTo>
                  <a:lnTo>
                    <a:pt x="150019" y="183356"/>
                  </a:lnTo>
                  <a:lnTo>
                    <a:pt x="166688" y="183356"/>
                  </a:lnTo>
                  <a:lnTo>
                    <a:pt x="166688" y="216694"/>
                  </a:lnTo>
                  <a:lnTo>
                    <a:pt x="116681" y="216694"/>
                  </a:lnTo>
                  <a:lnTo>
                    <a:pt x="116681" y="133350"/>
                  </a:lnTo>
                  <a:close/>
                  <a:moveTo>
                    <a:pt x="150019" y="83344"/>
                  </a:moveTo>
                  <a:lnTo>
                    <a:pt x="150019" y="50006"/>
                  </a:lnTo>
                  <a:lnTo>
                    <a:pt x="116681" y="50006"/>
                  </a:lnTo>
                  <a:lnTo>
                    <a:pt x="116681" y="83344"/>
                  </a:lnTo>
                  <a:lnTo>
                    <a:pt x="150019" y="83344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14110" y="1499235"/>
              <a:ext cx="23031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问题本质 / The Bottleneck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874068" y="1799749"/>
              <a:ext cx="29937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网关 400ms / 条 高频写入 vs L1 推理 秒级慢读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874068" y="1971199"/>
              <a:ext cx="34636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共享数据结构 → 写入被阻塞，或读取到不一致中间状态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Freeform 60"/>
            <p:cNvSpPr/>
            <p:nvPr/>
          </p:nvSpPr>
          <p:spPr>
            <a:xfrm>
              <a:off x="5715000" y="2286000"/>
              <a:ext cx="6096000" cy="933450"/>
            </a:xfrm>
            <a:custGeom>
              <a:avLst/>
              <a:gdLst/>
              <a:ahLst/>
              <a:cxnLst/>
              <a:rect l="l" t="t" r="r" b="b"/>
              <a:pathLst>
                <a:path w="6096000" h="933450">
                  <a:moveTo>
                    <a:pt x="76200" y="0"/>
                  </a:moveTo>
                  <a:lnTo>
                    <a:pt x="6019800" y="0"/>
                  </a:lnTo>
                  <a:cubicBezTo>
                    <a:pt x="6061884" y="0"/>
                    <a:pt x="6096000" y="34116"/>
                    <a:pt x="6096000" y="76200"/>
                  </a:cubicBezTo>
                  <a:lnTo>
                    <a:pt x="6096000" y="857250"/>
                  </a:lnTo>
                  <a:cubicBezTo>
                    <a:pt x="6096000" y="899334"/>
                    <a:pt x="6061884" y="933450"/>
                    <a:pt x="6019800" y="933450"/>
                  </a:cubicBezTo>
                  <a:lnTo>
                    <a:pt x="76200" y="933450"/>
                  </a:lnTo>
                  <a:cubicBezTo>
                    <a:pt x="34116" y="933450"/>
                    <a:pt x="0" y="899334"/>
                    <a:pt x="0" y="8572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15000" y="2286000"/>
              <a:ext cx="57150" cy="9334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5895975" y="2419350"/>
              <a:ext cx="304800" cy="3048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10887" y="25155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</a:t>
              </a:r>
              <a:endParaRPr lang="zh-CN" sz="10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18885" y="2489835"/>
              <a:ext cx="14750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写入阶段 / Write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874068" y="2790349"/>
              <a:ext cx="35918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新任务始终写入 active_write_db 指向的库（如 DB_A）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874068" y="2980849"/>
              <a:ext cx="2466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写入操作仅需短暂加锁 — 微秒级临界区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Freeform 67"/>
            <p:cNvSpPr/>
            <p:nvPr/>
          </p:nvSpPr>
          <p:spPr>
            <a:xfrm>
              <a:off x="5715000" y="3333750"/>
              <a:ext cx="6096000" cy="933450"/>
            </a:xfrm>
            <a:custGeom>
              <a:avLst/>
              <a:gdLst/>
              <a:ahLst/>
              <a:cxnLst/>
              <a:rect l="l" t="t" r="r" b="b"/>
              <a:pathLst>
                <a:path w="6096000" h="933450">
                  <a:moveTo>
                    <a:pt x="76200" y="0"/>
                  </a:moveTo>
                  <a:lnTo>
                    <a:pt x="6019800" y="0"/>
                  </a:lnTo>
                  <a:cubicBezTo>
                    <a:pt x="6061884" y="0"/>
                    <a:pt x="6096000" y="34116"/>
                    <a:pt x="6096000" y="76200"/>
                  </a:cubicBezTo>
                  <a:lnTo>
                    <a:pt x="6096000" y="857250"/>
                  </a:lnTo>
                  <a:cubicBezTo>
                    <a:pt x="6096000" y="899334"/>
                    <a:pt x="6061884" y="933450"/>
                    <a:pt x="6019800" y="933450"/>
                  </a:cubicBezTo>
                  <a:lnTo>
                    <a:pt x="76200" y="933450"/>
                  </a:lnTo>
                  <a:cubicBezTo>
                    <a:pt x="34116" y="933450"/>
                    <a:pt x="0" y="899334"/>
                    <a:pt x="0" y="8572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715000" y="3333750"/>
              <a:ext cx="57150" cy="9334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5895975" y="3467100"/>
              <a:ext cx="304800" cy="3048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90759" y="35633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</a:t>
              </a:r>
              <a:endParaRPr lang="zh-CN" sz="10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318885" y="3537585"/>
              <a:ext cx="14474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翻转阶段 / Flip ★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874068" y="3838099"/>
              <a:ext cx="36203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 3s 触发一次指针翻转：active_write_db = "A" → "B"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874068" y="4028599"/>
              <a:ext cx="34138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同时取出旧库（DB_A）积攒的全部任务 · O(1) 临界区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Freeform 74"/>
            <p:cNvSpPr/>
            <p:nvPr/>
          </p:nvSpPr>
          <p:spPr>
            <a:xfrm>
              <a:off x="5715000" y="4381500"/>
              <a:ext cx="6096000" cy="933450"/>
            </a:xfrm>
            <a:custGeom>
              <a:avLst/>
              <a:gdLst/>
              <a:ahLst/>
              <a:cxnLst/>
              <a:rect l="l" t="t" r="r" b="b"/>
              <a:pathLst>
                <a:path w="6096000" h="933450">
                  <a:moveTo>
                    <a:pt x="76200" y="0"/>
                  </a:moveTo>
                  <a:lnTo>
                    <a:pt x="6019800" y="0"/>
                  </a:lnTo>
                  <a:cubicBezTo>
                    <a:pt x="6061884" y="0"/>
                    <a:pt x="6096000" y="34116"/>
                    <a:pt x="6096000" y="76200"/>
                  </a:cubicBezTo>
                  <a:lnTo>
                    <a:pt x="6096000" y="857250"/>
                  </a:lnTo>
                  <a:cubicBezTo>
                    <a:pt x="6096000" y="899334"/>
                    <a:pt x="6061884" y="933450"/>
                    <a:pt x="6019800" y="933450"/>
                  </a:cubicBezTo>
                  <a:lnTo>
                    <a:pt x="76200" y="933450"/>
                  </a:lnTo>
                  <a:cubicBezTo>
                    <a:pt x="34116" y="933450"/>
                    <a:pt x="0" y="899334"/>
                    <a:pt x="0" y="8572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715000" y="4381500"/>
              <a:ext cx="57150" cy="933450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5895975" y="4514850"/>
              <a:ext cx="304800" cy="30480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990759" y="46110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</a:t>
              </a:r>
              <a:endParaRPr lang="zh-CN" sz="10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318885" y="4585335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处理阶段 / Process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874068" y="4885849"/>
              <a:ext cx="31860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在锁外对取出的任务逐条调 V4-Flash 进行 AI 推理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874068" y="5076349"/>
              <a:ext cx="28941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产出战术指令，下行回潜艇 · 与写入完全解耦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Freeform 81"/>
            <p:cNvSpPr/>
            <p:nvPr/>
          </p:nvSpPr>
          <p:spPr>
            <a:xfrm>
              <a:off x="5715000" y="5429250"/>
              <a:ext cx="6096000" cy="742950"/>
            </a:xfrm>
            <a:custGeom>
              <a:avLst/>
              <a:gdLst/>
              <a:ahLst/>
              <a:cxnLst/>
              <a:rect l="l" t="t" r="r" b="b"/>
              <a:pathLst>
                <a:path w="6096000" h="742950">
                  <a:moveTo>
                    <a:pt x="76200" y="0"/>
                  </a:moveTo>
                  <a:lnTo>
                    <a:pt x="6019800" y="0"/>
                  </a:lnTo>
                  <a:cubicBezTo>
                    <a:pt x="6061884" y="0"/>
                    <a:pt x="6096000" y="34116"/>
                    <a:pt x="6096000" y="76200"/>
                  </a:cubicBezTo>
                  <a:lnTo>
                    <a:pt x="6096000" y="666750"/>
                  </a:lnTo>
                  <a:cubicBezTo>
                    <a:pt x="6096000" y="708834"/>
                    <a:pt x="6061884" y="742950"/>
                    <a:pt x="6019800" y="742950"/>
                  </a:cubicBezTo>
                  <a:lnTo>
                    <a:pt x="76200" y="742950"/>
                  </a:lnTo>
                  <a:cubicBezTo>
                    <a:pt x="34116" y="742950"/>
                    <a:pt x="0" y="708834"/>
                    <a:pt x="0" y="666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5887727" y="5581650"/>
              <a:ext cx="245096" cy="233099"/>
            </a:xfrm>
            <a:custGeom>
              <a:avLst/>
              <a:gdLst/>
              <a:ahLst/>
              <a:cxnLst/>
              <a:rect l="l" t="t" r="r" b="b"/>
              <a:pathLst>
                <a:path w="245096" h="233099">
                  <a:moveTo>
                    <a:pt x="138026" y="0"/>
                  </a:moveTo>
                  <a:lnTo>
                    <a:pt x="107070" y="0"/>
                  </a:lnTo>
                  <a:lnTo>
                    <a:pt x="84052" y="70840"/>
                  </a:lnTo>
                  <a:lnTo>
                    <a:pt x="9566" y="70841"/>
                  </a:lnTo>
                  <a:lnTo>
                    <a:pt x="0" y="100282"/>
                  </a:lnTo>
                  <a:lnTo>
                    <a:pt x="60261" y="144064"/>
                  </a:lnTo>
                  <a:lnTo>
                    <a:pt x="37244" y="214903"/>
                  </a:lnTo>
                  <a:lnTo>
                    <a:pt x="62288" y="233099"/>
                  </a:lnTo>
                  <a:lnTo>
                    <a:pt x="122548" y="189318"/>
                  </a:lnTo>
                  <a:lnTo>
                    <a:pt x="182809" y="233099"/>
                  </a:lnTo>
                  <a:lnTo>
                    <a:pt x="207852" y="214903"/>
                  </a:lnTo>
                  <a:lnTo>
                    <a:pt x="184835" y="144063"/>
                  </a:lnTo>
                  <a:lnTo>
                    <a:pt x="245096" y="100282"/>
                  </a:lnTo>
                  <a:lnTo>
                    <a:pt x="235529" y="70840"/>
                  </a:lnTo>
                  <a:lnTo>
                    <a:pt x="161043" y="70840"/>
                  </a:lnTo>
                  <a:lnTo>
                    <a:pt x="138026" y="0"/>
                  </a:lnTo>
                  <a:close/>
                </a:path>
              </a:pathLst>
            </a:custGeom>
            <a:solidFill>
              <a:srgbClr val="FFA500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215062" y="5650706"/>
              <a:ext cx="2840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关键优势 — 真正读写分离 / 无锁并发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874068" y="5895499"/>
              <a:ext cx="30364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临界区极短，AI 推理在锁外，写入近乎不被阻塞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381000" y="6334125"/>
            <a:ext cx="11442382" cy="378619"/>
            <a:chOff x="381000" y="6334125"/>
            <a:chExt cx="11442382" cy="378619"/>
          </a:xfrm>
        </p:grpSpPr>
        <p:sp>
          <p:nvSpPr>
            <p:cNvPr id="86" name="Line 86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522643" y="6522720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III · 核心机制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392781" y="65146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51661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核心机制 / 模拟环境 ↔ 真实部署对照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30306" y="332899"/>
              <a:ext cx="9930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III · 2 / 4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75182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模拟的是规模与硬件，不模拟的是逻辑与算法 — 核心决策链路与真实部署完全一致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81000" y="1314450"/>
            <a:ext cx="11430000" cy="4533900"/>
            <a:chOff x="381000" y="1314450"/>
            <a:chExt cx="11430000" cy="4533900"/>
          </a:xfrm>
        </p:grpSpPr>
        <p:sp>
          <p:nvSpPr>
            <p:cNvPr id="12" name="Freeform 12"/>
            <p:cNvSpPr/>
            <p:nvPr/>
          </p:nvSpPr>
          <p:spPr>
            <a:xfrm>
              <a:off x="381000" y="1314450"/>
              <a:ext cx="11430000" cy="400050"/>
            </a:xfrm>
            <a:custGeom>
              <a:avLst/>
              <a:gdLst/>
              <a:ahLst/>
              <a:cxnLst/>
              <a:rect l="l" t="t" r="r" b="b"/>
              <a:pathLst>
                <a:path w="11430000" h="400050">
                  <a:moveTo>
                    <a:pt x="38100" y="0"/>
                  </a:moveTo>
                  <a:lnTo>
                    <a:pt x="11391900" y="0"/>
                  </a:lnTo>
                  <a:cubicBezTo>
                    <a:pt x="11412942" y="0"/>
                    <a:pt x="11430000" y="17058"/>
                    <a:pt x="11430000" y="38100"/>
                  </a:cubicBezTo>
                  <a:lnTo>
                    <a:pt x="11430000" y="361950"/>
                  </a:lnTo>
                  <a:cubicBezTo>
                    <a:pt x="11430000" y="382992"/>
                    <a:pt x="11412942" y="400050"/>
                    <a:pt x="11391900" y="400050"/>
                  </a:cubicBezTo>
                  <a:lnTo>
                    <a:pt x="38100" y="400050"/>
                  </a:lnTo>
                  <a:cubicBezTo>
                    <a:pt x="17058" y="400050"/>
                    <a:pt x="0" y="382992"/>
                    <a:pt x="0" y="3619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58165" y="145827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演示环境（本项目）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49165" y="14582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30165" y="1458278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真实部署（生产环境）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16415" y="145827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验证的核心能力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" y="1714500"/>
              <a:ext cx="11430000" cy="590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9118" y="1856899"/>
              <a:ext cx="1754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16 艘虚拟潜艇（内存对象）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1022" y="2063591"/>
              <a:ext cx="14788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in-memory dataclass × 16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31118" y="18568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物理潜艇集群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33022" y="2063591"/>
              <a:ext cx="17259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acoustic / hydrology sensors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9382125" y="1809750"/>
              <a:ext cx="2286000" cy="400050"/>
            </a:xfrm>
            <a:custGeom>
              <a:avLst/>
              <a:gdLst/>
              <a:ahLst/>
              <a:cxnLst/>
              <a:rect l="l" t="t" r="r" b="b"/>
              <a:pathLst>
                <a:path w="2286000" h="400050">
                  <a:moveTo>
                    <a:pt x="38100" y="0"/>
                  </a:moveTo>
                  <a:lnTo>
                    <a:pt x="2247900" y="0"/>
                  </a:lnTo>
                  <a:cubicBezTo>
                    <a:pt x="2268942" y="0"/>
                    <a:pt x="2286000" y="17058"/>
                    <a:pt x="2286000" y="38100"/>
                  </a:cubicBezTo>
                  <a:lnTo>
                    <a:pt x="2286000" y="361950"/>
                  </a:lnTo>
                  <a:cubicBezTo>
                    <a:pt x="2286000" y="382992"/>
                    <a:pt x="2268942" y="400050"/>
                    <a:pt x="2247900" y="400050"/>
                  </a:cubicBezTo>
                  <a:lnTo>
                    <a:pt x="38100" y="400050"/>
                  </a:lnTo>
                  <a:cubicBezTo>
                    <a:pt x="17058" y="400050"/>
                    <a:pt x="0" y="382992"/>
                    <a:pt x="0" y="3619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66CC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12618" y="1961674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66C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多源数据汇聚与路由分发</a:t>
              </a:r>
              <a:endParaRPr lang="zh-CN" sz="975" b="1" dirty="0">
                <a:solidFill>
                  <a:srgbClr val="0066C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81000" y="2305050"/>
              <a:ext cx="11430000" cy="590550"/>
            </a:xfrm>
            <a:prstGeom prst="rect">
              <a:avLst/>
            </a:pr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9118" y="2447449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 个 GPU 负载模拟器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022" y="2654141"/>
              <a:ext cx="14246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SpilloverMonitor + drift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31118" y="2447449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10× H100 物理 GPU 集群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33022" y="2654141"/>
              <a:ext cx="13644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DCGM telemetry · NVML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Freeform 29"/>
            <p:cNvSpPr/>
            <p:nvPr/>
          </p:nvSpPr>
          <p:spPr>
            <a:xfrm>
              <a:off x="9382125" y="2400300"/>
              <a:ext cx="2286000" cy="400050"/>
            </a:xfrm>
            <a:custGeom>
              <a:avLst/>
              <a:gdLst/>
              <a:ahLst/>
              <a:cxnLst/>
              <a:rect l="l" t="t" r="r" b="b"/>
              <a:pathLst>
                <a:path w="2286000" h="400050">
                  <a:moveTo>
                    <a:pt x="38100" y="0"/>
                  </a:moveTo>
                  <a:lnTo>
                    <a:pt x="2247900" y="0"/>
                  </a:lnTo>
                  <a:cubicBezTo>
                    <a:pt x="2268942" y="0"/>
                    <a:pt x="2286000" y="17058"/>
                    <a:pt x="2286000" y="38100"/>
                  </a:cubicBezTo>
                  <a:lnTo>
                    <a:pt x="2286000" y="361950"/>
                  </a:lnTo>
                  <a:cubicBezTo>
                    <a:pt x="2286000" y="382992"/>
                    <a:pt x="2268942" y="400050"/>
                    <a:pt x="2247900" y="400050"/>
                  </a:cubicBezTo>
                  <a:lnTo>
                    <a:pt x="38100" y="400050"/>
                  </a:lnTo>
                  <a:cubicBezTo>
                    <a:pt x="17058" y="400050"/>
                    <a:pt x="0" y="382992"/>
                    <a:pt x="0" y="3619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A500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12618" y="2552224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70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负载感知与弹性溢出保护</a:t>
              </a:r>
              <a:endParaRPr lang="zh-CN" sz="975" b="1" dirty="0">
                <a:solidFill>
                  <a:srgbClr val="D9770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" y="2895600"/>
              <a:ext cx="11430000" cy="590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9118" y="303799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内存字典 DB_A / DB_B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1022" y="3244691"/>
              <a:ext cx="15933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Python dict + asyncio.Lock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31118" y="3037999"/>
              <a:ext cx="9788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高性能 KV 存储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33022" y="3244691"/>
              <a:ext cx="10571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LevelDB · RocksDB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382125" y="2990850"/>
              <a:ext cx="2286000" cy="400050"/>
            </a:xfrm>
            <a:custGeom>
              <a:avLst/>
              <a:gdLst/>
              <a:ahLst/>
              <a:cxnLst/>
              <a:rect l="l" t="t" r="r" b="b"/>
              <a:pathLst>
                <a:path w="2286000" h="400050">
                  <a:moveTo>
                    <a:pt x="38100" y="0"/>
                  </a:moveTo>
                  <a:lnTo>
                    <a:pt x="2247900" y="0"/>
                  </a:lnTo>
                  <a:cubicBezTo>
                    <a:pt x="2268942" y="0"/>
                    <a:pt x="2286000" y="17058"/>
                    <a:pt x="2286000" y="38100"/>
                  </a:cubicBezTo>
                  <a:lnTo>
                    <a:pt x="2286000" y="361950"/>
                  </a:lnTo>
                  <a:cubicBezTo>
                    <a:pt x="2286000" y="382992"/>
                    <a:pt x="2268942" y="400050"/>
                    <a:pt x="2247900" y="400050"/>
                  </a:cubicBezTo>
                  <a:lnTo>
                    <a:pt x="38100" y="400050"/>
                  </a:lnTo>
                  <a:cubicBezTo>
                    <a:pt x="17058" y="400050"/>
                    <a:pt x="0" y="382992"/>
                    <a:pt x="0" y="3619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66CC">
                <a:alpha val="8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12618" y="3142774"/>
              <a:ext cx="1818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66C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双缓冲读写分离与指针翻转</a:t>
              </a:r>
              <a:endParaRPr lang="zh-CN" sz="975" b="1" dirty="0">
                <a:solidFill>
                  <a:srgbClr val="0066C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1000" y="3486150"/>
              <a:ext cx="11430000" cy="590550"/>
            </a:xfrm>
            <a:prstGeom prst="rect">
              <a:avLst/>
            </a:pr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59118" y="3628549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DeepSeek API 远程调用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1022" y="3835241"/>
              <a:ext cx="14487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openai-compatible HTTPS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31118" y="36285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本地部署的大模型推理服务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33022" y="3835241"/>
              <a:ext cx="12198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vLLM / TGI on Ascend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3" name="Freeform 43"/>
            <p:cNvSpPr/>
            <p:nvPr/>
          </p:nvSpPr>
          <p:spPr>
            <a:xfrm>
              <a:off x="9382125" y="3581400"/>
              <a:ext cx="2286000" cy="400050"/>
            </a:xfrm>
            <a:custGeom>
              <a:avLst/>
              <a:gdLst/>
              <a:ahLst/>
              <a:cxnLst/>
              <a:rect l="l" t="t" r="r" b="b"/>
              <a:pathLst>
                <a:path w="2286000" h="400050">
                  <a:moveTo>
                    <a:pt x="38100" y="0"/>
                  </a:moveTo>
                  <a:lnTo>
                    <a:pt x="2247900" y="0"/>
                  </a:lnTo>
                  <a:cubicBezTo>
                    <a:pt x="2268942" y="0"/>
                    <a:pt x="2286000" y="17058"/>
                    <a:pt x="2286000" y="38100"/>
                  </a:cubicBezTo>
                  <a:lnTo>
                    <a:pt x="2286000" y="361950"/>
                  </a:lnTo>
                  <a:cubicBezTo>
                    <a:pt x="2286000" y="382992"/>
                    <a:pt x="2268942" y="400050"/>
                    <a:pt x="2247900" y="400050"/>
                  </a:cubicBezTo>
                  <a:lnTo>
                    <a:pt x="38100" y="400050"/>
                  </a:lnTo>
                  <a:cubicBezTo>
                    <a:pt x="17058" y="400050"/>
                    <a:pt x="0" y="382992"/>
                    <a:pt x="0" y="3619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7A2B8">
                <a:alpha val="10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12618" y="3733324"/>
              <a:ext cx="15423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7A2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推理链路端到端集成</a:t>
              </a:r>
              <a:endParaRPr lang="zh-CN" sz="975" b="1" dirty="0">
                <a:solidFill>
                  <a:srgbClr val="17A2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81000" y="4076700"/>
              <a:ext cx="11430000" cy="590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59118" y="4219099"/>
              <a:ext cx="11924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单机 FastAPI 进程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1022" y="4425791"/>
              <a:ext cx="15572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uvicorn 1 worker · asyncio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131118" y="42190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分布式微服务集群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133022" y="4425791"/>
              <a:ext cx="14186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k8s pods · service mesh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0" name="Freeform 50"/>
            <p:cNvSpPr/>
            <p:nvPr/>
          </p:nvSpPr>
          <p:spPr>
            <a:xfrm>
              <a:off x="9382125" y="4171950"/>
              <a:ext cx="2286000" cy="400050"/>
            </a:xfrm>
            <a:custGeom>
              <a:avLst/>
              <a:gdLst/>
              <a:ahLst/>
              <a:cxnLst/>
              <a:rect l="l" t="t" r="r" b="b"/>
              <a:pathLst>
                <a:path w="2286000" h="400050">
                  <a:moveTo>
                    <a:pt x="38100" y="0"/>
                  </a:moveTo>
                  <a:lnTo>
                    <a:pt x="2247900" y="0"/>
                  </a:lnTo>
                  <a:cubicBezTo>
                    <a:pt x="2268942" y="0"/>
                    <a:pt x="2286000" y="17058"/>
                    <a:pt x="2286000" y="38100"/>
                  </a:cubicBezTo>
                  <a:lnTo>
                    <a:pt x="2286000" y="361950"/>
                  </a:lnTo>
                  <a:cubicBezTo>
                    <a:pt x="2286000" y="382992"/>
                    <a:pt x="2268942" y="400050"/>
                    <a:pt x="2247900" y="400050"/>
                  </a:cubicBezTo>
                  <a:lnTo>
                    <a:pt x="38100" y="400050"/>
                  </a:lnTo>
                  <a:cubicBezTo>
                    <a:pt x="17058" y="400050"/>
                    <a:pt x="0" y="382992"/>
                    <a:pt x="0" y="3619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66CC">
                <a:alpha val="8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512618" y="4323874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66C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异步管道与组件间解耦</a:t>
              </a:r>
              <a:endParaRPr lang="zh-CN" sz="975" b="1" dirty="0">
                <a:solidFill>
                  <a:srgbClr val="0066C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81000" y="4667250"/>
              <a:ext cx="11430000" cy="590550"/>
            </a:xfrm>
            <a:prstGeom prst="rect">
              <a:avLst/>
            </a:pr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59118" y="4809649"/>
              <a:ext cx="13419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400ms 数据生成间隔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1022" y="5016341"/>
              <a:ext cx="14849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data_generator throttle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131118" y="48096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毫秒级高并发数据流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133022" y="5016341"/>
              <a:ext cx="10632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≥ 10 K req/s burst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Freeform 57"/>
            <p:cNvSpPr/>
            <p:nvPr/>
          </p:nvSpPr>
          <p:spPr>
            <a:xfrm>
              <a:off x="9382125" y="4762500"/>
              <a:ext cx="2286000" cy="400050"/>
            </a:xfrm>
            <a:custGeom>
              <a:avLst/>
              <a:gdLst/>
              <a:ahLst/>
              <a:cxnLst/>
              <a:rect l="l" t="t" r="r" b="b"/>
              <a:pathLst>
                <a:path w="2286000" h="400050">
                  <a:moveTo>
                    <a:pt x="38100" y="0"/>
                  </a:moveTo>
                  <a:lnTo>
                    <a:pt x="2247900" y="0"/>
                  </a:lnTo>
                  <a:cubicBezTo>
                    <a:pt x="2268942" y="0"/>
                    <a:pt x="2286000" y="17058"/>
                    <a:pt x="2286000" y="38100"/>
                  </a:cubicBezTo>
                  <a:lnTo>
                    <a:pt x="2286000" y="361950"/>
                  </a:lnTo>
                  <a:cubicBezTo>
                    <a:pt x="2286000" y="382992"/>
                    <a:pt x="2268942" y="400050"/>
                    <a:pt x="2247900" y="400050"/>
                  </a:cubicBezTo>
                  <a:lnTo>
                    <a:pt x="38100" y="400050"/>
                  </a:lnTo>
                  <a:cubicBezTo>
                    <a:pt x="17058" y="400050"/>
                    <a:pt x="0" y="382992"/>
                    <a:pt x="0" y="3619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66CC">
                <a:alpha val="8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512618" y="4914424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66C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路由决策逻辑的正确性</a:t>
              </a:r>
              <a:endParaRPr lang="zh-CN" sz="975" b="1" dirty="0">
                <a:solidFill>
                  <a:srgbClr val="0066C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81000" y="5257800"/>
              <a:ext cx="11430000" cy="590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59118" y="5400199"/>
              <a:ext cx="1714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C00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/api/spike 手动触发过载</a:t>
              </a:r>
              <a:endParaRPr lang="zh-CN" sz="975" b="1" dirty="0">
                <a:solidFill>
                  <a:srgbClr val="CC00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1022" y="5606891"/>
              <a:ext cx="13885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curl -X POST /api/spike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131118" y="54001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真实突发流量洪峰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133022" y="5606891"/>
              <a:ext cx="12861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unexpected ops surge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4" name="Freeform 64"/>
            <p:cNvSpPr/>
            <p:nvPr/>
          </p:nvSpPr>
          <p:spPr>
            <a:xfrm>
              <a:off x="9382125" y="5353050"/>
              <a:ext cx="2286000" cy="400050"/>
            </a:xfrm>
            <a:custGeom>
              <a:avLst/>
              <a:gdLst/>
              <a:ahLst/>
              <a:cxnLst/>
              <a:rect l="l" t="t" r="r" b="b"/>
              <a:pathLst>
                <a:path w="2286000" h="400050">
                  <a:moveTo>
                    <a:pt x="38100" y="0"/>
                  </a:moveTo>
                  <a:lnTo>
                    <a:pt x="2247900" y="0"/>
                  </a:lnTo>
                  <a:cubicBezTo>
                    <a:pt x="2268942" y="0"/>
                    <a:pt x="2286000" y="17058"/>
                    <a:pt x="2286000" y="38100"/>
                  </a:cubicBezTo>
                  <a:lnTo>
                    <a:pt x="2286000" y="361950"/>
                  </a:lnTo>
                  <a:cubicBezTo>
                    <a:pt x="2286000" y="382992"/>
                    <a:pt x="2268942" y="400050"/>
                    <a:pt x="2247900" y="400050"/>
                  </a:cubicBezTo>
                  <a:lnTo>
                    <a:pt x="38100" y="400050"/>
                  </a:lnTo>
                  <a:cubicBezTo>
                    <a:pt x="17058" y="400050"/>
                    <a:pt x="0" y="382992"/>
                    <a:pt x="0" y="3619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CC0000">
                <a:alpha val="10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512618" y="5504974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C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溢出保护机制触发与恢复</a:t>
              </a:r>
              <a:endParaRPr lang="zh-CN" sz="975" b="1" dirty="0">
                <a:solidFill>
                  <a:srgbClr val="CC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81000" y="5943600"/>
            <a:ext cx="11430000" cy="304800"/>
            <a:chOff x="381000" y="5943600"/>
            <a:chExt cx="11430000" cy="304800"/>
          </a:xfrm>
        </p:grpSpPr>
        <p:sp>
          <p:nvSpPr>
            <p:cNvPr id="67" name="Freeform 67"/>
            <p:cNvSpPr/>
            <p:nvPr/>
          </p:nvSpPr>
          <p:spPr>
            <a:xfrm>
              <a:off x="381000" y="5943600"/>
              <a:ext cx="11430000" cy="304800"/>
            </a:xfrm>
            <a:custGeom>
              <a:avLst/>
              <a:gdLst/>
              <a:ahLst/>
              <a:cxnLst/>
              <a:rect l="l" t="t" r="r" b="b"/>
              <a:pathLst>
                <a:path w="11430000" h="304800">
                  <a:moveTo>
                    <a:pt x="38100" y="0"/>
                  </a:moveTo>
                  <a:lnTo>
                    <a:pt x="11391900" y="0"/>
                  </a:lnTo>
                  <a:cubicBezTo>
                    <a:pt x="11412942" y="0"/>
                    <a:pt x="11430000" y="17058"/>
                    <a:pt x="11430000" y="38100"/>
                  </a:cubicBezTo>
                  <a:lnTo>
                    <a:pt x="11430000" y="266700"/>
                  </a:lnTo>
                  <a:cubicBezTo>
                    <a:pt x="11430000" y="287742"/>
                    <a:pt x="11412942" y="304800"/>
                    <a:pt x="11391900" y="304800"/>
                  </a:cubicBezTo>
                  <a:lnTo>
                    <a:pt x="38100" y="304800"/>
                  </a:lnTo>
                  <a:cubicBezTo>
                    <a:pt x="17058" y="304800"/>
                    <a:pt x="0" y="287742"/>
                    <a:pt x="0" y="266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59118" y="6038374"/>
              <a:ext cx="899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★ 核心原则：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606868" y="6038374"/>
              <a:ext cx="62547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三级路由 / MLP 训练推理 / 双缓冲翻转 / 溢出判定 — 这些核心逻辑在演示环境与真实部署完全一致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81000" y="6334125"/>
            <a:ext cx="11442382" cy="378619"/>
            <a:chOff x="381000" y="6334125"/>
            <a:chExt cx="11442382" cy="378619"/>
          </a:xfrm>
        </p:grpSpPr>
        <p:sp>
          <p:nvSpPr>
            <p:cNvPr id="71" name="Line 71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522643" y="6522720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III · 核心机制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357181" y="6514624"/>
              <a:ext cx="466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484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核心机制 / 实时通信与多视角观测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30306" y="332899"/>
              <a:ext cx="9930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III · 3 / 4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79012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 WebSocket 通道 + 16 艘潜艇独立日志 — 让分布式系统的"内部状态"被 30 秒内看懂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1285875"/>
            <a:ext cx="6858000" cy="3429000"/>
            <a:chOff x="381000" y="1285875"/>
            <a:chExt cx="6858000" cy="3429000"/>
          </a:xfrm>
        </p:grpSpPr>
        <p:sp>
          <p:nvSpPr>
            <p:cNvPr id="12" name="Freeform 12"/>
            <p:cNvSpPr/>
            <p:nvPr/>
          </p:nvSpPr>
          <p:spPr>
            <a:xfrm>
              <a:off x="381000" y="1285875"/>
              <a:ext cx="6858000" cy="3429000"/>
            </a:xfrm>
            <a:custGeom>
              <a:avLst/>
              <a:gdLst/>
              <a:ahLst/>
              <a:cxnLst/>
              <a:rect l="l" t="t" r="r" b="b"/>
              <a:pathLst>
                <a:path w="6858000" h="3429000">
                  <a:moveTo>
                    <a:pt x="57150" y="0"/>
                  </a:moveTo>
                  <a:lnTo>
                    <a:pt x="6800850" y="0"/>
                  </a:lnTo>
                  <a:cubicBezTo>
                    <a:pt x="6832413" y="0"/>
                    <a:pt x="6858000" y="25587"/>
                    <a:pt x="6858000" y="57150"/>
                  </a:cubicBezTo>
                  <a:lnTo>
                    <a:pt x="6858000" y="3371850"/>
                  </a:lnTo>
                  <a:cubicBezTo>
                    <a:pt x="6858000" y="3403413"/>
                    <a:pt x="6832413" y="3429000"/>
                    <a:pt x="6800850" y="3429000"/>
                  </a:cubicBezTo>
                  <a:lnTo>
                    <a:pt x="57150" y="3429000"/>
                  </a:lnTo>
                  <a:cubicBezTo>
                    <a:pt x="25587" y="3429000"/>
                    <a:pt x="0" y="3403413"/>
                    <a:pt x="0" y="3371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0050" y="1304925"/>
              <a:ext cx="6819900" cy="3390900"/>
            </a:xfrm>
            <a:prstGeom prst="rect">
              <a:avLst/>
            </a:prstGeom>
          </p:spPr>
        </p:pic>
        <p:sp>
          <p:nvSpPr>
            <p:cNvPr id="14" name="Freeform 14"/>
            <p:cNvSpPr/>
            <p:nvPr/>
          </p:nvSpPr>
          <p:spPr>
            <a:xfrm>
              <a:off x="523875" y="1409700"/>
              <a:ext cx="1905000" cy="266700"/>
            </a:xfrm>
            <a:custGeom>
              <a:avLst/>
              <a:gdLst/>
              <a:ahLst/>
              <a:cxnLst/>
              <a:rect l="l" t="t" r="r" b="b"/>
              <a:pathLst>
                <a:path w="1905000" h="266700">
                  <a:moveTo>
                    <a:pt x="28575" y="0"/>
                  </a:moveTo>
                  <a:lnTo>
                    <a:pt x="1876425" y="0"/>
                  </a:lnTo>
                  <a:cubicBezTo>
                    <a:pt x="1892207" y="0"/>
                    <a:pt x="1905000" y="12793"/>
                    <a:pt x="1905000" y="28575"/>
                  </a:cubicBezTo>
                  <a:lnTo>
                    <a:pt x="1905000" y="238125"/>
                  </a:lnTo>
                  <a:cubicBezTo>
                    <a:pt x="1905000" y="253907"/>
                    <a:pt x="1892207" y="266700"/>
                    <a:pt x="1876425" y="266700"/>
                  </a:cubicBezTo>
                  <a:lnTo>
                    <a:pt x="28575" y="266700"/>
                  </a:lnTo>
                  <a:cubicBezTo>
                    <a:pt x="12793" y="266700"/>
                    <a:pt x="0" y="253907"/>
                    <a:pt x="0" y="2381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7833" y="1493520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/center · 超算中心全局大屏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29500" y="1285875"/>
            <a:ext cx="4381500" cy="3429000"/>
            <a:chOff x="7429500" y="1285875"/>
            <a:chExt cx="4381500" cy="3429000"/>
          </a:xfrm>
        </p:grpSpPr>
        <p:sp>
          <p:nvSpPr>
            <p:cNvPr id="17" name="Freeform 17"/>
            <p:cNvSpPr/>
            <p:nvPr/>
          </p:nvSpPr>
          <p:spPr>
            <a:xfrm>
              <a:off x="7429500" y="1285875"/>
              <a:ext cx="4381500" cy="3429000"/>
            </a:xfrm>
            <a:custGeom>
              <a:avLst/>
              <a:gdLst/>
              <a:ahLst/>
              <a:cxnLst/>
              <a:rect l="l" t="t" r="r" b="b"/>
              <a:pathLst>
                <a:path w="4381500" h="3429000">
                  <a:moveTo>
                    <a:pt x="57150" y="0"/>
                  </a:moveTo>
                  <a:lnTo>
                    <a:pt x="4324350" y="0"/>
                  </a:lnTo>
                  <a:cubicBezTo>
                    <a:pt x="4355913" y="0"/>
                    <a:pt x="4381500" y="25587"/>
                    <a:pt x="4381500" y="57150"/>
                  </a:cubicBezTo>
                  <a:lnTo>
                    <a:pt x="4381500" y="3371850"/>
                  </a:lnTo>
                  <a:cubicBezTo>
                    <a:pt x="4381500" y="3403413"/>
                    <a:pt x="4355913" y="3429000"/>
                    <a:pt x="4324350" y="3429000"/>
                  </a:cubicBezTo>
                  <a:lnTo>
                    <a:pt x="57150" y="3429000"/>
                  </a:lnTo>
                  <a:cubicBezTo>
                    <a:pt x="25587" y="3429000"/>
                    <a:pt x="0" y="3403413"/>
                    <a:pt x="0" y="3371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48550" y="1304925"/>
              <a:ext cx="4343400" cy="3390900"/>
            </a:xfrm>
            <a:prstGeom prst="rect">
              <a:avLst/>
            </a:prstGeom>
          </p:spPr>
        </p:pic>
        <p:sp>
          <p:nvSpPr>
            <p:cNvPr id="19" name="Freeform 19"/>
            <p:cNvSpPr/>
            <p:nvPr/>
          </p:nvSpPr>
          <p:spPr>
            <a:xfrm>
              <a:off x="7553325" y="1409700"/>
              <a:ext cx="1905000" cy="266700"/>
            </a:xfrm>
            <a:custGeom>
              <a:avLst/>
              <a:gdLst/>
              <a:ahLst/>
              <a:cxnLst/>
              <a:rect l="l" t="t" r="r" b="b"/>
              <a:pathLst>
                <a:path w="1905000" h="266700">
                  <a:moveTo>
                    <a:pt x="28575" y="0"/>
                  </a:moveTo>
                  <a:lnTo>
                    <a:pt x="1876425" y="0"/>
                  </a:lnTo>
                  <a:cubicBezTo>
                    <a:pt x="1892207" y="0"/>
                    <a:pt x="1905000" y="12793"/>
                    <a:pt x="1905000" y="28575"/>
                  </a:cubicBezTo>
                  <a:lnTo>
                    <a:pt x="1905000" y="238125"/>
                  </a:lnTo>
                  <a:cubicBezTo>
                    <a:pt x="1905000" y="253907"/>
                    <a:pt x="1892207" y="266700"/>
                    <a:pt x="1876425" y="266700"/>
                  </a:cubicBezTo>
                  <a:lnTo>
                    <a:pt x="28575" y="266700"/>
                  </a:lnTo>
                  <a:cubicBezTo>
                    <a:pt x="12793" y="266700"/>
                    <a:pt x="0" y="253907"/>
                    <a:pt x="0" y="2381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35300" y="1493520"/>
              <a:ext cx="1541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SUB-xxx · 独立日志弹窗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1000" y="4857750"/>
            <a:ext cx="3714750" cy="1333500"/>
            <a:chOff x="381000" y="4857750"/>
            <a:chExt cx="3714750" cy="1333500"/>
          </a:xfrm>
        </p:grpSpPr>
        <p:sp>
          <p:nvSpPr>
            <p:cNvPr id="22" name="Freeform 22"/>
            <p:cNvSpPr/>
            <p:nvPr/>
          </p:nvSpPr>
          <p:spPr>
            <a:xfrm>
              <a:off x="381000" y="4857750"/>
              <a:ext cx="3714750" cy="1333500"/>
            </a:xfrm>
            <a:custGeom>
              <a:avLst/>
              <a:gdLst/>
              <a:ahLst/>
              <a:cxnLst/>
              <a:rect l="l" t="t" r="r" b="b"/>
              <a:pathLst>
                <a:path w="3714750" h="1333500">
                  <a:moveTo>
                    <a:pt x="57150" y="0"/>
                  </a:moveTo>
                  <a:lnTo>
                    <a:pt x="3657600" y="0"/>
                  </a:lnTo>
                  <a:cubicBezTo>
                    <a:pt x="3689163" y="0"/>
                    <a:pt x="3714750" y="25587"/>
                    <a:pt x="3714750" y="57150"/>
                  </a:cubicBezTo>
                  <a:lnTo>
                    <a:pt x="3714750" y="1276350"/>
                  </a:lnTo>
                  <a:cubicBezTo>
                    <a:pt x="3714750" y="1307913"/>
                    <a:pt x="3689163" y="1333500"/>
                    <a:pt x="3657600" y="1333500"/>
                  </a:cubicBezTo>
                  <a:lnTo>
                    <a:pt x="57150" y="1333500"/>
                  </a:lnTo>
                  <a:cubicBezTo>
                    <a:pt x="25587" y="1333500"/>
                    <a:pt x="0" y="1307913"/>
                    <a:pt x="0" y="1276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1000" y="4857750"/>
              <a:ext cx="57150" cy="13335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35794" y="5017294"/>
              <a:ext cx="233362" cy="233362"/>
              <a:chOff x="635794" y="5017294"/>
              <a:chExt cx="233362" cy="23336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35794" y="5017294"/>
                <a:ext cx="233362" cy="146084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46084">
                    <a:moveTo>
                      <a:pt x="233362" y="0"/>
                    </a:moveTo>
                    <a:lnTo>
                      <a:pt x="0" y="0"/>
                    </a:lnTo>
                    <a:lnTo>
                      <a:pt x="0" y="100012"/>
                    </a:lnTo>
                    <a:lnTo>
                      <a:pt x="39704" y="100012"/>
                    </a:lnTo>
                    <a:lnTo>
                      <a:pt x="64707" y="50006"/>
                    </a:lnTo>
                    <a:lnTo>
                      <a:pt x="101980" y="50006"/>
                    </a:lnTo>
                    <a:lnTo>
                      <a:pt x="150019" y="146084"/>
                    </a:lnTo>
                    <a:lnTo>
                      <a:pt x="173055" y="100012"/>
                    </a:lnTo>
                    <a:lnTo>
                      <a:pt x="233362" y="100012"/>
                    </a:lnTo>
                    <a:lnTo>
                      <a:pt x="233362" y="0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35794" y="5104572"/>
                <a:ext cx="233362" cy="146084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46084">
                    <a:moveTo>
                      <a:pt x="233362" y="46071"/>
                    </a:moveTo>
                    <a:lnTo>
                      <a:pt x="193658" y="46071"/>
                    </a:lnTo>
                    <a:lnTo>
                      <a:pt x="168654" y="96078"/>
                    </a:lnTo>
                    <a:lnTo>
                      <a:pt x="131383" y="96078"/>
                    </a:lnTo>
                    <a:lnTo>
                      <a:pt x="83344" y="0"/>
                    </a:lnTo>
                    <a:lnTo>
                      <a:pt x="60308" y="46071"/>
                    </a:lnTo>
                    <a:lnTo>
                      <a:pt x="0" y="46071"/>
                    </a:lnTo>
                    <a:lnTo>
                      <a:pt x="0" y="146084"/>
                    </a:lnTo>
                    <a:lnTo>
                      <a:pt x="233362" y="146084"/>
                    </a:lnTo>
                    <a:lnTo>
                      <a:pt x="233362" y="46071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984885" y="50615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/ws/center 通道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9648" y="5273516"/>
              <a:ext cx="10993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CENTER WEBSOCKET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571500" y="54768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59118" y="559069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推送内容：路由统计 + 事件流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9118" y="5781199"/>
              <a:ext cx="12807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频率：400 ms / 帧</a:t>
              </a:r>
              <a:endParaRPr lang="zh-CN" sz="975" b="1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9118" y="5971699"/>
              <a:ext cx="21963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服务于：超算中心大屏 (/center)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238625" y="4857750"/>
            <a:ext cx="3714750" cy="1333500"/>
            <a:chOff x="4238625" y="4857750"/>
            <a:chExt cx="3714750" cy="1333500"/>
          </a:xfrm>
        </p:grpSpPr>
        <p:sp>
          <p:nvSpPr>
            <p:cNvPr id="34" name="Freeform 34"/>
            <p:cNvSpPr/>
            <p:nvPr/>
          </p:nvSpPr>
          <p:spPr>
            <a:xfrm>
              <a:off x="4238625" y="4857750"/>
              <a:ext cx="3714750" cy="1333500"/>
            </a:xfrm>
            <a:custGeom>
              <a:avLst/>
              <a:gdLst/>
              <a:ahLst/>
              <a:cxnLst/>
              <a:rect l="l" t="t" r="r" b="b"/>
              <a:pathLst>
                <a:path w="3714750" h="1333500">
                  <a:moveTo>
                    <a:pt x="57150" y="0"/>
                  </a:moveTo>
                  <a:lnTo>
                    <a:pt x="3657600" y="0"/>
                  </a:lnTo>
                  <a:cubicBezTo>
                    <a:pt x="3689163" y="0"/>
                    <a:pt x="3714750" y="25587"/>
                    <a:pt x="3714750" y="57150"/>
                  </a:cubicBezTo>
                  <a:lnTo>
                    <a:pt x="3714750" y="1276350"/>
                  </a:lnTo>
                  <a:cubicBezTo>
                    <a:pt x="3714750" y="1307913"/>
                    <a:pt x="3689163" y="1333500"/>
                    <a:pt x="3657600" y="1333500"/>
                  </a:cubicBezTo>
                  <a:lnTo>
                    <a:pt x="57150" y="1333500"/>
                  </a:lnTo>
                  <a:cubicBezTo>
                    <a:pt x="25587" y="1333500"/>
                    <a:pt x="0" y="1307913"/>
                    <a:pt x="0" y="1276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238625" y="4857750"/>
              <a:ext cx="57150" cy="1333500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476750" y="5000625"/>
              <a:ext cx="266700" cy="266700"/>
              <a:chOff x="4476750" y="5000625"/>
              <a:chExt cx="266700" cy="2667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576762" y="51006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0" y="0"/>
                    </a:ln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FFA50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476750" y="5000625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50006" y="33338"/>
                    </a:moveTo>
                    <a:lnTo>
                      <a:pt x="50006" y="0"/>
                    </a:lnTo>
                    <a:lnTo>
                      <a:pt x="83344" y="0"/>
                    </a:lnTo>
                    <a:lnTo>
                      <a:pt x="83344" y="33338"/>
                    </a:lnTo>
                    <a:lnTo>
                      <a:pt x="116681" y="33338"/>
                    </a:lnTo>
                    <a:lnTo>
                      <a:pt x="116681" y="0"/>
                    </a:lnTo>
                    <a:lnTo>
                      <a:pt x="150019" y="0"/>
                    </a:lnTo>
                    <a:lnTo>
                      <a:pt x="150019" y="33338"/>
                    </a:lnTo>
                    <a:lnTo>
                      <a:pt x="183356" y="33338"/>
                    </a:lnTo>
                    <a:lnTo>
                      <a:pt x="183356" y="0"/>
                    </a:lnTo>
                    <a:lnTo>
                      <a:pt x="216694" y="0"/>
                    </a:lnTo>
                    <a:lnTo>
                      <a:pt x="216694" y="33338"/>
                    </a:lnTo>
                    <a:lnTo>
                      <a:pt x="233362" y="33338"/>
                    </a:lnTo>
                    <a:lnTo>
                      <a:pt x="233362" y="50006"/>
                    </a:lnTo>
                    <a:lnTo>
                      <a:pt x="266700" y="50006"/>
                    </a:lnTo>
                    <a:lnTo>
                      <a:pt x="266700" y="83344"/>
                    </a:lnTo>
                    <a:lnTo>
                      <a:pt x="233362" y="83344"/>
                    </a:lnTo>
                    <a:lnTo>
                      <a:pt x="233362" y="116681"/>
                    </a:lnTo>
                    <a:lnTo>
                      <a:pt x="266700" y="116681"/>
                    </a:lnTo>
                    <a:lnTo>
                      <a:pt x="266700" y="150019"/>
                    </a:lnTo>
                    <a:lnTo>
                      <a:pt x="233362" y="150019"/>
                    </a:lnTo>
                    <a:lnTo>
                      <a:pt x="233362" y="183356"/>
                    </a:lnTo>
                    <a:lnTo>
                      <a:pt x="266700" y="183356"/>
                    </a:lnTo>
                    <a:lnTo>
                      <a:pt x="266700" y="216694"/>
                    </a:lnTo>
                    <a:lnTo>
                      <a:pt x="233362" y="216694"/>
                    </a:lnTo>
                    <a:lnTo>
                      <a:pt x="233362" y="233362"/>
                    </a:lnTo>
                    <a:lnTo>
                      <a:pt x="216694" y="233362"/>
                    </a:lnTo>
                    <a:lnTo>
                      <a:pt x="216694" y="266700"/>
                    </a:lnTo>
                    <a:lnTo>
                      <a:pt x="183356" y="266700"/>
                    </a:lnTo>
                    <a:lnTo>
                      <a:pt x="183356" y="233362"/>
                    </a:lnTo>
                    <a:lnTo>
                      <a:pt x="150019" y="233362"/>
                    </a:lnTo>
                    <a:lnTo>
                      <a:pt x="150019" y="266700"/>
                    </a:lnTo>
                    <a:lnTo>
                      <a:pt x="116681" y="266700"/>
                    </a:lnTo>
                    <a:lnTo>
                      <a:pt x="116681" y="233362"/>
                    </a:lnTo>
                    <a:lnTo>
                      <a:pt x="83344" y="233362"/>
                    </a:lnTo>
                    <a:lnTo>
                      <a:pt x="83344" y="266700"/>
                    </a:lnTo>
                    <a:lnTo>
                      <a:pt x="50006" y="266700"/>
                    </a:lnTo>
                    <a:lnTo>
                      <a:pt x="50006" y="233362"/>
                    </a:lnTo>
                    <a:lnTo>
                      <a:pt x="33338" y="233362"/>
                    </a:lnTo>
                    <a:lnTo>
                      <a:pt x="33338" y="216694"/>
                    </a:lnTo>
                    <a:lnTo>
                      <a:pt x="0" y="216694"/>
                    </a:lnTo>
                    <a:lnTo>
                      <a:pt x="0" y="183356"/>
                    </a:lnTo>
                    <a:lnTo>
                      <a:pt x="33338" y="183356"/>
                    </a:lnTo>
                    <a:lnTo>
                      <a:pt x="33338" y="150019"/>
                    </a:lnTo>
                    <a:lnTo>
                      <a:pt x="0" y="150019"/>
                    </a:lnTo>
                    <a:lnTo>
                      <a:pt x="0" y="116681"/>
                    </a:lnTo>
                    <a:lnTo>
                      <a:pt x="33338" y="116681"/>
                    </a:lnTo>
                    <a:lnTo>
                      <a:pt x="33338" y="83344"/>
                    </a:lnTo>
                    <a:lnTo>
                      <a:pt x="0" y="83344"/>
                    </a:lnTo>
                    <a:lnTo>
                      <a:pt x="0" y="50006"/>
                    </a:lnTo>
                    <a:lnTo>
                      <a:pt x="33338" y="50006"/>
                    </a:lnTo>
                    <a:lnTo>
                      <a:pt x="33338" y="33338"/>
                    </a:lnTo>
                    <a:lnTo>
                      <a:pt x="50006" y="33338"/>
                    </a:lnTo>
                    <a:close/>
                    <a:moveTo>
                      <a:pt x="66675" y="66675"/>
                    </a:moveTo>
                    <a:lnTo>
                      <a:pt x="66675" y="200025"/>
                    </a:lnTo>
                    <a:lnTo>
                      <a:pt x="200025" y="200025"/>
                    </a:lnTo>
                    <a:lnTo>
                      <a:pt x="200025" y="66675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FFA500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4842510" y="5061585"/>
              <a:ext cx="13002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/ws/node 通道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47272" y="5273516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EDGE NODE WEBSOCKET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4429125" y="54768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16742" y="5590699"/>
              <a:ext cx="2174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推送内容：GPU 遥测 + 双缓冲状态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16742" y="5781199"/>
              <a:ext cx="12807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频率：500 ms / 帧</a:t>
              </a:r>
              <a:endParaRPr lang="zh-CN" sz="975" b="1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16742" y="597169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服务于：边缘节点视图 (/node)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96250" y="4857750"/>
            <a:ext cx="3714750" cy="1333500"/>
            <a:chOff x="8096250" y="4857750"/>
            <a:chExt cx="3714750" cy="1333500"/>
          </a:xfrm>
        </p:grpSpPr>
        <p:sp>
          <p:nvSpPr>
            <p:cNvPr id="46" name="Freeform 46"/>
            <p:cNvSpPr/>
            <p:nvPr/>
          </p:nvSpPr>
          <p:spPr>
            <a:xfrm>
              <a:off x="8096250" y="4857750"/>
              <a:ext cx="3714750" cy="1333500"/>
            </a:xfrm>
            <a:custGeom>
              <a:avLst/>
              <a:gdLst/>
              <a:ahLst/>
              <a:cxnLst/>
              <a:rect l="l" t="t" r="r" b="b"/>
              <a:pathLst>
                <a:path w="3714750" h="1333500">
                  <a:moveTo>
                    <a:pt x="57150" y="0"/>
                  </a:moveTo>
                  <a:lnTo>
                    <a:pt x="3657600" y="0"/>
                  </a:lnTo>
                  <a:cubicBezTo>
                    <a:pt x="3689163" y="0"/>
                    <a:pt x="3714750" y="25587"/>
                    <a:pt x="3714750" y="57150"/>
                  </a:cubicBezTo>
                  <a:lnTo>
                    <a:pt x="3714750" y="1276350"/>
                  </a:lnTo>
                  <a:cubicBezTo>
                    <a:pt x="3714750" y="1307913"/>
                    <a:pt x="3689163" y="1333500"/>
                    <a:pt x="3657600" y="1333500"/>
                  </a:cubicBezTo>
                  <a:lnTo>
                    <a:pt x="57150" y="1333500"/>
                  </a:lnTo>
                  <a:cubicBezTo>
                    <a:pt x="25587" y="1333500"/>
                    <a:pt x="0" y="1307913"/>
                    <a:pt x="0" y="1276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96250" y="4857750"/>
              <a:ext cx="57150" cy="133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367712" y="5000625"/>
              <a:ext cx="200026" cy="266700"/>
              <a:chOff x="8367712" y="5000625"/>
              <a:chExt cx="200026" cy="2667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67712" y="5000625"/>
                <a:ext cx="2000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66700">
                    <a:moveTo>
                      <a:pt x="83344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00025" y="266700"/>
                    </a:lnTo>
                    <a:lnTo>
                      <a:pt x="200025" y="116681"/>
                    </a:lnTo>
                    <a:lnTo>
                      <a:pt x="83344" y="116681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rgbClr val="FFA500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484394" y="5000625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0" y="0"/>
                    </a:moveTo>
                    <a:lnTo>
                      <a:pt x="0" y="83344"/>
                    </a:lnTo>
                    <a:lnTo>
                      <a:pt x="83344" y="833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500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700135" y="5061585"/>
              <a:ext cx="2073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REST /api/sub/{id}/log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04898" y="5273516"/>
              <a:ext cx="14788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8F4FC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PER-SUB INDEPENDENT LOG</a:t>
              </a:r>
              <a:endParaRPr lang="zh-CN" sz="825" dirty="0">
                <a:solidFill>
                  <a:srgbClr val="E8F4FC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3" name="Line 53"/>
            <p:cNvSpPr/>
            <p:nvPr/>
          </p:nvSpPr>
          <p:spPr>
            <a:xfrm>
              <a:off x="8286750" y="54768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74368" y="5590699"/>
              <a:ext cx="17762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▲ 上行遥测 + ▼ 下行 AI 指令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74368" y="5781199"/>
              <a:ext cx="1863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16 艘潜艇 · 各自独立日志链</a:t>
              </a:r>
              <a:endParaRPr lang="zh-CN" sz="975" b="1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74368" y="59716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点击阵列任意潜艇 → 弹窗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81000" y="6334125"/>
            <a:ext cx="11442382" cy="378619"/>
            <a:chOff x="381000" y="6334125"/>
            <a:chExt cx="11442382" cy="378619"/>
          </a:xfrm>
        </p:grpSpPr>
        <p:sp>
          <p:nvSpPr>
            <p:cNvPr id="58" name="Line 58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522643" y="6522720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III · 核心机制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57181" y="6514624"/>
              <a:ext cx="466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56768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核心机制 / 边缘节点视图与前端可观测性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30306" y="332899"/>
              <a:ext cx="9930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III · 4 / 4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74561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三栏布局 × CSS 变量驱动主题 × 等宽字体大数据 — 工业级控制台美学（去 AI 化）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1285875"/>
            <a:ext cx="6858000" cy="3857625"/>
            <a:chOff x="381000" y="1285875"/>
            <a:chExt cx="6858000" cy="3857625"/>
          </a:xfrm>
        </p:grpSpPr>
        <p:sp>
          <p:nvSpPr>
            <p:cNvPr id="12" name="Freeform 12"/>
            <p:cNvSpPr/>
            <p:nvPr/>
          </p:nvSpPr>
          <p:spPr>
            <a:xfrm>
              <a:off x="381000" y="1285875"/>
              <a:ext cx="6858000" cy="3857625"/>
            </a:xfrm>
            <a:custGeom>
              <a:avLst/>
              <a:gdLst/>
              <a:ahLst/>
              <a:cxnLst/>
              <a:rect l="l" t="t" r="r" b="b"/>
              <a:pathLst>
                <a:path w="6858000" h="3857625">
                  <a:moveTo>
                    <a:pt x="57150" y="0"/>
                  </a:moveTo>
                  <a:lnTo>
                    <a:pt x="6800850" y="0"/>
                  </a:lnTo>
                  <a:cubicBezTo>
                    <a:pt x="6832413" y="0"/>
                    <a:pt x="6858000" y="25587"/>
                    <a:pt x="6858000" y="57150"/>
                  </a:cubicBezTo>
                  <a:lnTo>
                    <a:pt x="6858000" y="3800475"/>
                  </a:lnTo>
                  <a:cubicBezTo>
                    <a:pt x="6858000" y="3832038"/>
                    <a:pt x="6832413" y="3857625"/>
                    <a:pt x="6800850" y="3857625"/>
                  </a:cubicBezTo>
                  <a:lnTo>
                    <a:pt x="57150" y="3857625"/>
                  </a:lnTo>
                  <a:cubicBezTo>
                    <a:pt x="25587" y="3857625"/>
                    <a:pt x="0" y="3832038"/>
                    <a:pt x="0" y="38004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0050" y="1304925"/>
              <a:ext cx="6819900" cy="3819525"/>
            </a:xfrm>
            <a:prstGeom prst="rect">
              <a:avLst/>
            </a:prstGeom>
          </p:spPr>
        </p:pic>
        <p:sp>
          <p:nvSpPr>
            <p:cNvPr id="14" name="Freeform 14"/>
            <p:cNvSpPr/>
            <p:nvPr/>
          </p:nvSpPr>
          <p:spPr>
            <a:xfrm>
              <a:off x="523875" y="1409700"/>
              <a:ext cx="1619250" cy="266700"/>
            </a:xfrm>
            <a:custGeom>
              <a:avLst/>
              <a:gdLst/>
              <a:ahLst/>
              <a:cxnLst/>
              <a:rect l="l" t="t" r="r" b="b"/>
              <a:pathLst>
                <a:path w="1619250" h="266700">
                  <a:moveTo>
                    <a:pt x="28575" y="0"/>
                  </a:moveTo>
                  <a:lnTo>
                    <a:pt x="1590675" y="0"/>
                  </a:lnTo>
                  <a:cubicBezTo>
                    <a:pt x="1606457" y="0"/>
                    <a:pt x="1619250" y="12793"/>
                    <a:pt x="1619250" y="28575"/>
                  </a:cubicBezTo>
                  <a:lnTo>
                    <a:pt x="1619250" y="238125"/>
                  </a:lnTo>
                  <a:cubicBezTo>
                    <a:pt x="1619250" y="253907"/>
                    <a:pt x="1606457" y="266700"/>
                    <a:pt x="1590675" y="266700"/>
                  </a:cubicBezTo>
                  <a:lnTo>
                    <a:pt x="28575" y="266700"/>
                  </a:lnTo>
                  <a:cubicBezTo>
                    <a:pt x="12793" y="266700"/>
                    <a:pt x="0" y="253907"/>
                    <a:pt x="0" y="2381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FFF">
                <a:alpha val="92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6902" y="1493520"/>
              <a:ext cx="11131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33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/node · 浅色主题</a:t>
              </a:r>
              <a:endParaRPr lang="zh-CN" sz="900" b="1" dirty="0">
                <a:solidFill>
                  <a:srgbClr val="0033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68618" y="5276374"/>
            <a:ext cx="4994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三栏布局：硬件遥测（10× H100）· 双缓冲核心（DB_A ⇆ DB_B）· 算力溢出告警</a:t>
            </a:r>
            <a:endParaRPr lang="zh-CN" sz="975" dirty="0">
              <a:solidFill>
                <a:srgbClr val="66666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7429500" y="1285875"/>
            <a:ext cx="2143125" cy="1857375"/>
            <a:chOff x="7429500" y="1285875"/>
            <a:chExt cx="2143125" cy="1857375"/>
          </a:xfrm>
        </p:grpSpPr>
        <p:sp>
          <p:nvSpPr>
            <p:cNvPr id="18" name="Freeform 18"/>
            <p:cNvSpPr/>
            <p:nvPr/>
          </p:nvSpPr>
          <p:spPr>
            <a:xfrm>
              <a:off x="7429500" y="1285875"/>
              <a:ext cx="2143125" cy="1857375"/>
            </a:xfrm>
            <a:custGeom>
              <a:avLst/>
              <a:gdLst/>
              <a:ahLst/>
              <a:cxnLst/>
              <a:rect l="l" t="t" r="r" b="b"/>
              <a:pathLst>
                <a:path w="2143125" h="1857375">
                  <a:moveTo>
                    <a:pt x="57150" y="0"/>
                  </a:moveTo>
                  <a:lnTo>
                    <a:pt x="2085975" y="0"/>
                  </a:lnTo>
                  <a:cubicBezTo>
                    <a:pt x="2117538" y="0"/>
                    <a:pt x="2143125" y="25587"/>
                    <a:pt x="2143125" y="57150"/>
                  </a:cubicBezTo>
                  <a:lnTo>
                    <a:pt x="2143125" y="1800225"/>
                  </a:lnTo>
                  <a:cubicBezTo>
                    <a:pt x="2143125" y="1831788"/>
                    <a:pt x="2117538" y="1857375"/>
                    <a:pt x="2085975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29500" y="1285875"/>
              <a:ext cx="57150" cy="1857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7641431" y="1497806"/>
              <a:ext cx="300038" cy="300038"/>
            </a:xfrm>
            <a:custGeom>
              <a:avLst/>
              <a:gdLst/>
              <a:ahLst/>
              <a:cxnLst/>
              <a:rect l="l" t="t" r="r" b="b"/>
              <a:pathLst>
                <a:path w="300038" h="300038">
                  <a:moveTo>
                    <a:pt x="128588" y="0"/>
                  </a:moveTo>
                  <a:lnTo>
                    <a:pt x="0" y="0"/>
                  </a:lnTo>
                  <a:lnTo>
                    <a:pt x="0" y="128588"/>
                  </a:lnTo>
                  <a:lnTo>
                    <a:pt x="128588" y="128588"/>
                  </a:lnTo>
                  <a:lnTo>
                    <a:pt x="128588" y="0"/>
                  </a:lnTo>
                  <a:close/>
                  <a:moveTo>
                    <a:pt x="128588" y="171450"/>
                  </a:moveTo>
                  <a:lnTo>
                    <a:pt x="0" y="171450"/>
                  </a:lnTo>
                  <a:lnTo>
                    <a:pt x="0" y="300038"/>
                  </a:lnTo>
                  <a:lnTo>
                    <a:pt x="128588" y="300038"/>
                  </a:lnTo>
                  <a:lnTo>
                    <a:pt x="128588" y="171450"/>
                  </a:lnTo>
                  <a:close/>
                  <a:moveTo>
                    <a:pt x="171450" y="0"/>
                  </a:moveTo>
                  <a:lnTo>
                    <a:pt x="300038" y="0"/>
                  </a:lnTo>
                  <a:lnTo>
                    <a:pt x="300038" y="128588"/>
                  </a:lnTo>
                  <a:lnTo>
                    <a:pt x="171450" y="128588"/>
                  </a:lnTo>
                  <a:lnTo>
                    <a:pt x="171450" y="0"/>
                  </a:lnTo>
                  <a:close/>
                  <a:moveTo>
                    <a:pt x="300038" y="171450"/>
                  </a:moveTo>
                  <a:lnTo>
                    <a:pt x="171450" y="171450"/>
                  </a:lnTo>
                  <a:lnTo>
                    <a:pt x="171450" y="300038"/>
                  </a:lnTo>
                  <a:lnTo>
                    <a:pt x="300038" y="300038"/>
                  </a:lnTo>
                  <a:lnTo>
                    <a:pt x="300038" y="17145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04760" y="19659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三栏布局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9522" y="2196941"/>
              <a:ext cx="10571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3-COLUMN LAYOUT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7620000" y="24003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07618" y="2514124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硬件遥测 / 双缓冲核心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07618" y="2704624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 溢出告警三栏一屏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09522" y="2939891"/>
              <a:ext cx="14487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macro view · zero scroll</a:t>
              </a:r>
              <a:endParaRPr lang="zh-CN" sz="825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667875" y="1285875"/>
            <a:ext cx="2143125" cy="1857375"/>
            <a:chOff x="9667875" y="1285875"/>
            <a:chExt cx="2143125" cy="1857375"/>
          </a:xfrm>
        </p:grpSpPr>
        <p:sp>
          <p:nvSpPr>
            <p:cNvPr id="28" name="Freeform 28"/>
            <p:cNvSpPr/>
            <p:nvPr/>
          </p:nvSpPr>
          <p:spPr>
            <a:xfrm>
              <a:off x="9667875" y="1285875"/>
              <a:ext cx="2143125" cy="1857375"/>
            </a:xfrm>
            <a:custGeom>
              <a:avLst/>
              <a:gdLst/>
              <a:ahLst/>
              <a:cxnLst/>
              <a:rect l="l" t="t" r="r" b="b"/>
              <a:pathLst>
                <a:path w="2143125" h="1857375">
                  <a:moveTo>
                    <a:pt x="57150" y="0"/>
                  </a:moveTo>
                  <a:lnTo>
                    <a:pt x="2085975" y="0"/>
                  </a:lnTo>
                  <a:cubicBezTo>
                    <a:pt x="2117538" y="0"/>
                    <a:pt x="2143125" y="25587"/>
                    <a:pt x="2143125" y="57150"/>
                  </a:cubicBezTo>
                  <a:lnTo>
                    <a:pt x="2143125" y="1800225"/>
                  </a:lnTo>
                  <a:cubicBezTo>
                    <a:pt x="2143125" y="1831788"/>
                    <a:pt x="2117538" y="1857375"/>
                    <a:pt x="2085975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667875" y="1285875"/>
              <a:ext cx="57150" cy="1857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858375" y="1519238"/>
              <a:ext cx="342900" cy="257175"/>
            </a:xfrm>
            <a:custGeom>
              <a:avLst/>
              <a:gdLst/>
              <a:ahLst/>
              <a:cxnLst/>
              <a:rect l="l" t="t" r="r" b="b"/>
              <a:pathLst>
                <a:path w="342900" h="257175">
                  <a:moveTo>
                    <a:pt x="0" y="128588"/>
                  </a:moveTo>
                  <a:lnTo>
                    <a:pt x="65996" y="49392"/>
                  </a:lnTo>
                  <a:cubicBezTo>
                    <a:pt x="92077" y="18095"/>
                    <a:pt x="130711" y="0"/>
                    <a:pt x="171450" y="0"/>
                  </a:cubicBezTo>
                  <a:cubicBezTo>
                    <a:pt x="212189" y="0"/>
                    <a:pt x="250823" y="18095"/>
                    <a:pt x="276905" y="49392"/>
                  </a:cubicBezTo>
                  <a:lnTo>
                    <a:pt x="342900" y="128588"/>
                  </a:lnTo>
                  <a:lnTo>
                    <a:pt x="276905" y="207782"/>
                  </a:lnTo>
                  <a:cubicBezTo>
                    <a:pt x="250823" y="239081"/>
                    <a:pt x="212189" y="257175"/>
                    <a:pt x="171450" y="257175"/>
                  </a:cubicBezTo>
                  <a:cubicBezTo>
                    <a:pt x="130711" y="257175"/>
                    <a:pt x="92077" y="239081"/>
                    <a:pt x="65996" y="207782"/>
                  </a:cubicBezTo>
                  <a:lnTo>
                    <a:pt x="0" y="128588"/>
                  </a:lnTo>
                  <a:close/>
                  <a:moveTo>
                    <a:pt x="171450" y="192881"/>
                  </a:moveTo>
                  <a:cubicBezTo>
                    <a:pt x="206958" y="192881"/>
                    <a:pt x="235744" y="164096"/>
                    <a:pt x="235744" y="128588"/>
                  </a:cubicBezTo>
                  <a:cubicBezTo>
                    <a:pt x="235744" y="93079"/>
                    <a:pt x="206958" y="64294"/>
                    <a:pt x="171450" y="64294"/>
                  </a:cubicBezTo>
                  <a:cubicBezTo>
                    <a:pt x="135942" y="64294"/>
                    <a:pt x="107156" y="93079"/>
                    <a:pt x="107156" y="128588"/>
                  </a:cubicBezTo>
                  <a:cubicBezTo>
                    <a:pt x="107156" y="164096"/>
                    <a:pt x="135942" y="192881"/>
                    <a:pt x="171450" y="192881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43135" y="19659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双主题切换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47898" y="2196941"/>
              <a:ext cx="8342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THEME TOGGLE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9858375" y="24003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45992" y="2514124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CSS 变量驱动深 / 浅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45992" y="2704624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localStorage 持久化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47898" y="2939891"/>
              <a:ext cx="13584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--bg / --fg / --accent</a:t>
              </a:r>
              <a:endParaRPr lang="zh-CN" sz="825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429500" y="3286125"/>
            <a:ext cx="2143125" cy="1857375"/>
            <a:chOff x="7429500" y="3286125"/>
            <a:chExt cx="2143125" cy="1857375"/>
          </a:xfrm>
        </p:grpSpPr>
        <p:sp>
          <p:nvSpPr>
            <p:cNvPr id="38" name="Freeform 38"/>
            <p:cNvSpPr/>
            <p:nvPr/>
          </p:nvSpPr>
          <p:spPr>
            <a:xfrm>
              <a:off x="7429500" y="3286125"/>
              <a:ext cx="2143125" cy="1857375"/>
            </a:xfrm>
            <a:custGeom>
              <a:avLst/>
              <a:gdLst/>
              <a:ahLst/>
              <a:cxnLst/>
              <a:rect l="l" t="t" r="r" b="b"/>
              <a:pathLst>
                <a:path w="2143125" h="1857375">
                  <a:moveTo>
                    <a:pt x="57150" y="0"/>
                  </a:moveTo>
                  <a:lnTo>
                    <a:pt x="2085975" y="0"/>
                  </a:lnTo>
                  <a:cubicBezTo>
                    <a:pt x="2117538" y="0"/>
                    <a:pt x="2143125" y="25587"/>
                    <a:pt x="2143125" y="57150"/>
                  </a:cubicBezTo>
                  <a:lnTo>
                    <a:pt x="2143125" y="1800225"/>
                  </a:lnTo>
                  <a:cubicBezTo>
                    <a:pt x="2143125" y="1831788"/>
                    <a:pt x="2117538" y="1857375"/>
                    <a:pt x="2085975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429500" y="3286125"/>
              <a:ext cx="57150" cy="1857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641431" y="3498056"/>
              <a:ext cx="300038" cy="300038"/>
              <a:chOff x="7641431" y="3498056"/>
              <a:chExt cx="300038" cy="30003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641431" y="3498056"/>
                <a:ext cx="300038" cy="187822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87822">
                    <a:moveTo>
                      <a:pt x="300038" y="0"/>
                    </a:moveTo>
                    <a:lnTo>
                      <a:pt x="0" y="0"/>
                    </a:lnTo>
                    <a:lnTo>
                      <a:pt x="0" y="128588"/>
                    </a:lnTo>
                    <a:lnTo>
                      <a:pt x="51049" y="128588"/>
                    </a:lnTo>
                    <a:lnTo>
                      <a:pt x="83195" y="64294"/>
                    </a:lnTo>
                    <a:lnTo>
                      <a:pt x="131117" y="64294"/>
                    </a:lnTo>
                    <a:lnTo>
                      <a:pt x="192881" y="187822"/>
                    </a:lnTo>
                    <a:lnTo>
                      <a:pt x="222499" y="128588"/>
                    </a:lnTo>
                    <a:lnTo>
                      <a:pt x="300038" y="128588"/>
                    </a:lnTo>
                    <a:lnTo>
                      <a:pt x="300038" y="0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641431" y="3610272"/>
                <a:ext cx="300038" cy="187822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87822">
                    <a:moveTo>
                      <a:pt x="300038" y="59234"/>
                    </a:moveTo>
                    <a:lnTo>
                      <a:pt x="248988" y="59234"/>
                    </a:lnTo>
                    <a:lnTo>
                      <a:pt x="216841" y="123528"/>
                    </a:lnTo>
                    <a:lnTo>
                      <a:pt x="168920" y="123528"/>
                    </a:lnTo>
                    <a:lnTo>
                      <a:pt x="107156" y="0"/>
                    </a:lnTo>
                    <a:lnTo>
                      <a:pt x="77539" y="59234"/>
                    </a:lnTo>
                    <a:lnTo>
                      <a:pt x="0" y="59234"/>
                    </a:lnTo>
                    <a:lnTo>
                      <a:pt x="0" y="187822"/>
                    </a:lnTo>
                    <a:lnTo>
                      <a:pt x="300038" y="187822"/>
                    </a:lnTo>
                    <a:lnTo>
                      <a:pt x="300038" y="59234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604760" y="39662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实时刷新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09522" y="4197191"/>
              <a:ext cx="11114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REAL-TIME REFRESH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5" name="Line 45"/>
            <p:cNvSpPr/>
            <p:nvPr/>
          </p:nvSpPr>
          <p:spPr>
            <a:xfrm>
              <a:off x="7620000" y="440055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07618" y="4514374"/>
              <a:ext cx="1099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500 ms 帧率推送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07618" y="47048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断线 2 s 自动重连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09522" y="4940141"/>
              <a:ext cx="13403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useWebSocket&lt;T&gt; hook</a:t>
              </a:r>
              <a:endParaRPr lang="zh-CN" sz="825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667875" y="3286125"/>
            <a:ext cx="2143125" cy="1857375"/>
            <a:chOff x="9667875" y="3286125"/>
            <a:chExt cx="2143125" cy="1857375"/>
          </a:xfrm>
        </p:grpSpPr>
        <p:sp>
          <p:nvSpPr>
            <p:cNvPr id="50" name="Freeform 50"/>
            <p:cNvSpPr/>
            <p:nvPr/>
          </p:nvSpPr>
          <p:spPr>
            <a:xfrm>
              <a:off x="9667875" y="3286125"/>
              <a:ext cx="2143125" cy="1857375"/>
            </a:xfrm>
            <a:custGeom>
              <a:avLst/>
              <a:gdLst/>
              <a:ahLst/>
              <a:cxnLst/>
              <a:rect l="l" t="t" r="r" b="b"/>
              <a:pathLst>
                <a:path w="2143125" h="1857375">
                  <a:moveTo>
                    <a:pt x="57150" y="0"/>
                  </a:moveTo>
                  <a:lnTo>
                    <a:pt x="2085975" y="0"/>
                  </a:lnTo>
                  <a:cubicBezTo>
                    <a:pt x="2117538" y="0"/>
                    <a:pt x="2143125" y="25587"/>
                    <a:pt x="2143125" y="57150"/>
                  </a:cubicBezTo>
                  <a:lnTo>
                    <a:pt x="2143125" y="1800225"/>
                  </a:lnTo>
                  <a:cubicBezTo>
                    <a:pt x="2143125" y="1831788"/>
                    <a:pt x="2117538" y="1857375"/>
                    <a:pt x="2085975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667875" y="3286125"/>
              <a:ext cx="57150" cy="18573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879806" y="3562350"/>
              <a:ext cx="214312" cy="235744"/>
              <a:chOff x="9879806" y="3562350"/>
              <a:chExt cx="214312" cy="235744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0051256" y="3562350"/>
                <a:ext cx="42862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235744">
                    <a:moveTo>
                      <a:pt x="0" y="235744"/>
                    </a:moveTo>
                    <a:lnTo>
                      <a:pt x="0" y="0"/>
                    </a:lnTo>
                    <a:lnTo>
                      <a:pt x="42862" y="0"/>
                    </a:lnTo>
                    <a:lnTo>
                      <a:pt x="42862" y="235744"/>
                    </a:lnTo>
                    <a:lnTo>
                      <a:pt x="0" y="235744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965531" y="3626644"/>
                <a:ext cx="42862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71450">
                    <a:moveTo>
                      <a:pt x="0" y="171450"/>
                    </a:moveTo>
                    <a:lnTo>
                      <a:pt x="0" y="0"/>
                    </a:lnTo>
                    <a:lnTo>
                      <a:pt x="42862" y="0"/>
                    </a:lnTo>
                    <a:lnTo>
                      <a:pt x="42862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879806" y="3690938"/>
                <a:ext cx="42862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07156">
                    <a:moveTo>
                      <a:pt x="0" y="0"/>
                    </a:moveTo>
                    <a:lnTo>
                      <a:pt x="0" y="107156"/>
                    </a:lnTo>
                    <a:lnTo>
                      <a:pt x="42862" y="107156"/>
                    </a:lnTo>
                    <a:lnTo>
                      <a:pt x="4286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843135" y="3966210"/>
              <a:ext cx="10334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去 AI 化美学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47898" y="4197191"/>
              <a:ext cx="12258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INDUSTRIAL AESTHETIC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8" name="Line 58"/>
            <p:cNvSpPr/>
            <p:nvPr/>
          </p:nvSpPr>
          <p:spPr>
            <a:xfrm>
              <a:off x="9858375" y="440055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845992" y="4514374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等宽字体 + 大数据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45992" y="4704874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色彩语义化 / 无幼稚图标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847898" y="4940141"/>
              <a:ext cx="11535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C00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military-grade vibe</a:t>
              </a:r>
              <a:endParaRPr lang="zh-CN" sz="825" dirty="0">
                <a:solidFill>
                  <a:srgbClr val="CC00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81000" y="5572125"/>
            <a:ext cx="11430000" cy="590550"/>
            <a:chOff x="381000" y="5572125"/>
            <a:chExt cx="11430000" cy="590550"/>
          </a:xfrm>
        </p:grpSpPr>
        <p:sp>
          <p:nvSpPr>
            <p:cNvPr id="63" name="Freeform 63"/>
            <p:cNvSpPr/>
            <p:nvPr/>
          </p:nvSpPr>
          <p:spPr>
            <a:xfrm>
              <a:off x="381000" y="5572125"/>
              <a:ext cx="11430000" cy="590550"/>
            </a:xfrm>
            <a:custGeom>
              <a:avLst/>
              <a:gdLst/>
              <a:ahLst/>
              <a:cxnLst/>
              <a:rect l="l" t="t" r="r" b="b"/>
              <a:pathLst>
                <a:path w="11430000" h="59055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533400"/>
                  </a:lnTo>
                  <a:cubicBezTo>
                    <a:pt x="11430000" y="564963"/>
                    <a:pt x="11404413" y="590550"/>
                    <a:pt x="11372850" y="590550"/>
                  </a:cubicBezTo>
                  <a:lnTo>
                    <a:pt x="57150" y="590550"/>
                  </a:lnTo>
                  <a:cubicBezTo>
                    <a:pt x="25587" y="590550"/>
                    <a:pt x="0" y="564963"/>
                    <a:pt x="0" y="5334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58165" y="56969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色彩语义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61022" y="5930741"/>
              <a:ext cx="11294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8F4FC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SEMANTIC COLORING</a:t>
              </a:r>
              <a:endParaRPr lang="zh-CN" sz="825" dirty="0">
                <a:solidFill>
                  <a:srgbClr val="E8F4FC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6" name="Freeform 66"/>
            <p:cNvSpPr/>
            <p:nvPr/>
          </p:nvSpPr>
          <p:spPr>
            <a:xfrm>
              <a:off x="1714500" y="57150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8A74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911668" y="5724049"/>
              <a:ext cx="7794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绿 = L1 正常</a:t>
              </a:r>
              <a:endParaRPr lang="zh-CN" sz="9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714500" y="592455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FA50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911668" y="5933599"/>
              <a:ext cx="7794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橙 = L1 溢出</a:t>
              </a:r>
              <a:endParaRPr lang="zh-CN" sz="9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Freeform 70"/>
            <p:cNvSpPr/>
            <p:nvPr/>
          </p:nvSpPr>
          <p:spPr>
            <a:xfrm>
              <a:off x="3524250" y="57150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721418" y="5724049"/>
              <a:ext cx="8150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 = L0 紧急</a:t>
              </a:r>
              <a:endParaRPr lang="zh-CN" sz="9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Freeform 72"/>
            <p:cNvSpPr/>
            <p:nvPr/>
          </p:nvSpPr>
          <p:spPr>
            <a:xfrm>
              <a:off x="3524250" y="592455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17A2B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721418" y="5933599"/>
              <a:ext cx="8150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青 = L2 战略</a:t>
              </a:r>
              <a:endParaRPr lang="zh-CN" sz="9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Freeform 74"/>
            <p:cNvSpPr/>
            <p:nvPr/>
          </p:nvSpPr>
          <p:spPr>
            <a:xfrm>
              <a:off x="5286375" y="57150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483542" y="57240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蓝 = 主路由通道</a:t>
              </a:r>
              <a:endParaRPr lang="zh-CN" sz="9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Freeform 76"/>
            <p:cNvSpPr/>
            <p:nvPr/>
          </p:nvSpPr>
          <p:spPr>
            <a:xfrm>
              <a:off x="5286375" y="592455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483542" y="5933599"/>
              <a:ext cx="12992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深蓝 = 系统 chrome</a:t>
              </a:r>
              <a:endParaRPr lang="zh-CN" sz="9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07618" y="57240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字体策略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608570" y="5941695"/>
              <a:ext cx="2750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F4F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Microsoft YaHei + Consolas (terminal vibe)</a:t>
              </a:r>
              <a:endParaRPr lang="zh-CN" sz="900" dirty="0">
                <a:solidFill>
                  <a:srgbClr val="E8F4F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381000" y="6334125"/>
            <a:ext cx="11442382" cy="378619"/>
            <a:chOff x="381000" y="6334125"/>
            <a:chExt cx="11442382" cy="378619"/>
          </a:xfrm>
        </p:grpSpPr>
        <p:sp>
          <p:nvSpPr>
            <p:cNvPr id="81" name="Line 81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522643" y="6522720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III · 核心机制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357181" y="6514624"/>
              <a:ext cx="466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14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3047333" cy="762000"/>
            <a:chOff x="0" y="0"/>
            <a:chExt cx="3047333" cy="762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57150" cy="7620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67665" y="343852"/>
              <a:ext cx="26796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IV / TECHNICAL IMPLEMENTATION</a:t>
              </a:r>
              <a:endParaRPr lang="zh-CN" sz="1050" dirty="0">
                <a:solidFill>
                  <a:srgbClr val="FFFFFF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8" name="Rectangle 8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76300" y="24955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21000" b="1" dirty="0">
              <a:solidFill>
                <a:srgbClr val="FFFFFF">
                  <a:alpha val="8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66160" y="2832735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技术实现</a:t>
            </a:r>
            <a:endParaRPr lang="zh-CN" sz="4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598545" y="3489008"/>
            <a:ext cx="29577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i="1" dirty="0">
                <a:solidFill>
                  <a:srgbClr val="FFFFFF">
                    <a:alpha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Technical Implementation</a:t>
            </a:r>
            <a:endParaRPr lang="zh-CN" sz="1650" i="1" dirty="0">
              <a:solidFill>
                <a:srgbClr val="FFFFFF">
                  <a:alpha val="5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600450" y="4076700"/>
            <a:ext cx="62379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FastAPI 异步管线 × WebSocket 双通道 × React Router 多视图</a:t>
            </a:r>
            <a:endParaRPr lang="zh-CN" sz="1500" dirty="0">
              <a:solidFill>
                <a:srgbClr val="E8F4F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3619500" y="4667250"/>
            <a:ext cx="4876800" cy="342900"/>
            <a:chOff x="3619500" y="4667250"/>
            <a:chExt cx="4876800" cy="342900"/>
          </a:xfrm>
        </p:grpSpPr>
        <p:sp>
          <p:nvSpPr>
            <p:cNvPr id="14" name="Freeform 14"/>
            <p:cNvSpPr/>
            <p:nvPr/>
          </p:nvSpPr>
          <p:spPr>
            <a:xfrm>
              <a:off x="36195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08422" y="4790599"/>
              <a:ext cx="11461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FASTAPI · ASYNC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2959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92298" y="4790599"/>
              <a:ext cx="11312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PYTORCH · CUDA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9723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62148" y="4790599"/>
              <a:ext cx="9443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REACT 18 · TS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68618" y="6371749"/>
            <a:ext cx="20183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CHAPTER 04 / 05 · Slides 16–17</a:t>
            </a:r>
            <a:endParaRPr lang="zh-CN" sz="975" dirty="0">
              <a:solidFill>
                <a:srgbClr val="FFFFFF">
                  <a:alpha val="40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322272" y="63636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>
                    <a:alpha val="4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15 / 20</a:t>
            </a:r>
            <a:endParaRPr lang="zh-CN" sz="1050" dirty="0">
              <a:solidFill>
                <a:srgbClr val="FFFFFF">
                  <a:alpha val="4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61184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 · 技术实现 / 技术栈选型 + Lifespan 启动管线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73026" y="332899"/>
              <a:ext cx="9503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IV · 1 / 2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87397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FastAPI 原生异步 + PyTorch GPU 训练 + React 18 类型安全 — 全栈 Python 3.12 / TS 工程实现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1000" y="1314450"/>
            <a:ext cx="3714750" cy="1857375"/>
            <a:chOff x="381000" y="1314450"/>
            <a:chExt cx="3714750" cy="1857375"/>
          </a:xfrm>
        </p:grpSpPr>
        <p:sp>
          <p:nvSpPr>
            <p:cNvPr id="12" name="Freeform 12"/>
            <p:cNvSpPr/>
            <p:nvPr/>
          </p:nvSpPr>
          <p:spPr>
            <a:xfrm>
              <a:off x="381000" y="1314450"/>
              <a:ext cx="3714750" cy="1857375"/>
            </a:xfrm>
            <a:custGeom>
              <a:avLst/>
              <a:gdLst/>
              <a:ahLst/>
              <a:cxnLst/>
              <a:rect l="l" t="t" r="r" b="b"/>
              <a:pathLst>
                <a:path w="3714750" h="1857375">
                  <a:moveTo>
                    <a:pt x="57150" y="0"/>
                  </a:moveTo>
                  <a:lnTo>
                    <a:pt x="3657600" y="0"/>
                  </a:lnTo>
                  <a:cubicBezTo>
                    <a:pt x="3689163" y="0"/>
                    <a:pt x="3714750" y="25587"/>
                    <a:pt x="3714750" y="57150"/>
                  </a:cubicBezTo>
                  <a:lnTo>
                    <a:pt x="3714750" y="1800225"/>
                  </a:lnTo>
                  <a:cubicBezTo>
                    <a:pt x="3714750" y="1831788"/>
                    <a:pt x="3689163" y="1857375"/>
                    <a:pt x="3657600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81000" y="1314450"/>
              <a:ext cx="57150" cy="1857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90550" y="1547812"/>
              <a:ext cx="342900" cy="257175"/>
              <a:chOff x="590550" y="1547812"/>
              <a:chExt cx="342900" cy="2571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90550" y="1547812"/>
                <a:ext cx="3429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07156">
                    <a:moveTo>
                      <a:pt x="342900" y="0"/>
                    </a:moveTo>
                    <a:lnTo>
                      <a:pt x="0" y="0"/>
                    </a:lnTo>
                    <a:lnTo>
                      <a:pt x="0" y="107156"/>
                    </a:lnTo>
                    <a:lnTo>
                      <a:pt x="342900" y="107156"/>
                    </a:lnTo>
                    <a:lnTo>
                      <a:pt x="342900" y="0"/>
                    </a:lnTo>
                    <a:close/>
                    <a:moveTo>
                      <a:pt x="85725" y="53578"/>
                    </a:moveTo>
                    <a:cubicBezTo>
                      <a:pt x="85725" y="65414"/>
                      <a:pt x="76130" y="75009"/>
                      <a:pt x="64294" y="75009"/>
                    </a:cubicBezTo>
                    <a:cubicBezTo>
                      <a:pt x="52458" y="75009"/>
                      <a:pt x="42862" y="65414"/>
                      <a:pt x="42862" y="53578"/>
                    </a:cubicBezTo>
                    <a:cubicBezTo>
                      <a:pt x="42862" y="41742"/>
                      <a:pt x="52458" y="32147"/>
                      <a:pt x="64294" y="32147"/>
                    </a:cubicBezTo>
                    <a:cubicBezTo>
                      <a:pt x="76130" y="32147"/>
                      <a:pt x="85725" y="41742"/>
                      <a:pt x="85725" y="53578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90550" y="1697831"/>
                <a:ext cx="3429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07156">
                    <a:moveTo>
                      <a:pt x="342900" y="0"/>
                    </a:moveTo>
                    <a:lnTo>
                      <a:pt x="0" y="0"/>
                    </a:lnTo>
                    <a:lnTo>
                      <a:pt x="0" y="107156"/>
                    </a:lnTo>
                    <a:lnTo>
                      <a:pt x="342900" y="107156"/>
                    </a:lnTo>
                    <a:lnTo>
                      <a:pt x="342900" y="0"/>
                    </a:lnTo>
                    <a:close/>
                    <a:moveTo>
                      <a:pt x="64294" y="75009"/>
                    </a:moveTo>
                    <a:cubicBezTo>
                      <a:pt x="76130" y="75009"/>
                      <a:pt x="85725" y="65415"/>
                      <a:pt x="85725" y="53578"/>
                    </a:cubicBezTo>
                    <a:cubicBezTo>
                      <a:pt x="85725" y="41742"/>
                      <a:pt x="76130" y="32147"/>
                      <a:pt x="64294" y="32147"/>
                    </a:cubicBezTo>
                    <a:cubicBezTo>
                      <a:pt x="52458" y="32147"/>
                      <a:pt x="42862" y="41742"/>
                      <a:pt x="42862" y="53578"/>
                    </a:cubicBezTo>
                    <a:cubicBezTo>
                      <a:pt x="42862" y="65415"/>
                      <a:pt x="52458" y="75009"/>
                      <a:pt x="64294" y="75009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30605" y="15687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后端 / Backend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272" y="1815941"/>
              <a:ext cx="14487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PYTHON 3.12 ASYNC STACK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571500" y="20193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9118" y="2123599"/>
              <a:ext cx="18118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FastAPI / Uvicorn (ASGI)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9118" y="2333149"/>
              <a:ext cx="13490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WebSocket 双通道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9118" y="2542699"/>
              <a:ext cx="16267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asyncio Task 并发管线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9118" y="2752249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OpenAI 兼容协议接入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1022" y="2977991"/>
              <a:ext cx="16054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高吞吐 / 低延迟 / 原生异步</a:t>
              </a:r>
              <a:endParaRPr lang="zh-CN" sz="825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38625" y="1314450"/>
            <a:ext cx="3714750" cy="1857375"/>
            <a:chOff x="4238625" y="1314450"/>
            <a:chExt cx="3714750" cy="1857375"/>
          </a:xfrm>
        </p:grpSpPr>
        <p:sp>
          <p:nvSpPr>
            <p:cNvPr id="26" name="Freeform 26"/>
            <p:cNvSpPr/>
            <p:nvPr/>
          </p:nvSpPr>
          <p:spPr>
            <a:xfrm>
              <a:off x="4238625" y="1314450"/>
              <a:ext cx="3714750" cy="1857375"/>
            </a:xfrm>
            <a:custGeom>
              <a:avLst/>
              <a:gdLst/>
              <a:ahLst/>
              <a:cxnLst/>
              <a:rect l="l" t="t" r="r" b="b"/>
              <a:pathLst>
                <a:path w="3714750" h="1857375">
                  <a:moveTo>
                    <a:pt x="57150" y="0"/>
                  </a:moveTo>
                  <a:lnTo>
                    <a:pt x="3657600" y="0"/>
                  </a:lnTo>
                  <a:cubicBezTo>
                    <a:pt x="3689163" y="0"/>
                    <a:pt x="3714750" y="25587"/>
                    <a:pt x="3714750" y="57150"/>
                  </a:cubicBezTo>
                  <a:lnTo>
                    <a:pt x="3714750" y="1800225"/>
                  </a:lnTo>
                  <a:cubicBezTo>
                    <a:pt x="3714750" y="1831788"/>
                    <a:pt x="3689163" y="1857375"/>
                    <a:pt x="3657600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38625" y="1314450"/>
              <a:ext cx="57150" cy="18573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448175" y="1504950"/>
              <a:ext cx="342900" cy="342900"/>
              <a:chOff x="4448175" y="1504950"/>
              <a:chExt cx="342900" cy="3429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576762" y="16335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0" y="0"/>
                    </a:lnTo>
                    <a:lnTo>
                      <a:pt x="85725" y="0"/>
                    </a:lnTo>
                    <a:lnTo>
                      <a:pt x="85725" y="85725"/>
                    </a:lnTo>
                    <a:lnTo>
                      <a:pt x="0" y="85725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448175" y="15049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64294" y="42862"/>
                    </a:moveTo>
                    <a:lnTo>
                      <a:pt x="64294" y="0"/>
                    </a:lnTo>
                    <a:lnTo>
                      <a:pt x="107156" y="0"/>
                    </a:lnTo>
                    <a:lnTo>
                      <a:pt x="107156" y="42862"/>
                    </a:lnTo>
                    <a:lnTo>
                      <a:pt x="150019" y="42862"/>
                    </a:lnTo>
                    <a:lnTo>
                      <a:pt x="150019" y="0"/>
                    </a:lnTo>
                    <a:lnTo>
                      <a:pt x="192881" y="0"/>
                    </a:lnTo>
                    <a:lnTo>
                      <a:pt x="192881" y="42862"/>
                    </a:lnTo>
                    <a:lnTo>
                      <a:pt x="235744" y="42862"/>
                    </a:lnTo>
                    <a:lnTo>
                      <a:pt x="235744" y="0"/>
                    </a:lnTo>
                    <a:lnTo>
                      <a:pt x="278606" y="0"/>
                    </a:lnTo>
                    <a:lnTo>
                      <a:pt x="278606" y="42862"/>
                    </a:lnTo>
                    <a:lnTo>
                      <a:pt x="300038" y="42862"/>
                    </a:lnTo>
                    <a:lnTo>
                      <a:pt x="300038" y="64294"/>
                    </a:lnTo>
                    <a:lnTo>
                      <a:pt x="342900" y="64294"/>
                    </a:lnTo>
                    <a:lnTo>
                      <a:pt x="342900" y="107156"/>
                    </a:lnTo>
                    <a:lnTo>
                      <a:pt x="300038" y="107156"/>
                    </a:lnTo>
                    <a:lnTo>
                      <a:pt x="300038" y="150019"/>
                    </a:lnTo>
                    <a:lnTo>
                      <a:pt x="342900" y="150019"/>
                    </a:lnTo>
                    <a:lnTo>
                      <a:pt x="342900" y="192881"/>
                    </a:lnTo>
                    <a:lnTo>
                      <a:pt x="300038" y="192881"/>
                    </a:lnTo>
                    <a:lnTo>
                      <a:pt x="300038" y="235744"/>
                    </a:lnTo>
                    <a:lnTo>
                      <a:pt x="342900" y="235744"/>
                    </a:lnTo>
                    <a:lnTo>
                      <a:pt x="342900" y="278606"/>
                    </a:lnTo>
                    <a:lnTo>
                      <a:pt x="300038" y="278606"/>
                    </a:lnTo>
                    <a:lnTo>
                      <a:pt x="300038" y="300038"/>
                    </a:lnTo>
                    <a:lnTo>
                      <a:pt x="278606" y="300038"/>
                    </a:lnTo>
                    <a:lnTo>
                      <a:pt x="278606" y="342900"/>
                    </a:lnTo>
                    <a:lnTo>
                      <a:pt x="235744" y="342900"/>
                    </a:lnTo>
                    <a:lnTo>
                      <a:pt x="235744" y="300038"/>
                    </a:lnTo>
                    <a:lnTo>
                      <a:pt x="192881" y="300038"/>
                    </a:lnTo>
                    <a:lnTo>
                      <a:pt x="192881" y="342900"/>
                    </a:lnTo>
                    <a:lnTo>
                      <a:pt x="150019" y="342900"/>
                    </a:lnTo>
                    <a:lnTo>
                      <a:pt x="150019" y="300038"/>
                    </a:lnTo>
                    <a:lnTo>
                      <a:pt x="107156" y="300038"/>
                    </a:lnTo>
                    <a:lnTo>
                      <a:pt x="107156" y="342900"/>
                    </a:lnTo>
                    <a:lnTo>
                      <a:pt x="64294" y="342900"/>
                    </a:lnTo>
                    <a:lnTo>
                      <a:pt x="64294" y="300038"/>
                    </a:lnTo>
                    <a:lnTo>
                      <a:pt x="42862" y="300038"/>
                    </a:lnTo>
                    <a:lnTo>
                      <a:pt x="42862" y="278606"/>
                    </a:lnTo>
                    <a:lnTo>
                      <a:pt x="0" y="278606"/>
                    </a:lnTo>
                    <a:lnTo>
                      <a:pt x="0" y="235744"/>
                    </a:lnTo>
                    <a:lnTo>
                      <a:pt x="42862" y="235744"/>
                    </a:lnTo>
                    <a:lnTo>
                      <a:pt x="42862" y="192881"/>
                    </a:lnTo>
                    <a:lnTo>
                      <a:pt x="0" y="192881"/>
                    </a:lnTo>
                    <a:lnTo>
                      <a:pt x="0" y="150019"/>
                    </a:lnTo>
                    <a:lnTo>
                      <a:pt x="42862" y="150019"/>
                    </a:lnTo>
                    <a:lnTo>
                      <a:pt x="42862" y="107156"/>
                    </a:lnTo>
                    <a:lnTo>
                      <a:pt x="0" y="107156"/>
                    </a:lnTo>
                    <a:lnTo>
                      <a:pt x="0" y="64294"/>
                    </a:lnTo>
                    <a:lnTo>
                      <a:pt x="42862" y="64294"/>
                    </a:lnTo>
                    <a:lnTo>
                      <a:pt x="42862" y="42862"/>
                    </a:lnTo>
                    <a:lnTo>
                      <a:pt x="64294" y="42862"/>
                    </a:lnTo>
                    <a:close/>
                    <a:moveTo>
                      <a:pt x="85725" y="85725"/>
                    </a:moveTo>
                    <a:lnTo>
                      <a:pt x="85725" y="257175"/>
                    </a:lnTo>
                    <a:lnTo>
                      <a:pt x="257175" y="257175"/>
                    </a:lnTo>
                    <a:lnTo>
                      <a:pt x="257175" y="85725"/>
                    </a:lnTo>
                    <a:lnTo>
                      <a:pt x="85725" y="85725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888230" y="15687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/ 机器学习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94898" y="1815941"/>
              <a:ext cx="14126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PYTORCH 2.4 + DEEPSEEK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4429125" y="20193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16742" y="2123599"/>
              <a:ext cx="1555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PyTorch 2.4 / NumPy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16742" y="233314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MLP 6→32→32→2 (CUDA)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16742" y="2542699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DeepSeek-V4-Flash (L1)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16742" y="2752249"/>
              <a:ext cx="16765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DeepSeek-V4-Pro (L2)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18648" y="2977991"/>
              <a:ext cx="14849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C00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速度 / 精度 / 国产化兼得</a:t>
              </a:r>
              <a:endParaRPr lang="zh-CN" sz="825" dirty="0">
                <a:solidFill>
                  <a:srgbClr val="CC00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096250" y="1314450"/>
            <a:ext cx="3714750" cy="1857375"/>
            <a:chOff x="8096250" y="1314450"/>
            <a:chExt cx="3714750" cy="1857375"/>
          </a:xfrm>
        </p:grpSpPr>
        <p:sp>
          <p:nvSpPr>
            <p:cNvPr id="40" name="Freeform 40"/>
            <p:cNvSpPr/>
            <p:nvPr/>
          </p:nvSpPr>
          <p:spPr>
            <a:xfrm>
              <a:off x="8096250" y="1314450"/>
              <a:ext cx="3714750" cy="1857375"/>
            </a:xfrm>
            <a:custGeom>
              <a:avLst/>
              <a:gdLst/>
              <a:ahLst/>
              <a:cxnLst/>
              <a:rect l="l" t="t" r="r" b="b"/>
              <a:pathLst>
                <a:path w="3714750" h="1857375">
                  <a:moveTo>
                    <a:pt x="57150" y="0"/>
                  </a:moveTo>
                  <a:lnTo>
                    <a:pt x="3657600" y="0"/>
                  </a:lnTo>
                  <a:cubicBezTo>
                    <a:pt x="3689163" y="0"/>
                    <a:pt x="3714750" y="25587"/>
                    <a:pt x="3714750" y="57150"/>
                  </a:cubicBezTo>
                  <a:lnTo>
                    <a:pt x="3714750" y="1800225"/>
                  </a:lnTo>
                  <a:cubicBezTo>
                    <a:pt x="3714750" y="1831788"/>
                    <a:pt x="3689163" y="1857375"/>
                    <a:pt x="3657600" y="1857375"/>
                  </a:cubicBezTo>
                  <a:lnTo>
                    <a:pt x="57150" y="1857375"/>
                  </a:lnTo>
                  <a:cubicBezTo>
                    <a:pt x="25587" y="1857375"/>
                    <a:pt x="0" y="1831788"/>
                    <a:pt x="0" y="1800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96250" y="1314450"/>
              <a:ext cx="57150" cy="1857375"/>
            </a:xfrm>
            <a:prstGeom prst="rect">
              <a:avLst/>
            </a:prstGeom>
            <a:solidFill>
              <a:srgbClr val="17A2B8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327231" y="1526381"/>
              <a:ext cx="300038" cy="300038"/>
            </a:xfrm>
            <a:custGeom>
              <a:avLst/>
              <a:gdLst/>
              <a:ahLst/>
              <a:cxnLst/>
              <a:rect l="l" t="t" r="r" b="b"/>
              <a:pathLst>
                <a:path w="300038" h="300038">
                  <a:moveTo>
                    <a:pt x="128588" y="0"/>
                  </a:moveTo>
                  <a:lnTo>
                    <a:pt x="0" y="0"/>
                  </a:lnTo>
                  <a:lnTo>
                    <a:pt x="0" y="128588"/>
                  </a:lnTo>
                  <a:lnTo>
                    <a:pt x="128588" y="128588"/>
                  </a:lnTo>
                  <a:lnTo>
                    <a:pt x="128588" y="0"/>
                  </a:lnTo>
                  <a:close/>
                  <a:moveTo>
                    <a:pt x="128588" y="171450"/>
                  </a:moveTo>
                  <a:lnTo>
                    <a:pt x="0" y="171450"/>
                  </a:lnTo>
                  <a:lnTo>
                    <a:pt x="0" y="300038"/>
                  </a:lnTo>
                  <a:lnTo>
                    <a:pt x="128588" y="300038"/>
                  </a:lnTo>
                  <a:lnTo>
                    <a:pt x="128588" y="171450"/>
                  </a:lnTo>
                  <a:close/>
                  <a:moveTo>
                    <a:pt x="171450" y="0"/>
                  </a:moveTo>
                  <a:lnTo>
                    <a:pt x="300038" y="0"/>
                  </a:lnTo>
                  <a:lnTo>
                    <a:pt x="300038" y="128588"/>
                  </a:lnTo>
                  <a:lnTo>
                    <a:pt x="171450" y="128588"/>
                  </a:lnTo>
                  <a:lnTo>
                    <a:pt x="171450" y="0"/>
                  </a:lnTo>
                  <a:close/>
                  <a:moveTo>
                    <a:pt x="300038" y="171450"/>
                  </a:moveTo>
                  <a:lnTo>
                    <a:pt x="171450" y="171450"/>
                  </a:lnTo>
                  <a:lnTo>
                    <a:pt x="171450" y="300038"/>
                  </a:lnTo>
                  <a:lnTo>
                    <a:pt x="300038" y="300038"/>
                  </a:lnTo>
                  <a:lnTo>
                    <a:pt x="300038" y="171450"/>
                  </a:lnTo>
                  <a:close/>
                </a:path>
              </a:pathLst>
            </a:custGeom>
            <a:solidFill>
              <a:srgbClr val="17A2B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45855" y="1568768"/>
              <a:ext cx="1597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 / Frontend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52522" y="1815941"/>
              <a:ext cx="10993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REACT 18 + VITE 5.4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5" name="Line 45"/>
            <p:cNvSpPr/>
            <p:nvPr/>
          </p:nvSpPr>
          <p:spPr>
            <a:xfrm>
              <a:off x="8286750" y="20193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74368" y="21235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React 18 + TypeScript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74368" y="2333149"/>
              <a:ext cx="1719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React Router v6 多视图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4368" y="254269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Tailwind CSS + 变量主题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74368" y="2752249"/>
              <a:ext cx="1455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Vite 5.4 极速热更新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76272" y="2977991"/>
              <a:ext cx="15873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A2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类型安全 / 主题零成本切换</a:t>
              </a:r>
              <a:endParaRPr lang="zh-CN" sz="825" dirty="0">
                <a:solidFill>
                  <a:srgbClr val="17A2B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65760" y="3394710"/>
            <a:ext cx="4949285" cy="405765"/>
            <a:chOff x="365760" y="3394710"/>
            <a:chExt cx="4949285" cy="405765"/>
          </a:xfrm>
        </p:grpSpPr>
        <p:sp>
          <p:nvSpPr>
            <p:cNvPr id="52" name="TextBox 52"/>
            <p:cNvSpPr txBox="1"/>
            <p:nvPr/>
          </p:nvSpPr>
          <p:spPr>
            <a:xfrm>
              <a:off x="365760" y="3394710"/>
              <a:ext cx="45114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FastAPI Lifespan 启动管线 / Async Startup Pipeline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69570" y="3617595"/>
              <a:ext cx="49454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@asynccontextmanager async def lifespan(app): &lt; ··· &gt; yield &lt; cleanup ··· &gt;</a:t>
              </a:r>
              <a:endParaRPr lang="zh-CN" sz="900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81000" y="3924300"/>
            <a:ext cx="2762250" cy="2143125"/>
            <a:chOff x="381000" y="3924300"/>
            <a:chExt cx="2762250" cy="2143125"/>
          </a:xfrm>
        </p:grpSpPr>
        <p:sp>
          <p:nvSpPr>
            <p:cNvPr id="55" name="Freeform 55"/>
            <p:cNvSpPr/>
            <p:nvPr/>
          </p:nvSpPr>
          <p:spPr>
            <a:xfrm>
              <a:off x="381000" y="3924300"/>
              <a:ext cx="2762250" cy="2143125"/>
            </a:xfrm>
            <a:custGeom>
              <a:avLst/>
              <a:gdLst/>
              <a:ahLst/>
              <a:cxnLst/>
              <a:rect l="l" t="t" r="r" b="b"/>
              <a:pathLst>
                <a:path w="2762250" h="2143125">
                  <a:moveTo>
                    <a:pt x="57150" y="0"/>
                  </a:moveTo>
                  <a:lnTo>
                    <a:pt x="2705100" y="0"/>
                  </a:lnTo>
                  <a:cubicBezTo>
                    <a:pt x="2736663" y="0"/>
                    <a:pt x="2762250" y="25587"/>
                    <a:pt x="2762250" y="57150"/>
                  </a:cubicBezTo>
                  <a:lnTo>
                    <a:pt x="2762250" y="2085975"/>
                  </a:lnTo>
                  <a:cubicBezTo>
                    <a:pt x="2762250" y="2117538"/>
                    <a:pt x="2736663" y="2143125"/>
                    <a:pt x="2705100" y="2143125"/>
                  </a:cubicBezTo>
                  <a:lnTo>
                    <a:pt x="57150" y="2143125"/>
                  </a:lnTo>
                  <a:cubicBezTo>
                    <a:pt x="25587" y="2143125"/>
                    <a:pt x="0" y="2117538"/>
                    <a:pt x="0" y="20859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66CC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381000" y="3924300"/>
              <a:ext cx="2762250" cy="323850"/>
            </a:xfrm>
            <a:custGeom>
              <a:avLst/>
              <a:gdLst/>
              <a:ahLst/>
              <a:cxnLst/>
              <a:rect l="l" t="t" r="r" b="b"/>
              <a:pathLst>
                <a:path w="2762250" h="323850">
                  <a:moveTo>
                    <a:pt x="57150" y="0"/>
                  </a:moveTo>
                  <a:lnTo>
                    <a:pt x="2705100" y="0"/>
                  </a:lnTo>
                  <a:cubicBezTo>
                    <a:pt x="2736663" y="0"/>
                    <a:pt x="2762250" y="25587"/>
                    <a:pt x="2762250" y="57150"/>
                  </a:cubicBezTo>
                  <a:lnTo>
                    <a:pt x="2762250" y="266700"/>
                  </a:lnTo>
                  <a:cubicBezTo>
                    <a:pt x="2762250" y="298263"/>
                    <a:pt x="2736663" y="323850"/>
                    <a:pt x="270510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81000" y="4095750"/>
              <a:ext cx="2762250" cy="1524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12445" y="4036695"/>
              <a:ext cx="4852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 01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664000" y="40447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~ 1.5 s</a:t>
              </a:r>
              <a:endParaRPr lang="zh-CN" sz="825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08635" y="439483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分类器初始化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11492" y="4609624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load_or_train()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Line 62"/>
            <p:cNvSpPr/>
            <p:nvPr/>
          </p:nvSpPr>
          <p:spPr>
            <a:xfrm>
              <a:off x="523875" y="48387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12445" y="4951095"/>
              <a:ext cx="11072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优先加载 .pt 权重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12445" y="51415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否则线程池现场训练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12445" y="53320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不阻塞事件循环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Freeform 66"/>
            <p:cNvSpPr/>
            <p:nvPr/>
          </p:nvSpPr>
          <p:spPr>
            <a:xfrm>
              <a:off x="523875" y="5572125"/>
              <a:ext cx="2286000" cy="361950"/>
            </a:xfrm>
            <a:custGeom>
              <a:avLst/>
              <a:gdLst/>
              <a:ahLst/>
              <a:cxnLst/>
              <a:rect l="l" t="t" r="r" b="b"/>
              <a:pathLst>
                <a:path w="2286000" h="361950">
                  <a:moveTo>
                    <a:pt x="28575" y="0"/>
                  </a:moveTo>
                  <a:lnTo>
                    <a:pt x="2257425" y="0"/>
                  </a:lnTo>
                  <a:cubicBezTo>
                    <a:pt x="2273207" y="0"/>
                    <a:pt x="2286000" y="12793"/>
                    <a:pt x="2286000" y="28575"/>
                  </a:cubicBezTo>
                  <a:lnTo>
                    <a:pt x="2286000" y="333375"/>
                  </a:lnTo>
                  <a:cubicBezTo>
                    <a:pt x="2286000" y="349157"/>
                    <a:pt x="2273207" y="361950"/>
                    <a:pt x="2257425" y="361950"/>
                  </a:cubicBezTo>
                  <a:lnTo>
                    <a:pt x="28575" y="361950"/>
                  </a:lnTo>
                  <a:cubicBezTo>
                    <a:pt x="12793" y="361950"/>
                    <a:pt x="0" y="349157"/>
                    <a:pt x="0" y="3333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8648" y="5702141"/>
              <a:ext cx="16837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classifier = MLP().to(cuda)</a:t>
              </a:r>
              <a:endParaRPr lang="zh-CN" sz="825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286125" y="3924300"/>
            <a:ext cx="2762250" cy="2143125"/>
            <a:chOff x="3286125" y="3924300"/>
            <a:chExt cx="2762250" cy="2143125"/>
          </a:xfrm>
        </p:grpSpPr>
        <p:sp>
          <p:nvSpPr>
            <p:cNvPr id="69" name="Freeform 69"/>
            <p:cNvSpPr/>
            <p:nvPr/>
          </p:nvSpPr>
          <p:spPr>
            <a:xfrm>
              <a:off x="3286125" y="3924300"/>
              <a:ext cx="2762250" cy="2143125"/>
            </a:xfrm>
            <a:custGeom>
              <a:avLst/>
              <a:gdLst/>
              <a:ahLst/>
              <a:cxnLst/>
              <a:rect l="l" t="t" r="r" b="b"/>
              <a:pathLst>
                <a:path w="2762250" h="2143125">
                  <a:moveTo>
                    <a:pt x="57150" y="0"/>
                  </a:moveTo>
                  <a:lnTo>
                    <a:pt x="2705100" y="0"/>
                  </a:lnTo>
                  <a:cubicBezTo>
                    <a:pt x="2736663" y="0"/>
                    <a:pt x="2762250" y="25587"/>
                    <a:pt x="2762250" y="57150"/>
                  </a:cubicBezTo>
                  <a:lnTo>
                    <a:pt x="2762250" y="2085975"/>
                  </a:lnTo>
                  <a:cubicBezTo>
                    <a:pt x="2762250" y="2117538"/>
                    <a:pt x="2736663" y="2143125"/>
                    <a:pt x="2705100" y="2143125"/>
                  </a:cubicBezTo>
                  <a:lnTo>
                    <a:pt x="57150" y="2143125"/>
                  </a:lnTo>
                  <a:cubicBezTo>
                    <a:pt x="25587" y="2143125"/>
                    <a:pt x="0" y="2117538"/>
                    <a:pt x="0" y="20859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A500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3286125" y="3924300"/>
              <a:ext cx="2762250" cy="323850"/>
            </a:xfrm>
            <a:custGeom>
              <a:avLst/>
              <a:gdLst/>
              <a:ahLst/>
              <a:cxnLst/>
              <a:rect l="l" t="t" r="r" b="b"/>
              <a:pathLst>
                <a:path w="2762250" h="323850">
                  <a:moveTo>
                    <a:pt x="57150" y="0"/>
                  </a:moveTo>
                  <a:lnTo>
                    <a:pt x="2705100" y="0"/>
                  </a:lnTo>
                  <a:cubicBezTo>
                    <a:pt x="2736663" y="0"/>
                    <a:pt x="2762250" y="25587"/>
                    <a:pt x="2762250" y="57150"/>
                  </a:cubicBezTo>
                  <a:lnTo>
                    <a:pt x="2762250" y="266700"/>
                  </a:lnTo>
                  <a:cubicBezTo>
                    <a:pt x="2762250" y="298263"/>
                    <a:pt x="2736663" y="323850"/>
                    <a:pt x="270510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A500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3286125" y="4095750"/>
              <a:ext cx="2762250" cy="152400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417570" y="4036695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 02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569125" y="40447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~ 0.1 s</a:t>
              </a:r>
              <a:endParaRPr lang="zh-CN" sz="825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413760" y="4394835"/>
              <a:ext cx="11254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监控启动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416618" y="4609624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spillover_monitor.start()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Line 76"/>
            <p:cNvSpPr/>
            <p:nvPr/>
          </p:nvSpPr>
          <p:spPr>
            <a:xfrm>
              <a:off x="3429000" y="48387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417570" y="4951095"/>
              <a:ext cx="8641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 个 GPU 单元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417570" y="514159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负载随机漂移协程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417570" y="5332095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 500ms 更新一次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Freeform 80"/>
            <p:cNvSpPr/>
            <p:nvPr/>
          </p:nvSpPr>
          <p:spPr>
            <a:xfrm>
              <a:off x="3429000" y="5572125"/>
              <a:ext cx="2286000" cy="361950"/>
            </a:xfrm>
            <a:custGeom>
              <a:avLst/>
              <a:gdLst/>
              <a:ahLst/>
              <a:cxnLst/>
              <a:rect l="l" t="t" r="r" b="b"/>
              <a:pathLst>
                <a:path w="2286000" h="361950">
                  <a:moveTo>
                    <a:pt x="28575" y="0"/>
                  </a:moveTo>
                  <a:lnTo>
                    <a:pt x="2257425" y="0"/>
                  </a:lnTo>
                  <a:cubicBezTo>
                    <a:pt x="2273207" y="0"/>
                    <a:pt x="2286000" y="12793"/>
                    <a:pt x="2286000" y="28575"/>
                  </a:cubicBezTo>
                  <a:lnTo>
                    <a:pt x="2286000" y="333375"/>
                  </a:lnTo>
                  <a:cubicBezTo>
                    <a:pt x="2286000" y="349157"/>
                    <a:pt x="2273207" y="361950"/>
                    <a:pt x="2257425" y="361950"/>
                  </a:cubicBezTo>
                  <a:lnTo>
                    <a:pt x="28575" y="361950"/>
                  </a:lnTo>
                  <a:cubicBezTo>
                    <a:pt x="12793" y="361950"/>
                    <a:pt x="0" y="349157"/>
                    <a:pt x="0" y="3333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3513772" y="5702141"/>
              <a:ext cx="14909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9770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10 × asyncio.create_task</a:t>
              </a:r>
              <a:endParaRPr lang="zh-CN" sz="825" dirty="0">
                <a:solidFill>
                  <a:srgbClr val="D9770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6191250" y="3924300"/>
            <a:ext cx="2762250" cy="2143125"/>
            <a:chOff x="6191250" y="3924300"/>
            <a:chExt cx="2762250" cy="2143125"/>
          </a:xfrm>
        </p:grpSpPr>
        <p:sp>
          <p:nvSpPr>
            <p:cNvPr id="83" name="Freeform 83"/>
            <p:cNvSpPr/>
            <p:nvPr/>
          </p:nvSpPr>
          <p:spPr>
            <a:xfrm>
              <a:off x="6191250" y="3924300"/>
              <a:ext cx="2762250" cy="2143125"/>
            </a:xfrm>
            <a:custGeom>
              <a:avLst/>
              <a:gdLst/>
              <a:ahLst/>
              <a:cxnLst/>
              <a:rect l="l" t="t" r="r" b="b"/>
              <a:pathLst>
                <a:path w="2762250" h="2143125">
                  <a:moveTo>
                    <a:pt x="57150" y="0"/>
                  </a:moveTo>
                  <a:lnTo>
                    <a:pt x="2705100" y="0"/>
                  </a:lnTo>
                  <a:cubicBezTo>
                    <a:pt x="2736663" y="0"/>
                    <a:pt x="2762250" y="25587"/>
                    <a:pt x="2762250" y="57150"/>
                  </a:cubicBezTo>
                  <a:lnTo>
                    <a:pt x="2762250" y="2085975"/>
                  </a:lnTo>
                  <a:cubicBezTo>
                    <a:pt x="2762250" y="2117538"/>
                    <a:pt x="2736663" y="2143125"/>
                    <a:pt x="2705100" y="2143125"/>
                  </a:cubicBezTo>
                  <a:lnTo>
                    <a:pt x="57150" y="2143125"/>
                  </a:lnTo>
                  <a:cubicBezTo>
                    <a:pt x="25587" y="2143125"/>
                    <a:pt x="0" y="2117538"/>
                    <a:pt x="0" y="20859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28A745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6191250" y="3924300"/>
              <a:ext cx="2762250" cy="323850"/>
            </a:xfrm>
            <a:custGeom>
              <a:avLst/>
              <a:gdLst/>
              <a:ahLst/>
              <a:cxnLst/>
              <a:rect l="l" t="t" r="r" b="b"/>
              <a:pathLst>
                <a:path w="2762250" h="323850">
                  <a:moveTo>
                    <a:pt x="57150" y="0"/>
                  </a:moveTo>
                  <a:lnTo>
                    <a:pt x="2705100" y="0"/>
                  </a:lnTo>
                  <a:cubicBezTo>
                    <a:pt x="2736663" y="0"/>
                    <a:pt x="2762250" y="25587"/>
                    <a:pt x="2762250" y="57150"/>
                  </a:cubicBezTo>
                  <a:lnTo>
                    <a:pt x="2762250" y="266700"/>
                  </a:lnTo>
                  <a:cubicBezTo>
                    <a:pt x="2762250" y="298263"/>
                    <a:pt x="2736663" y="323850"/>
                    <a:pt x="270510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8A745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191250" y="4095750"/>
              <a:ext cx="2762250" cy="152400"/>
            </a:xfrm>
            <a:prstGeom prst="rect">
              <a:avLst/>
            </a:prstGeom>
            <a:solidFill>
              <a:srgbClr val="28A745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322695" y="4036695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 03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77857" y="40447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~ 0.05 s</a:t>
              </a:r>
              <a:endParaRPr lang="zh-CN" sz="825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318885" y="43948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双缓冲启动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321742" y="4609624"/>
              <a:ext cx="1555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ping_pong_db.start()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0" name="Line 90"/>
            <p:cNvSpPr/>
            <p:nvPr/>
          </p:nvSpPr>
          <p:spPr>
            <a:xfrm>
              <a:off x="6334125" y="48387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322695" y="495109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DB_A / DB_B 初始化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322695" y="5141595"/>
              <a:ext cx="10678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3s 翻转-处理循环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322695" y="5332095"/>
              <a:ext cx="9561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指针 = "A" 初值</a:t>
              </a:r>
              <a:endParaRPr lang="zh-CN" sz="90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4" name="Freeform 94"/>
            <p:cNvSpPr/>
            <p:nvPr/>
          </p:nvSpPr>
          <p:spPr>
            <a:xfrm>
              <a:off x="6334125" y="5572125"/>
              <a:ext cx="2286000" cy="361950"/>
            </a:xfrm>
            <a:custGeom>
              <a:avLst/>
              <a:gdLst/>
              <a:ahLst/>
              <a:cxnLst/>
              <a:rect l="l" t="t" r="r" b="b"/>
              <a:pathLst>
                <a:path w="2286000" h="361950">
                  <a:moveTo>
                    <a:pt x="28575" y="0"/>
                  </a:moveTo>
                  <a:lnTo>
                    <a:pt x="2257425" y="0"/>
                  </a:lnTo>
                  <a:cubicBezTo>
                    <a:pt x="2273207" y="0"/>
                    <a:pt x="2286000" y="12793"/>
                    <a:pt x="2286000" y="28575"/>
                  </a:cubicBezTo>
                  <a:lnTo>
                    <a:pt x="2286000" y="333375"/>
                  </a:lnTo>
                  <a:cubicBezTo>
                    <a:pt x="2286000" y="349157"/>
                    <a:pt x="2273207" y="361950"/>
                    <a:pt x="2257425" y="361950"/>
                  </a:cubicBezTo>
                  <a:lnTo>
                    <a:pt x="28575" y="361950"/>
                  </a:lnTo>
                  <a:cubicBezTo>
                    <a:pt x="12793" y="361950"/>
                    <a:pt x="0" y="349157"/>
                    <a:pt x="0" y="3333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418898" y="5702141"/>
              <a:ext cx="14307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8A74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flip_loop · process_loop</a:t>
              </a:r>
              <a:endParaRPr lang="zh-CN" sz="825" dirty="0">
                <a:solidFill>
                  <a:srgbClr val="28A74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096375" y="3924300"/>
            <a:ext cx="2714625" cy="2143125"/>
            <a:chOff x="9096375" y="3924300"/>
            <a:chExt cx="2714625" cy="2143125"/>
          </a:xfrm>
        </p:grpSpPr>
        <p:sp>
          <p:nvSpPr>
            <p:cNvPr id="97" name="Freeform 97"/>
            <p:cNvSpPr/>
            <p:nvPr/>
          </p:nvSpPr>
          <p:spPr>
            <a:xfrm>
              <a:off x="9096375" y="3924300"/>
              <a:ext cx="2714625" cy="2143125"/>
            </a:xfrm>
            <a:custGeom>
              <a:avLst/>
              <a:gdLst/>
              <a:ahLst/>
              <a:cxnLst/>
              <a:rect l="l" t="t" r="r" b="b"/>
              <a:pathLst>
                <a:path w="2714625" h="2143125">
                  <a:moveTo>
                    <a:pt x="57150" y="0"/>
                  </a:moveTo>
                  <a:lnTo>
                    <a:pt x="2657475" y="0"/>
                  </a:lnTo>
                  <a:cubicBezTo>
                    <a:pt x="2689038" y="0"/>
                    <a:pt x="2714625" y="25587"/>
                    <a:pt x="2714625" y="57150"/>
                  </a:cubicBezTo>
                  <a:lnTo>
                    <a:pt x="2714625" y="2085975"/>
                  </a:lnTo>
                  <a:cubicBezTo>
                    <a:pt x="2714625" y="2117538"/>
                    <a:pt x="2689038" y="2143125"/>
                    <a:pt x="2657475" y="2143125"/>
                  </a:cubicBezTo>
                  <a:lnTo>
                    <a:pt x="57150" y="2143125"/>
                  </a:lnTo>
                  <a:cubicBezTo>
                    <a:pt x="25587" y="2143125"/>
                    <a:pt x="0" y="2117538"/>
                    <a:pt x="0" y="20859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8" name="Freeform 98"/>
            <p:cNvSpPr/>
            <p:nvPr/>
          </p:nvSpPr>
          <p:spPr>
            <a:xfrm>
              <a:off x="9096375" y="3924300"/>
              <a:ext cx="2714625" cy="323850"/>
            </a:xfrm>
            <a:custGeom>
              <a:avLst/>
              <a:gdLst/>
              <a:ahLst/>
              <a:cxnLst/>
              <a:rect l="l" t="t" r="r" b="b"/>
              <a:pathLst>
                <a:path w="2714625" h="323850">
                  <a:moveTo>
                    <a:pt x="57150" y="0"/>
                  </a:moveTo>
                  <a:lnTo>
                    <a:pt x="2657475" y="0"/>
                  </a:lnTo>
                  <a:cubicBezTo>
                    <a:pt x="2689038" y="0"/>
                    <a:pt x="2714625" y="25587"/>
                    <a:pt x="2714625" y="57150"/>
                  </a:cubicBezTo>
                  <a:lnTo>
                    <a:pt x="2714625" y="266700"/>
                  </a:lnTo>
                  <a:cubicBezTo>
                    <a:pt x="2714625" y="298263"/>
                    <a:pt x="2689038" y="323850"/>
                    <a:pt x="2657475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9096375" y="4095750"/>
              <a:ext cx="2714625" cy="1524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9227820" y="4036695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 04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337774" y="404479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∞ runs</a:t>
              </a:r>
              <a:endParaRPr lang="zh-CN" sz="825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224010" y="439483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数据管道启动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226868" y="4609624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run_data_pipeline()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4" name="Line 104"/>
            <p:cNvSpPr/>
            <p:nvPr/>
          </p:nvSpPr>
          <p:spPr>
            <a:xfrm>
              <a:off x="9239250" y="4838700"/>
              <a:ext cx="2428875" cy="9525"/>
            </a:xfrm>
            <a:custGeom>
              <a:avLst/>
              <a:gdLst/>
              <a:ahLst/>
              <a:cxnLst/>
              <a:rect l="l" t="t" r="r" b="b"/>
              <a:pathLst>
                <a:path w="2428875" h="9525">
                  <a:moveTo>
                    <a:pt x="0" y="0"/>
                  </a:moveTo>
                  <a:lnTo>
                    <a:pt x="2428875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227820" y="4951095"/>
              <a:ext cx="11598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后台 asyncio.Task</a:t>
              </a:r>
              <a:endParaRPr lang="zh-CN" sz="900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227820" y="51415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持续驱动数据流</a:t>
              </a:r>
              <a:endParaRPr lang="zh-CN" sz="900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227820" y="53320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直至应用关闭</a:t>
              </a:r>
              <a:endParaRPr lang="zh-CN" sz="900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8" name="Freeform 108"/>
            <p:cNvSpPr/>
            <p:nvPr/>
          </p:nvSpPr>
          <p:spPr>
            <a:xfrm>
              <a:off x="9239250" y="5572125"/>
              <a:ext cx="2286000" cy="361950"/>
            </a:xfrm>
            <a:custGeom>
              <a:avLst/>
              <a:gdLst/>
              <a:ahLst/>
              <a:cxnLst/>
              <a:rect l="l" t="t" r="r" b="b"/>
              <a:pathLst>
                <a:path w="2286000" h="361950">
                  <a:moveTo>
                    <a:pt x="28575" y="0"/>
                  </a:moveTo>
                  <a:lnTo>
                    <a:pt x="2257425" y="0"/>
                  </a:lnTo>
                  <a:cubicBezTo>
                    <a:pt x="2273207" y="0"/>
                    <a:pt x="2286000" y="12793"/>
                    <a:pt x="2286000" y="28575"/>
                  </a:cubicBezTo>
                  <a:lnTo>
                    <a:pt x="2286000" y="333375"/>
                  </a:lnTo>
                  <a:cubicBezTo>
                    <a:pt x="2286000" y="349157"/>
                    <a:pt x="2273207" y="361950"/>
                    <a:pt x="2257425" y="361950"/>
                  </a:cubicBezTo>
                  <a:lnTo>
                    <a:pt x="28575" y="361950"/>
                  </a:lnTo>
                  <a:cubicBezTo>
                    <a:pt x="12793" y="361950"/>
                    <a:pt x="0" y="349157"/>
                    <a:pt x="0" y="3333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324022" y="5702141"/>
              <a:ext cx="13644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generate → route → ai</a:t>
              </a:r>
              <a:endParaRPr lang="zh-CN" sz="825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381000" y="6334125"/>
            <a:ext cx="11442382" cy="378619"/>
            <a:chOff x="381000" y="6334125"/>
            <a:chExt cx="11442382" cy="378619"/>
          </a:xfrm>
        </p:grpSpPr>
        <p:sp>
          <p:nvSpPr>
            <p:cNvPr id="111" name="Line 111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5525929" y="6522720"/>
              <a:ext cx="1140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IV · 技术实现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357181" y="6514624"/>
              <a:ext cx="466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16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50419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 · 技术实现 / API 矩阵与现场演示触发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37426" y="332899"/>
              <a:ext cx="985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IV · 2 / 2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65763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7 个端点覆盖系统全部观测面 — 一键 /api/spike 现场演示溢出保护机制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65760" y="1394460"/>
            <a:ext cx="7444740" cy="2482215"/>
            <a:chOff x="365760" y="1394460"/>
            <a:chExt cx="7444740" cy="2482215"/>
          </a:xfrm>
        </p:grpSpPr>
        <p:sp>
          <p:nvSpPr>
            <p:cNvPr id="12" name="TextBox 12"/>
            <p:cNvSpPr txBox="1"/>
            <p:nvPr/>
          </p:nvSpPr>
          <p:spPr>
            <a:xfrm>
              <a:off x="365760" y="1394460"/>
              <a:ext cx="29656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 · REST 端点 / RESTful Endpoints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381000" y="1666875"/>
              <a:ext cx="7429500" cy="361950"/>
            </a:xfrm>
            <a:custGeom>
              <a:avLst/>
              <a:gdLst/>
              <a:ahLst/>
              <a:cxnLst/>
              <a:rect l="l" t="t" r="r" b="b"/>
              <a:pathLst>
                <a:path w="7429500" h="361950">
                  <a:moveTo>
                    <a:pt x="38100" y="0"/>
                  </a:moveTo>
                  <a:lnTo>
                    <a:pt x="7391400" y="0"/>
                  </a:lnTo>
                  <a:cubicBezTo>
                    <a:pt x="7412442" y="0"/>
                    <a:pt x="7429500" y="17058"/>
                    <a:pt x="7429500" y="38100"/>
                  </a:cubicBezTo>
                  <a:lnTo>
                    <a:pt x="7429500" y="323850"/>
                  </a:lnTo>
                  <a:cubicBezTo>
                    <a:pt x="7429500" y="344892"/>
                    <a:pt x="7412442" y="361950"/>
                    <a:pt x="7391400" y="361950"/>
                  </a:cubicBezTo>
                  <a:lnTo>
                    <a:pt x="38100" y="361950"/>
                  </a:lnTo>
                  <a:cubicBezTo>
                    <a:pt x="17058" y="361950"/>
                    <a:pt x="0" y="344892"/>
                    <a:pt x="0" y="3238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6742" y="1799749"/>
              <a:ext cx="5779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METHOD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2118" y="179974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PATH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45368" y="17997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用途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" y="2028825"/>
              <a:ext cx="7429500" cy="361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23875" y="2124075"/>
              <a:ext cx="619125" cy="209550"/>
            </a:xfrm>
            <a:custGeom>
              <a:avLst/>
              <a:gdLst/>
              <a:ahLst/>
              <a:cxnLst/>
              <a:rect l="l" t="t" r="r" b="b"/>
              <a:pathLst>
                <a:path w="619125" h="209550">
                  <a:moveTo>
                    <a:pt x="28575" y="0"/>
                  </a:moveTo>
                  <a:lnTo>
                    <a:pt x="590550" y="0"/>
                  </a:lnTo>
                  <a:cubicBezTo>
                    <a:pt x="606332" y="0"/>
                    <a:pt x="619125" y="12793"/>
                    <a:pt x="619125" y="28575"/>
                  </a:cubicBezTo>
                  <a:lnTo>
                    <a:pt x="619125" y="180975"/>
                  </a:lnTo>
                  <a:cubicBezTo>
                    <a:pt x="619125" y="196757"/>
                    <a:pt x="606332" y="209550"/>
                    <a:pt x="590550" y="209550"/>
                  </a:cubicBezTo>
                  <a:lnTo>
                    <a:pt x="28575" y="209550"/>
                  </a:lnTo>
                  <a:cubicBezTo>
                    <a:pt x="12793" y="209550"/>
                    <a:pt x="0" y="196757"/>
                    <a:pt x="0" y="1809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8A74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3381" y="2179320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GET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2118" y="2152174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33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/health</a:t>
              </a:r>
              <a:endParaRPr lang="zh-CN" sz="975" b="1" dirty="0">
                <a:solidFill>
                  <a:srgbClr val="0033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45368" y="2152174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健康检查（liveness probe）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1000" y="2390775"/>
              <a:ext cx="7429500" cy="361950"/>
            </a:xfrm>
            <a:prstGeom prst="rect">
              <a:avLst/>
            </a:pr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23875" y="2486025"/>
              <a:ext cx="619125" cy="209550"/>
            </a:xfrm>
            <a:custGeom>
              <a:avLst/>
              <a:gdLst/>
              <a:ahLst/>
              <a:cxnLst/>
              <a:rect l="l" t="t" r="r" b="b"/>
              <a:pathLst>
                <a:path w="619125" h="209550">
                  <a:moveTo>
                    <a:pt x="28575" y="0"/>
                  </a:moveTo>
                  <a:lnTo>
                    <a:pt x="590550" y="0"/>
                  </a:lnTo>
                  <a:cubicBezTo>
                    <a:pt x="606332" y="0"/>
                    <a:pt x="619125" y="12793"/>
                    <a:pt x="619125" y="28575"/>
                  </a:cubicBezTo>
                  <a:lnTo>
                    <a:pt x="619125" y="180975"/>
                  </a:lnTo>
                  <a:cubicBezTo>
                    <a:pt x="619125" y="196757"/>
                    <a:pt x="606332" y="209550"/>
                    <a:pt x="590550" y="209550"/>
                  </a:cubicBezTo>
                  <a:lnTo>
                    <a:pt x="28575" y="209550"/>
                  </a:lnTo>
                  <a:cubicBezTo>
                    <a:pt x="12793" y="209550"/>
                    <a:pt x="0" y="196757"/>
                    <a:pt x="0" y="1809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8A74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3381" y="2541270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GET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2118" y="2514124"/>
              <a:ext cx="11087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33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/api/classifier</a:t>
              </a:r>
              <a:endParaRPr lang="zh-CN" sz="975" b="1" dirty="0">
                <a:solidFill>
                  <a:srgbClr val="0033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45368" y="2514124"/>
              <a:ext cx="25808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分类器训练报告（device / acc / loss）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1000" y="2752725"/>
              <a:ext cx="7429500" cy="361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23875" y="2847975"/>
              <a:ext cx="619125" cy="209550"/>
            </a:xfrm>
            <a:custGeom>
              <a:avLst/>
              <a:gdLst/>
              <a:ahLst/>
              <a:cxnLst/>
              <a:rect l="l" t="t" r="r" b="b"/>
              <a:pathLst>
                <a:path w="619125" h="209550">
                  <a:moveTo>
                    <a:pt x="28575" y="0"/>
                  </a:moveTo>
                  <a:lnTo>
                    <a:pt x="590550" y="0"/>
                  </a:lnTo>
                  <a:cubicBezTo>
                    <a:pt x="606332" y="0"/>
                    <a:pt x="619125" y="12793"/>
                    <a:pt x="619125" y="28575"/>
                  </a:cubicBezTo>
                  <a:lnTo>
                    <a:pt x="619125" y="180975"/>
                  </a:lnTo>
                  <a:cubicBezTo>
                    <a:pt x="619125" y="196757"/>
                    <a:pt x="606332" y="209550"/>
                    <a:pt x="590550" y="209550"/>
                  </a:cubicBezTo>
                  <a:lnTo>
                    <a:pt x="28575" y="209550"/>
                  </a:lnTo>
                  <a:cubicBezTo>
                    <a:pt x="12793" y="209550"/>
                    <a:pt x="0" y="196757"/>
                    <a:pt x="0" y="1809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8A74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3381" y="2903220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GET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02118" y="2876074"/>
              <a:ext cx="8844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33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/api/models</a:t>
              </a:r>
              <a:endParaRPr lang="zh-CN" sz="975" b="1" dirty="0">
                <a:solidFill>
                  <a:srgbClr val="0033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45368" y="2876074"/>
              <a:ext cx="25879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L1 / L2 模型铭牌（V4-Flash · V4-Pro）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1000" y="3114675"/>
              <a:ext cx="7429500" cy="361950"/>
            </a:xfrm>
            <a:prstGeom prst="rect">
              <a:avLst/>
            </a:pr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523875" y="3209925"/>
              <a:ext cx="619125" cy="209550"/>
            </a:xfrm>
            <a:custGeom>
              <a:avLst/>
              <a:gdLst/>
              <a:ahLst/>
              <a:cxnLst/>
              <a:rect l="l" t="t" r="r" b="b"/>
              <a:pathLst>
                <a:path w="619125" h="209550">
                  <a:moveTo>
                    <a:pt x="28575" y="0"/>
                  </a:moveTo>
                  <a:lnTo>
                    <a:pt x="590550" y="0"/>
                  </a:lnTo>
                  <a:cubicBezTo>
                    <a:pt x="606332" y="0"/>
                    <a:pt x="619125" y="12793"/>
                    <a:pt x="619125" y="28575"/>
                  </a:cubicBezTo>
                  <a:lnTo>
                    <a:pt x="619125" y="180975"/>
                  </a:lnTo>
                  <a:cubicBezTo>
                    <a:pt x="619125" y="196757"/>
                    <a:pt x="606332" y="209550"/>
                    <a:pt x="590550" y="209550"/>
                  </a:cubicBezTo>
                  <a:lnTo>
                    <a:pt x="28575" y="209550"/>
                  </a:lnTo>
                  <a:cubicBezTo>
                    <a:pt x="12793" y="209550"/>
                    <a:pt x="0" y="196757"/>
                    <a:pt x="0" y="1809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8A74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3381" y="3265170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GET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02118" y="3238024"/>
              <a:ext cx="20507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336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/api/sub/{sub_id}/log?n=30</a:t>
              </a:r>
              <a:endParaRPr lang="zh-CN" sz="975" b="1" dirty="0">
                <a:solidFill>
                  <a:srgbClr val="00336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45368" y="3238024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单艇遥测 + AI 指令历史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81000" y="3476625"/>
              <a:ext cx="7429500" cy="400050"/>
            </a:xfrm>
            <a:prstGeom prst="rect">
              <a:avLst/>
            </a:prstGeom>
            <a:solidFill>
              <a:srgbClr val="CC0000">
                <a:alpha val="10000"/>
              </a:srgbClr>
            </a:solidFill>
            <a:ln w="19050">
              <a:solidFill>
                <a:srgbClr val="CC000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1000" y="3476625"/>
              <a:ext cx="57150" cy="4000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523875" y="3600450"/>
              <a:ext cx="619125" cy="209550"/>
            </a:xfrm>
            <a:custGeom>
              <a:avLst/>
              <a:gdLst/>
              <a:ahLst/>
              <a:cxnLst/>
              <a:rect l="l" t="t" r="r" b="b"/>
              <a:pathLst>
                <a:path w="619125" h="209550">
                  <a:moveTo>
                    <a:pt x="28575" y="0"/>
                  </a:moveTo>
                  <a:lnTo>
                    <a:pt x="590550" y="0"/>
                  </a:lnTo>
                  <a:cubicBezTo>
                    <a:pt x="606332" y="0"/>
                    <a:pt x="619125" y="12793"/>
                    <a:pt x="619125" y="28575"/>
                  </a:cubicBezTo>
                  <a:lnTo>
                    <a:pt x="619125" y="180975"/>
                  </a:lnTo>
                  <a:cubicBezTo>
                    <a:pt x="619125" y="196757"/>
                    <a:pt x="606332" y="209550"/>
                    <a:pt x="590550" y="209550"/>
                  </a:cubicBezTo>
                  <a:lnTo>
                    <a:pt x="28575" y="209550"/>
                  </a:lnTo>
                  <a:cubicBezTo>
                    <a:pt x="12793" y="209550"/>
                    <a:pt x="0" y="196757"/>
                    <a:pt x="0" y="1809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1624" y="3655695"/>
              <a:ext cx="354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POST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02118" y="3628549"/>
              <a:ext cx="16395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C00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/api/spike?duration=5</a:t>
              </a:r>
              <a:endParaRPr lang="zh-CN" sz="975" b="1" dirty="0">
                <a:solidFill>
                  <a:srgbClr val="CC00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45368" y="3628549"/>
              <a:ext cx="21329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C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★ 一键 GPU 尖峰，触发现场溢出</a:t>
              </a:r>
              <a:endParaRPr lang="zh-CN" sz="975" b="1" dirty="0">
                <a:solidFill>
                  <a:srgbClr val="CC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65760" y="4109085"/>
            <a:ext cx="7444740" cy="1358265"/>
            <a:chOff x="365760" y="4109085"/>
            <a:chExt cx="7444740" cy="1358265"/>
          </a:xfrm>
        </p:grpSpPr>
        <p:sp>
          <p:nvSpPr>
            <p:cNvPr id="44" name="TextBox 44"/>
            <p:cNvSpPr txBox="1"/>
            <p:nvPr/>
          </p:nvSpPr>
          <p:spPr>
            <a:xfrm>
              <a:off x="365760" y="4109085"/>
              <a:ext cx="3600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 · WebSocket 通道 / Real-Time Channels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81000" y="4381500"/>
              <a:ext cx="7429500" cy="361950"/>
            </a:xfrm>
            <a:custGeom>
              <a:avLst/>
              <a:gdLst/>
              <a:ahLst/>
              <a:cxnLst/>
              <a:rect l="l" t="t" r="r" b="b"/>
              <a:pathLst>
                <a:path w="7429500" h="361950">
                  <a:moveTo>
                    <a:pt x="38100" y="0"/>
                  </a:moveTo>
                  <a:lnTo>
                    <a:pt x="7391400" y="0"/>
                  </a:lnTo>
                  <a:cubicBezTo>
                    <a:pt x="7412442" y="0"/>
                    <a:pt x="7429500" y="17058"/>
                    <a:pt x="7429500" y="38100"/>
                  </a:cubicBezTo>
                  <a:lnTo>
                    <a:pt x="7429500" y="323850"/>
                  </a:lnTo>
                  <a:cubicBezTo>
                    <a:pt x="7429500" y="344892"/>
                    <a:pt x="7412442" y="361950"/>
                    <a:pt x="7391400" y="361950"/>
                  </a:cubicBezTo>
                  <a:lnTo>
                    <a:pt x="38100" y="361950"/>
                  </a:lnTo>
                  <a:cubicBezTo>
                    <a:pt x="17058" y="361950"/>
                    <a:pt x="0" y="344892"/>
                    <a:pt x="0" y="3238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6742" y="451437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PATH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11742" y="451437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推送内容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74118" y="4514374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频率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81000" y="4743450"/>
              <a:ext cx="7429500" cy="361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7E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23875" y="4838700"/>
              <a:ext cx="57150" cy="2095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2942" y="4866799"/>
              <a:ext cx="877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/ws/center</a:t>
              </a:r>
              <a:endParaRPr lang="zh-CN" sz="975" b="1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11742" y="486679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路由统计 + 事件流 + L0/L1/L2 计数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74118" y="4866799"/>
              <a:ext cx="7050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每 400 ms</a:t>
              </a:r>
              <a:endParaRPr lang="zh-CN" sz="975" b="1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81000" y="5105400"/>
              <a:ext cx="7429500" cy="361950"/>
            </a:xfrm>
            <a:prstGeom prst="rect">
              <a:avLst/>
            </a:pr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23875" y="5200650"/>
              <a:ext cx="57150" cy="209550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2942" y="5228749"/>
              <a:ext cx="7125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/ws/node</a:t>
              </a:r>
              <a:endParaRPr lang="zh-CN" sz="975" b="1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511742" y="522874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10× GPU 遥测 + 双缓冲状态 + 告警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74118" y="5228749"/>
              <a:ext cx="7050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每 500 ms</a:t>
              </a:r>
              <a:endParaRPr lang="zh-CN" sz="975" b="1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81000" y="5581650"/>
            <a:ext cx="7429500" cy="571500"/>
            <a:chOff x="381000" y="5581650"/>
            <a:chExt cx="7429500" cy="571500"/>
          </a:xfrm>
        </p:grpSpPr>
        <p:sp>
          <p:nvSpPr>
            <p:cNvPr id="60" name="Freeform 60"/>
            <p:cNvSpPr/>
            <p:nvPr/>
          </p:nvSpPr>
          <p:spPr>
            <a:xfrm>
              <a:off x="381000" y="5581650"/>
              <a:ext cx="7429500" cy="571500"/>
            </a:xfrm>
            <a:custGeom>
              <a:avLst/>
              <a:gdLst/>
              <a:ahLst/>
              <a:cxnLst/>
              <a:rect l="l" t="t" r="r" b="b"/>
              <a:pathLst>
                <a:path w="7429500" h="571500">
                  <a:moveTo>
                    <a:pt x="38100" y="0"/>
                  </a:moveTo>
                  <a:lnTo>
                    <a:pt x="7391400" y="0"/>
                  </a:lnTo>
                  <a:cubicBezTo>
                    <a:pt x="7412442" y="0"/>
                    <a:pt x="7429500" y="17058"/>
                    <a:pt x="7429500" y="38100"/>
                  </a:cubicBezTo>
                  <a:lnTo>
                    <a:pt x="7429500" y="533400"/>
                  </a:lnTo>
                  <a:cubicBezTo>
                    <a:pt x="7429500" y="554442"/>
                    <a:pt x="7412442" y="571500"/>
                    <a:pt x="7391400" y="571500"/>
                  </a:cubicBezTo>
                  <a:lnTo>
                    <a:pt x="38100" y="571500"/>
                  </a:lnTo>
                  <a:cubicBezTo>
                    <a:pt x="17058" y="571500"/>
                    <a:pt x="0" y="554442"/>
                    <a:pt x="0" y="533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58165" y="5715952"/>
              <a:ext cx="35610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7 endpoints · 全栈类型安全 · OpenAPI 自动生成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60070" y="5941695"/>
              <a:ext cx="37690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F4FC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FastAPI auto-docs at /docs (Swagger UI) · /redoc (ReDoc)</a:t>
              </a:r>
              <a:endParaRPr lang="zh-CN" sz="900" dirty="0">
                <a:solidFill>
                  <a:srgbClr val="E8F4FC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001000" y="1314450"/>
            <a:ext cx="3810000" cy="4838700"/>
            <a:chOff x="8001000" y="1314450"/>
            <a:chExt cx="3810000" cy="4838700"/>
          </a:xfrm>
        </p:grpSpPr>
        <p:sp>
          <p:nvSpPr>
            <p:cNvPr id="64" name="Freeform 64"/>
            <p:cNvSpPr/>
            <p:nvPr/>
          </p:nvSpPr>
          <p:spPr>
            <a:xfrm>
              <a:off x="8001000" y="1314450"/>
              <a:ext cx="3810000" cy="4838700"/>
            </a:xfrm>
            <a:custGeom>
              <a:avLst/>
              <a:gdLst/>
              <a:ahLst/>
              <a:cxnLst/>
              <a:rect l="l" t="t" r="r" b="b"/>
              <a:pathLst>
                <a:path w="3810000" h="48387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4762500"/>
                  </a:lnTo>
                  <a:cubicBezTo>
                    <a:pt x="3810000" y="4804584"/>
                    <a:pt x="3775884" y="4838700"/>
                    <a:pt x="3733800" y="4838700"/>
                  </a:cubicBezTo>
                  <a:lnTo>
                    <a:pt x="76200" y="4838700"/>
                  </a:lnTo>
                  <a:cubicBezTo>
                    <a:pt x="34116" y="4838700"/>
                    <a:pt x="0" y="4804584"/>
                    <a:pt x="0" y="47625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001000" y="1314450"/>
              <a:ext cx="57150" cy="48387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272462" y="1504950"/>
              <a:ext cx="257175" cy="342900"/>
            </a:xfrm>
            <a:custGeom>
              <a:avLst/>
              <a:gdLst/>
              <a:ahLst/>
              <a:cxnLst/>
              <a:rect l="l" t="t" r="r" b="b"/>
              <a:pathLst>
                <a:path w="257175" h="342900">
                  <a:moveTo>
                    <a:pt x="150019" y="150019"/>
                  </a:moveTo>
                  <a:lnTo>
                    <a:pt x="171450" y="0"/>
                  </a:lnTo>
                  <a:lnTo>
                    <a:pt x="128588" y="0"/>
                  </a:lnTo>
                  <a:lnTo>
                    <a:pt x="0" y="150019"/>
                  </a:lnTo>
                  <a:lnTo>
                    <a:pt x="0" y="192881"/>
                  </a:lnTo>
                  <a:lnTo>
                    <a:pt x="107156" y="192881"/>
                  </a:lnTo>
                  <a:lnTo>
                    <a:pt x="85725" y="342900"/>
                  </a:lnTo>
                  <a:lnTo>
                    <a:pt x="128588" y="342900"/>
                  </a:lnTo>
                  <a:lnTo>
                    <a:pt x="257175" y="192881"/>
                  </a:lnTo>
                  <a:lnTo>
                    <a:pt x="257175" y="150019"/>
                  </a:lnTo>
                  <a:lnTo>
                    <a:pt x="150019" y="150019"/>
                  </a:lnTo>
                  <a:close/>
                </a:path>
              </a:pathLst>
            </a:custGeom>
            <a:solidFill>
              <a:srgbClr val="FFA50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669655" y="15687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现场演示触发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76322" y="1815941"/>
              <a:ext cx="10752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8F4FC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LIVE DEMO TRIGGER</a:t>
              </a:r>
              <a:endParaRPr lang="zh-CN" sz="825" dirty="0">
                <a:solidFill>
                  <a:srgbClr val="E8F4FC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16265" y="2172652"/>
              <a:ext cx="1749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A5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单次触发（5 秒尖峰）</a:t>
              </a:r>
              <a:endParaRPr lang="zh-CN" sz="1050" b="1" dirty="0">
                <a:solidFill>
                  <a:srgbClr val="FFA5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Freeform 70"/>
            <p:cNvSpPr/>
            <p:nvPr/>
          </p:nvSpPr>
          <p:spPr>
            <a:xfrm>
              <a:off x="8229600" y="2400300"/>
              <a:ext cx="3390900" cy="438150"/>
            </a:xfrm>
            <a:custGeom>
              <a:avLst/>
              <a:gdLst/>
              <a:ahLst/>
              <a:cxnLst/>
              <a:rect l="l" t="t" r="r" b="b"/>
              <a:pathLst>
                <a:path w="3390900" h="43815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400050"/>
                  </a:lnTo>
                  <a:cubicBezTo>
                    <a:pt x="3390900" y="421092"/>
                    <a:pt x="3373842" y="438150"/>
                    <a:pt x="3352800" y="438150"/>
                  </a:cubicBezTo>
                  <a:lnTo>
                    <a:pt x="38100" y="438150"/>
                  </a:lnTo>
                  <a:cubicBezTo>
                    <a:pt x="17058" y="438150"/>
                    <a:pt x="0" y="421092"/>
                    <a:pt x="0" y="4000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332470" y="2493645"/>
              <a:ext cx="929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curl -X POST \</a:t>
              </a:r>
              <a:endParaRPr lang="zh-CN" sz="900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32470" y="2665095"/>
              <a:ext cx="30395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"http://localhost:8000/api/spike?duration=5"</a:t>
              </a:r>
              <a:endParaRPr lang="zh-CN" sz="900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16265" y="3010852"/>
              <a:ext cx="17737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A5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连续触发（持续过载）</a:t>
              </a:r>
              <a:endParaRPr lang="zh-CN" sz="1050" b="1" dirty="0">
                <a:solidFill>
                  <a:srgbClr val="FFA5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Freeform 74"/>
            <p:cNvSpPr/>
            <p:nvPr/>
          </p:nvSpPr>
          <p:spPr>
            <a:xfrm>
              <a:off x="8229600" y="3238500"/>
              <a:ext cx="3390900" cy="762000"/>
            </a:xfrm>
            <a:custGeom>
              <a:avLst/>
              <a:gdLst/>
              <a:ahLst/>
              <a:cxnLst/>
              <a:rect l="l" t="t" r="r" b="b"/>
              <a:pathLst>
                <a:path w="3390900" h="7620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723900"/>
                  </a:lnTo>
                  <a:cubicBezTo>
                    <a:pt x="3390900" y="744942"/>
                    <a:pt x="3373842" y="762000"/>
                    <a:pt x="3352800" y="762000"/>
                  </a:cubicBezTo>
                  <a:lnTo>
                    <a:pt x="38100" y="762000"/>
                  </a:lnTo>
                  <a:cubicBezTo>
                    <a:pt x="17058" y="762000"/>
                    <a:pt x="0" y="744942"/>
                    <a:pt x="0" y="72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332470" y="3331845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for i in $(seq 1 5); do</a:t>
              </a:r>
              <a:endParaRPr lang="zh-CN" sz="900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32470" y="3503295"/>
              <a:ext cx="929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curl -X POST \</a:t>
              </a:r>
              <a:endParaRPr lang="zh-CN" sz="900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332470" y="3674745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"/api/spike?duration=3"</a:t>
              </a:r>
              <a:endParaRPr lang="zh-CN" sz="900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32470" y="38461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sleep 1</a:t>
              </a:r>
              <a:endParaRPr lang="zh-CN" sz="900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9" name="Line 79"/>
            <p:cNvSpPr/>
            <p:nvPr/>
          </p:nvSpPr>
          <p:spPr>
            <a:xfrm>
              <a:off x="8229600" y="4238625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216265" y="4344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预期效果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Ellipse 81"/>
            <p:cNvSpPr/>
            <p:nvPr/>
          </p:nvSpPr>
          <p:spPr>
            <a:xfrm>
              <a:off x="8305800" y="4667250"/>
              <a:ext cx="76200" cy="76200"/>
            </a:xfrm>
            <a:prstGeom prst="ellipse">
              <a:avLst/>
            </a:prstGeom>
            <a:solidFill>
              <a:srgbClr val="28A745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464868" y="4638199"/>
              <a:ext cx="19898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/node 左栏 GPU 全部飙红 90%+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Ellipse 83"/>
            <p:cNvSpPr/>
            <p:nvPr/>
          </p:nvSpPr>
          <p:spPr>
            <a:xfrm>
              <a:off x="8305800" y="4895850"/>
              <a:ext cx="76200" cy="7620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464868" y="4866799"/>
              <a:ext cx="1783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/node 右栏 红色告警框出现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Ellipse 85"/>
            <p:cNvSpPr/>
            <p:nvPr/>
          </p:nvSpPr>
          <p:spPr>
            <a:xfrm>
              <a:off x="8305800" y="5124450"/>
              <a:ext cx="76200" cy="762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464868" y="5095399"/>
              <a:ext cx="2174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/center 中栏 L1-ESCALATED 暴增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Ellipse 87"/>
            <p:cNvSpPr/>
            <p:nvPr/>
          </p:nvSpPr>
          <p:spPr>
            <a:xfrm>
              <a:off x="8305800" y="5353050"/>
              <a:ext cx="76200" cy="76200"/>
            </a:xfrm>
            <a:prstGeom prst="ellipse">
              <a:avLst/>
            </a:prstGeom>
            <a:solidFill>
              <a:srgbClr val="17A2B8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464868" y="5323999"/>
              <a:ext cx="2139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/center 右栏 L2 深加工日志刷屏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9" name="Ellipse 89"/>
            <p:cNvSpPr/>
            <p:nvPr/>
          </p:nvSpPr>
          <p:spPr>
            <a:xfrm>
              <a:off x="8305800" y="5581650"/>
              <a:ext cx="76200" cy="762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464868" y="5552599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10s 后自动恢复正常负载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1" name="Freeform 91"/>
            <p:cNvSpPr/>
            <p:nvPr/>
          </p:nvSpPr>
          <p:spPr>
            <a:xfrm>
              <a:off x="8229600" y="5829300"/>
              <a:ext cx="3390900" cy="209550"/>
            </a:xfrm>
            <a:custGeom>
              <a:avLst/>
              <a:gdLst/>
              <a:ahLst/>
              <a:cxnLst/>
              <a:rect l="l" t="t" r="r" b="b"/>
              <a:pathLst>
                <a:path w="3390900" h="209550">
                  <a:moveTo>
                    <a:pt x="28575" y="0"/>
                  </a:moveTo>
                  <a:lnTo>
                    <a:pt x="3362325" y="0"/>
                  </a:lnTo>
                  <a:cubicBezTo>
                    <a:pt x="3378107" y="0"/>
                    <a:pt x="3390900" y="12793"/>
                    <a:pt x="3390900" y="28575"/>
                  </a:cubicBezTo>
                  <a:lnTo>
                    <a:pt x="3390900" y="180975"/>
                  </a:lnTo>
                  <a:cubicBezTo>
                    <a:pt x="3390900" y="196757"/>
                    <a:pt x="3378107" y="209550"/>
                    <a:pt x="3362325" y="209550"/>
                  </a:cubicBezTo>
                  <a:lnTo>
                    <a:pt x="28575" y="209550"/>
                  </a:lnTo>
                  <a:cubicBezTo>
                    <a:pt x="12793" y="209550"/>
                    <a:pt x="0" y="196757"/>
                    <a:pt x="0" y="1809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9164876" y="5884545"/>
              <a:ext cx="15203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★ 答辩现场演示首选指令</a:t>
              </a:r>
              <a:endParaRPr lang="zh-CN" sz="90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381000" y="6334125"/>
            <a:ext cx="11442382" cy="378619"/>
            <a:chOff x="381000" y="6334125"/>
            <a:chExt cx="11442382" cy="378619"/>
          </a:xfrm>
        </p:grpSpPr>
        <p:sp>
          <p:nvSpPr>
            <p:cNvPr id="94" name="Line 94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525929" y="6522720"/>
              <a:ext cx="1140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IV · 技术实现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357181" y="6514624"/>
              <a:ext cx="466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17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2663952" cy="762000"/>
            <a:chOff x="0" y="0"/>
            <a:chExt cx="2663952" cy="762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57150" cy="7620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67665" y="343852"/>
              <a:ext cx="22962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V / HIGHLIGHTS &amp; OUTLOOK</a:t>
              </a:r>
              <a:endParaRPr lang="zh-CN" sz="1050" dirty="0">
                <a:solidFill>
                  <a:srgbClr val="FFFFFF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8" name="Rectangle 8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76300" y="24955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</a:t>
            </a:r>
            <a:endParaRPr lang="zh-CN" sz="21000" b="1" dirty="0">
              <a:solidFill>
                <a:srgbClr val="FFFFFF">
                  <a:alpha val="8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66160" y="2832735"/>
            <a:ext cx="461524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系统亮点与展望</a:t>
            </a:r>
            <a:endParaRPr lang="zh-CN" sz="4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598545" y="3489008"/>
            <a:ext cx="23794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i="1" dirty="0">
                <a:solidFill>
                  <a:srgbClr val="FFFFFF">
                    <a:alpha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Highlights &amp; Outlook</a:t>
            </a:r>
            <a:endParaRPr lang="zh-CN" sz="1650" i="1" dirty="0">
              <a:solidFill>
                <a:srgbClr val="FFFFFF">
                  <a:alpha val="5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600450" y="4076700"/>
            <a:ext cx="38280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五大创新点 · 工程价值 · 未来工作展望</a:t>
            </a:r>
            <a:endParaRPr lang="zh-CN" sz="1500" dirty="0">
              <a:solidFill>
                <a:srgbClr val="E8F4F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3619500" y="4667250"/>
            <a:ext cx="4876800" cy="342900"/>
            <a:chOff x="3619500" y="4667250"/>
            <a:chExt cx="4876800" cy="342900"/>
          </a:xfrm>
        </p:grpSpPr>
        <p:sp>
          <p:nvSpPr>
            <p:cNvPr id="14" name="Freeform 14"/>
            <p:cNvSpPr/>
            <p:nvPr/>
          </p:nvSpPr>
          <p:spPr>
            <a:xfrm>
              <a:off x="36195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60754" y="4790599"/>
              <a:ext cx="1041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 INNOVATIONS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2959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99774" y="4790599"/>
              <a:ext cx="11162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DEMO-FRIENDLY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972300" y="46672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04800"/>
                  </a:lnTo>
                  <a:cubicBezTo>
                    <a:pt x="1524000" y="325842"/>
                    <a:pt x="1506942" y="342900"/>
                    <a:pt x="1485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58410" y="4790599"/>
              <a:ext cx="9517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FUTURE WORK</a:t>
              </a:r>
              <a:endParaRPr lang="zh-CN" sz="975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68618" y="6371749"/>
            <a:ext cx="17406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CHAPTER 05 / 05 · Slide 19</a:t>
            </a:r>
            <a:endParaRPr lang="zh-CN" sz="975" dirty="0">
              <a:solidFill>
                <a:srgbClr val="FFFFFF">
                  <a:alpha val="40000"/>
                </a:srgbClr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322272" y="63636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>
                    <a:alpha val="4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 / 20</a:t>
            </a:r>
            <a:endParaRPr lang="zh-CN" sz="1050" dirty="0">
              <a:solidFill>
                <a:srgbClr val="FFFFFF">
                  <a:alpha val="4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66750"/>
            <a:chOff x="0" y="0"/>
            <a:chExt cx="12192000" cy="666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66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667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58140" y="243840"/>
              <a:ext cx="57182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 · 系统亮点与展望 / 五大创新点 + 未来工作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51345" y="332899"/>
              <a:ext cx="8720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PART V · 1 / 1</a:t>
              </a:r>
              <a:endParaRPr lang="zh-CN" sz="975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6750"/>
            <a:ext cx="12192000" cy="476250"/>
            <a:chOff x="0" y="666750"/>
            <a:chExt cx="12192000" cy="476250"/>
          </a:xfrm>
        </p:grpSpPr>
        <p:sp>
          <p:nvSpPr>
            <p:cNvPr id="8" name="Rectangle 8"/>
            <p:cNvSpPr/>
            <p:nvPr/>
          </p:nvSpPr>
          <p:spPr>
            <a:xfrm>
              <a:off x="0" y="666750"/>
              <a:ext cx="12192000" cy="4762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666750"/>
              <a:ext cx="57150" cy="476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855" y="825818"/>
              <a:ext cx="69903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不是 Mock 演示 — 是带真训练 / 真路由 / 真溢出 / 可现场复现的工程级实现</a:t>
              </a:r>
              <a:endParaRPr lang="zh-CN" sz="135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81000" y="1314450"/>
            <a:ext cx="3762375" cy="1857375"/>
            <a:chOff x="381000" y="1314450"/>
            <a:chExt cx="3762375" cy="1857375"/>
          </a:xfrm>
        </p:grpSpPr>
        <p:sp>
          <p:nvSpPr>
            <p:cNvPr id="12" name="Freeform 12"/>
            <p:cNvSpPr/>
            <p:nvPr/>
          </p:nvSpPr>
          <p:spPr>
            <a:xfrm>
              <a:off x="381000" y="1314450"/>
              <a:ext cx="3762375" cy="1857375"/>
            </a:xfrm>
            <a:custGeom>
              <a:avLst/>
              <a:gdLst/>
              <a:ahLst/>
              <a:cxnLst/>
              <a:rect l="l" t="t" r="r" b="b"/>
              <a:pathLst>
                <a:path w="3762375" h="1857375">
                  <a:moveTo>
                    <a:pt x="76200" y="0"/>
                  </a:moveTo>
                  <a:lnTo>
                    <a:pt x="3686175" y="0"/>
                  </a:lnTo>
                  <a:cubicBezTo>
                    <a:pt x="3728259" y="0"/>
                    <a:pt x="3762375" y="34116"/>
                    <a:pt x="3762375" y="76200"/>
                  </a:cubicBezTo>
                  <a:lnTo>
                    <a:pt x="3762375" y="1781175"/>
                  </a:lnTo>
                  <a:cubicBezTo>
                    <a:pt x="3762375" y="1823259"/>
                    <a:pt x="3728259" y="1857375"/>
                    <a:pt x="3686175" y="1857375"/>
                  </a:cubicBezTo>
                  <a:lnTo>
                    <a:pt x="76200" y="1857375"/>
                  </a:lnTo>
                  <a:cubicBezTo>
                    <a:pt x="34116" y="1857375"/>
                    <a:pt x="0" y="1823259"/>
                    <a:pt x="0" y="17811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66C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81000" y="1314450"/>
              <a:ext cx="3762375" cy="571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19125" y="1524000"/>
              <a:ext cx="381000" cy="381000"/>
              <a:chOff x="619125" y="1524000"/>
              <a:chExt cx="381000" cy="381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19125" y="15240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238125" y="381000"/>
                    </a:moveTo>
                    <a:lnTo>
                      <a:pt x="285750" y="333375"/>
                    </a:lnTo>
                    <a:lnTo>
                      <a:pt x="285750" y="238125"/>
                    </a:lnTo>
                    <a:lnTo>
                      <a:pt x="325205" y="198671"/>
                    </a:lnTo>
                    <a:cubicBezTo>
                      <a:pt x="360928" y="162945"/>
                      <a:pt x="381000" y="114491"/>
                      <a:pt x="381000" y="63967"/>
                    </a:cubicBezTo>
                    <a:lnTo>
                      <a:pt x="381000" y="0"/>
                    </a:lnTo>
                    <a:lnTo>
                      <a:pt x="317032" y="0"/>
                    </a:lnTo>
                    <a:cubicBezTo>
                      <a:pt x="266510" y="0"/>
                      <a:pt x="218054" y="20070"/>
                      <a:pt x="182329" y="55796"/>
                    </a:cubicBezTo>
                    <a:lnTo>
                      <a:pt x="142875" y="95250"/>
                    </a:lnTo>
                    <a:lnTo>
                      <a:pt x="47625" y="95250"/>
                    </a:lnTo>
                    <a:lnTo>
                      <a:pt x="0" y="142875"/>
                    </a:lnTo>
                    <a:lnTo>
                      <a:pt x="238125" y="381000"/>
                    </a:lnTo>
                    <a:close/>
                    <a:moveTo>
                      <a:pt x="250031" y="166688"/>
                    </a:moveTo>
                    <a:cubicBezTo>
                      <a:pt x="269758" y="166688"/>
                      <a:pt x="285750" y="150696"/>
                      <a:pt x="285750" y="130969"/>
                    </a:cubicBezTo>
                    <a:cubicBezTo>
                      <a:pt x="285750" y="111242"/>
                      <a:pt x="269758" y="95250"/>
                      <a:pt x="250031" y="95250"/>
                    </a:cubicBezTo>
                    <a:cubicBezTo>
                      <a:pt x="230304" y="95250"/>
                      <a:pt x="214312" y="111242"/>
                      <a:pt x="214312" y="130969"/>
                    </a:cubicBezTo>
                    <a:cubicBezTo>
                      <a:pt x="214312" y="150696"/>
                      <a:pt x="230304" y="166688"/>
                      <a:pt x="250031" y="166688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19125" y="1787666"/>
                <a:ext cx="117334" cy="117334"/>
              </a:xfrm>
              <a:custGeom>
                <a:avLst/>
                <a:gdLst/>
                <a:ahLst/>
                <a:cxnLst/>
                <a:rect l="l" t="t" r="r" b="b"/>
                <a:pathLst>
                  <a:path w="117334" h="117334">
                    <a:moveTo>
                      <a:pt x="117334" y="63894"/>
                    </a:moveTo>
                    <a:lnTo>
                      <a:pt x="53441" y="0"/>
                    </a:lnTo>
                    <a:lnTo>
                      <a:pt x="0" y="93521"/>
                    </a:lnTo>
                    <a:lnTo>
                      <a:pt x="23812" y="117334"/>
                    </a:lnTo>
                    <a:lnTo>
                      <a:pt x="117334" y="63894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123950" y="1590675"/>
              <a:ext cx="17518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 AI 推理链路</a:t>
              </a:r>
              <a:endParaRPr lang="zh-CN" sz="15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2522" y="1854041"/>
              <a:ext cx="1533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REAL AI INFERENCE PIPELINE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571500" y="2057400"/>
              <a:ext cx="3381375" cy="9525"/>
            </a:xfrm>
            <a:custGeom>
              <a:avLst/>
              <a:gdLst/>
              <a:ahLst/>
              <a:cxnLst/>
              <a:rect l="l" t="t" r="r" b="b"/>
              <a:pathLst>
                <a:path w="3381375" h="9525">
                  <a:moveTo>
                    <a:pt x="0" y="0"/>
                  </a:moveTo>
                  <a:lnTo>
                    <a:pt x="3381375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7210" y="2051685"/>
              <a:ext cx="16005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66C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非 Mock</a:t>
              </a:r>
              <a:endParaRPr lang="zh-CN" sz="2700" b="1" dirty="0">
                <a:solidFill>
                  <a:srgbClr val="0066C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9118" y="2542699"/>
              <a:ext cx="30364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实际调用 DeepSeek 大模型完成战术 / 战略推理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9118" y="2733199"/>
              <a:ext cx="2011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MLP 启动时真训练 4000 条样本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1022" y="295894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66C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verifiable end-to-end</a:t>
              </a:r>
              <a:endParaRPr lang="zh-CN" sz="825" dirty="0">
                <a:solidFill>
                  <a:srgbClr val="0066C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286250" y="1314450"/>
            <a:ext cx="3762375" cy="1857375"/>
            <a:chOff x="4286250" y="1314450"/>
            <a:chExt cx="3762375" cy="1857375"/>
          </a:xfrm>
        </p:grpSpPr>
        <p:sp>
          <p:nvSpPr>
            <p:cNvPr id="25" name="Freeform 25"/>
            <p:cNvSpPr/>
            <p:nvPr/>
          </p:nvSpPr>
          <p:spPr>
            <a:xfrm>
              <a:off x="4286250" y="1314450"/>
              <a:ext cx="3762375" cy="1857375"/>
            </a:xfrm>
            <a:custGeom>
              <a:avLst/>
              <a:gdLst/>
              <a:ahLst/>
              <a:cxnLst/>
              <a:rect l="l" t="t" r="r" b="b"/>
              <a:pathLst>
                <a:path w="3762375" h="1857375">
                  <a:moveTo>
                    <a:pt x="76200" y="0"/>
                  </a:moveTo>
                  <a:lnTo>
                    <a:pt x="3686175" y="0"/>
                  </a:lnTo>
                  <a:cubicBezTo>
                    <a:pt x="3728259" y="0"/>
                    <a:pt x="3762375" y="34116"/>
                    <a:pt x="3762375" y="76200"/>
                  </a:cubicBezTo>
                  <a:lnTo>
                    <a:pt x="3762375" y="1781175"/>
                  </a:lnTo>
                  <a:cubicBezTo>
                    <a:pt x="3762375" y="1823259"/>
                    <a:pt x="3728259" y="1857375"/>
                    <a:pt x="3686175" y="1857375"/>
                  </a:cubicBezTo>
                  <a:lnTo>
                    <a:pt x="76200" y="1857375"/>
                  </a:lnTo>
                  <a:cubicBezTo>
                    <a:pt x="34116" y="1857375"/>
                    <a:pt x="0" y="1823259"/>
                    <a:pt x="0" y="17811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C000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86250" y="1314450"/>
              <a:ext cx="3762375" cy="571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548188" y="1524000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79774" y="318918"/>
                  </a:moveTo>
                  <a:lnTo>
                    <a:pt x="166688" y="381000"/>
                  </a:lnTo>
                  <a:lnTo>
                    <a:pt x="253601" y="318918"/>
                  </a:lnTo>
                  <a:cubicBezTo>
                    <a:pt x="303664" y="283159"/>
                    <a:pt x="333375" y="225425"/>
                    <a:pt x="333375" y="163903"/>
                  </a:cubicBezTo>
                  <a:lnTo>
                    <a:pt x="333375" y="71438"/>
                  </a:lnTo>
                  <a:lnTo>
                    <a:pt x="166688" y="0"/>
                  </a:lnTo>
                  <a:lnTo>
                    <a:pt x="0" y="71438"/>
                  </a:lnTo>
                  <a:lnTo>
                    <a:pt x="0" y="163903"/>
                  </a:lnTo>
                  <a:cubicBezTo>
                    <a:pt x="0" y="225425"/>
                    <a:pt x="29712" y="283159"/>
                    <a:pt x="79774" y="318918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029200" y="15906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多级弹性调度</a:t>
              </a:r>
              <a:endParaRPr lang="zh-CN" sz="15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37772" y="1854041"/>
              <a:ext cx="18825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MULTI-LEVEL ELASTIC SCHEDULING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4476750" y="2057400"/>
              <a:ext cx="3381375" cy="9525"/>
            </a:xfrm>
            <a:custGeom>
              <a:avLst/>
              <a:gdLst/>
              <a:ahLst/>
              <a:cxnLst/>
              <a:rect l="l" t="t" r="r" b="b"/>
              <a:pathLst>
                <a:path w="3381375" h="9525">
                  <a:moveTo>
                    <a:pt x="0" y="0"/>
                  </a:moveTo>
                  <a:lnTo>
                    <a:pt x="3381375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42460" y="2051685"/>
              <a:ext cx="166267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CC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 道防线</a:t>
              </a:r>
              <a:endParaRPr lang="zh-CN" sz="2700" b="1" dirty="0">
                <a:solidFill>
                  <a:srgbClr val="CC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64368" y="2542699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L0 硬熔断 → L1 神经网络分流 → 动态溢出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64368" y="2733199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兼顾实时性与可靠性，层层递进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66272" y="2958941"/>
              <a:ext cx="15692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C00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L0 → L1 → L1-ESCALATED → L2</a:t>
              </a:r>
              <a:endParaRPr lang="zh-CN" sz="825" dirty="0">
                <a:solidFill>
                  <a:srgbClr val="CC00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91500" y="1314450"/>
            <a:ext cx="3619500" cy="1857375"/>
            <a:chOff x="8191500" y="1314450"/>
            <a:chExt cx="3619500" cy="1857375"/>
          </a:xfrm>
        </p:grpSpPr>
        <p:sp>
          <p:nvSpPr>
            <p:cNvPr id="36" name="Freeform 36"/>
            <p:cNvSpPr/>
            <p:nvPr/>
          </p:nvSpPr>
          <p:spPr>
            <a:xfrm>
              <a:off x="8191500" y="1314450"/>
              <a:ext cx="3619500" cy="1857375"/>
            </a:xfrm>
            <a:custGeom>
              <a:avLst/>
              <a:gdLst/>
              <a:ahLst/>
              <a:cxnLst/>
              <a:rect l="l" t="t" r="r" b="b"/>
              <a:pathLst>
                <a:path w="3619500" h="1857375">
                  <a:moveTo>
                    <a:pt x="76200" y="0"/>
                  </a:moveTo>
                  <a:lnTo>
                    <a:pt x="3543300" y="0"/>
                  </a:lnTo>
                  <a:cubicBezTo>
                    <a:pt x="3585384" y="0"/>
                    <a:pt x="3619500" y="34116"/>
                    <a:pt x="3619500" y="76200"/>
                  </a:cubicBezTo>
                  <a:lnTo>
                    <a:pt x="3619500" y="1781175"/>
                  </a:lnTo>
                  <a:cubicBezTo>
                    <a:pt x="3619500" y="1823259"/>
                    <a:pt x="3585384" y="1857375"/>
                    <a:pt x="3543300" y="1857375"/>
                  </a:cubicBezTo>
                  <a:lnTo>
                    <a:pt x="76200" y="1857375"/>
                  </a:lnTo>
                  <a:cubicBezTo>
                    <a:pt x="34116" y="1857375"/>
                    <a:pt x="0" y="1823259"/>
                    <a:pt x="0" y="17811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FFA50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91500" y="1314450"/>
              <a:ext cx="3619500" cy="57150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429625" y="1524000"/>
              <a:ext cx="381000" cy="381000"/>
              <a:chOff x="8429625" y="1524000"/>
              <a:chExt cx="381000" cy="381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477250" y="1524000"/>
                <a:ext cx="333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166688">
                    <a:moveTo>
                      <a:pt x="190500" y="166688"/>
                    </a:moveTo>
                    <a:lnTo>
                      <a:pt x="166688" y="142875"/>
                    </a:lnTo>
                    <a:lnTo>
                      <a:pt x="221287" y="88276"/>
                    </a:lnTo>
                    <a:lnTo>
                      <a:pt x="207338" y="74326"/>
                    </a:lnTo>
                    <a:cubicBezTo>
                      <a:pt x="190241" y="57230"/>
                      <a:pt x="167053" y="47625"/>
                      <a:pt x="142875" y="47625"/>
                    </a:cubicBezTo>
                    <a:cubicBezTo>
                      <a:pt x="118697" y="47625"/>
                      <a:pt x="95509" y="57230"/>
                      <a:pt x="78412" y="74326"/>
                    </a:cubicBezTo>
                    <a:lnTo>
                      <a:pt x="76369" y="76369"/>
                    </a:lnTo>
                    <a:cubicBezTo>
                      <a:pt x="57965" y="94774"/>
                      <a:pt x="47625" y="119736"/>
                      <a:pt x="47625" y="145764"/>
                    </a:cubicBezTo>
                    <a:lnTo>
                      <a:pt x="47625" y="166688"/>
                    </a:lnTo>
                    <a:lnTo>
                      <a:pt x="0" y="166688"/>
                    </a:lnTo>
                    <a:lnTo>
                      <a:pt x="0" y="145764"/>
                    </a:lnTo>
                    <a:cubicBezTo>
                      <a:pt x="0" y="107105"/>
                      <a:pt x="15357" y="70029"/>
                      <a:pt x="42693" y="42693"/>
                    </a:cubicBezTo>
                    <a:lnTo>
                      <a:pt x="44736" y="40651"/>
                    </a:lnTo>
                    <a:cubicBezTo>
                      <a:pt x="70764" y="14622"/>
                      <a:pt x="106066" y="0"/>
                      <a:pt x="142875" y="0"/>
                    </a:cubicBezTo>
                    <a:cubicBezTo>
                      <a:pt x="179684" y="0"/>
                      <a:pt x="214986" y="14622"/>
                      <a:pt x="241013" y="40651"/>
                    </a:cubicBezTo>
                    <a:lnTo>
                      <a:pt x="254963" y="54599"/>
                    </a:lnTo>
                    <a:lnTo>
                      <a:pt x="309562" y="0"/>
                    </a:lnTo>
                    <a:lnTo>
                      <a:pt x="333375" y="23812"/>
                    </a:lnTo>
                    <a:lnTo>
                      <a:pt x="333375" y="166688"/>
                    </a:lnTo>
                    <a:lnTo>
                      <a:pt x="190500" y="166688"/>
                    </a:lnTo>
                    <a:close/>
                  </a:path>
                </a:pathLst>
              </a:custGeom>
              <a:solidFill>
                <a:srgbClr val="FFA500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429625" y="1738312"/>
                <a:ext cx="333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166688">
                    <a:moveTo>
                      <a:pt x="126037" y="92362"/>
                    </a:moveTo>
                    <a:cubicBezTo>
                      <a:pt x="143134" y="109457"/>
                      <a:pt x="166322" y="119062"/>
                      <a:pt x="190500" y="119062"/>
                    </a:cubicBezTo>
                    <a:cubicBezTo>
                      <a:pt x="214678" y="119062"/>
                      <a:pt x="237866" y="109459"/>
                      <a:pt x="254963" y="92362"/>
                    </a:cubicBezTo>
                    <a:lnTo>
                      <a:pt x="257006" y="90318"/>
                    </a:lnTo>
                    <a:cubicBezTo>
                      <a:pt x="275411" y="71914"/>
                      <a:pt x="285750" y="46951"/>
                      <a:pt x="285750" y="20924"/>
                    </a:cubicBezTo>
                    <a:lnTo>
                      <a:pt x="285750" y="0"/>
                    </a:lnTo>
                    <a:lnTo>
                      <a:pt x="333375" y="0"/>
                    </a:lnTo>
                    <a:lnTo>
                      <a:pt x="333375" y="20924"/>
                    </a:lnTo>
                    <a:cubicBezTo>
                      <a:pt x="333375" y="59584"/>
                      <a:pt x="318018" y="96657"/>
                      <a:pt x="290682" y="123994"/>
                    </a:cubicBezTo>
                    <a:lnTo>
                      <a:pt x="288638" y="126037"/>
                    </a:lnTo>
                    <a:cubicBezTo>
                      <a:pt x="262611" y="152064"/>
                      <a:pt x="227309" y="166688"/>
                      <a:pt x="190500" y="166688"/>
                    </a:cubicBezTo>
                    <a:cubicBezTo>
                      <a:pt x="153691" y="166688"/>
                      <a:pt x="118389" y="152064"/>
                      <a:pt x="92361" y="126037"/>
                    </a:cubicBezTo>
                    <a:lnTo>
                      <a:pt x="78412" y="112088"/>
                    </a:lnTo>
                    <a:lnTo>
                      <a:pt x="23812" y="166688"/>
                    </a:lnTo>
                    <a:lnTo>
                      <a:pt x="0" y="142875"/>
                    </a:lnTo>
                    <a:lnTo>
                      <a:pt x="0" y="0"/>
                    </a:lnTo>
                    <a:lnTo>
                      <a:pt x="142875" y="0"/>
                    </a:lnTo>
                    <a:lnTo>
                      <a:pt x="166688" y="23812"/>
                    </a:lnTo>
                    <a:lnTo>
                      <a:pt x="112088" y="78412"/>
                    </a:lnTo>
                    <a:lnTo>
                      <a:pt x="126037" y="92362"/>
                    </a:lnTo>
                    <a:close/>
                  </a:path>
                </a:pathLst>
              </a:custGeom>
              <a:solidFill>
                <a:srgbClr val="FFA500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934450" y="159067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双缓冲无锁并发</a:t>
              </a:r>
              <a:endParaRPr lang="zh-CN" sz="15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43022" y="1854041"/>
              <a:ext cx="1370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PING-PONG · LOCK-FREE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8382000" y="20574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47710" y="2051685"/>
              <a:ext cx="232516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D9770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O(1) 临界区</a:t>
              </a:r>
              <a:endParaRPr lang="zh-CN" sz="2700" b="1" dirty="0">
                <a:solidFill>
                  <a:srgbClr val="D9770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69618" y="2542699"/>
              <a:ext cx="22889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借鉴图形学 Ping-Pong Buffer 思想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69618" y="2733199"/>
              <a:ext cx="18617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高并发写 + 慢 AI 读 完全解耦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71522" y="295894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9770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flip every 3s · zero block</a:t>
              </a:r>
              <a:endParaRPr lang="zh-CN" sz="825" dirty="0">
                <a:solidFill>
                  <a:srgbClr val="D9770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81000" y="3333750"/>
            <a:ext cx="5715000" cy="1857375"/>
            <a:chOff x="381000" y="3333750"/>
            <a:chExt cx="5715000" cy="1857375"/>
          </a:xfrm>
        </p:grpSpPr>
        <p:sp>
          <p:nvSpPr>
            <p:cNvPr id="49" name="Freeform 49"/>
            <p:cNvSpPr/>
            <p:nvPr/>
          </p:nvSpPr>
          <p:spPr>
            <a:xfrm>
              <a:off x="381000" y="3333750"/>
              <a:ext cx="5715000" cy="1857375"/>
            </a:xfrm>
            <a:custGeom>
              <a:avLst/>
              <a:gdLst/>
              <a:ahLst/>
              <a:cxnLst/>
              <a:rect l="l" t="t" r="r" b="b"/>
              <a:pathLst>
                <a:path w="5715000" h="1857375">
                  <a:moveTo>
                    <a:pt x="76200" y="0"/>
                  </a:moveTo>
                  <a:lnTo>
                    <a:pt x="5638800" y="0"/>
                  </a:lnTo>
                  <a:cubicBezTo>
                    <a:pt x="5680884" y="0"/>
                    <a:pt x="5715000" y="34116"/>
                    <a:pt x="5715000" y="76200"/>
                  </a:cubicBezTo>
                  <a:lnTo>
                    <a:pt x="5715000" y="1781175"/>
                  </a:lnTo>
                  <a:cubicBezTo>
                    <a:pt x="5715000" y="1823259"/>
                    <a:pt x="5680884" y="1857375"/>
                    <a:pt x="5638800" y="1857375"/>
                  </a:cubicBezTo>
                  <a:lnTo>
                    <a:pt x="76200" y="1857375"/>
                  </a:lnTo>
                  <a:cubicBezTo>
                    <a:pt x="34116" y="1857375"/>
                    <a:pt x="0" y="1823259"/>
                    <a:pt x="0" y="17811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A2B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81000" y="3333750"/>
              <a:ext cx="5715000" cy="57150"/>
            </a:xfrm>
            <a:prstGeom prst="rect">
              <a:avLst/>
            </a:prstGeom>
            <a:solidFill>
              <a:srgbClr val="17A2B8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19125" y="3543300"/>
              <a:ext cx="374025" cy="374025"/>
            </a:xfrm>
            <a:custGeom>
              <a:avLst/>
              <a:gdLst/>
              <a:ahLst/>
              <a:cxnLst/>
              <a:rect l="l" t="t" r="r" b="b"/>
              <a:pathLst>
                <a:path w="374025" h="374025">
                  <a:moveTo>
                    <a:pt x="266514" y="300190"/>
                  </a:moveTo>
                  <a:cubicBezTo>
                    <a:pt x="238687" y="321031"/>
                    <a:pt x="204129" y="333375"/>
                    <a:pt x="166688" y="333375"/>
                  </a:cubicBezTo>
                  <a:cubicBezTo>
                    <a:pt x="74629" y="333375"/>
                    <a:pt x="0" y="258747"/>
                    <a:pt x="0" y="166688"/>
                  </a:cubicBezTo>
                  <a:cubicBezTo>
                    <a:pt x="0" y="74629"/>
                    <a:pt x="74629" y="0"/>
                    <a:pt x="166688" y="0"/>
                  </a:cubicBezTo>
                  <a:cubicBezTo>
                    <a:pt x="258747" y="0"/>
                    <a:pt x="333375" y="74629"/>
                    <a:pt x="333375" y="166688"/>
                  </a:cubicBezTo>
                  <a:cubicBezTo>
                    <a:pt x="333375" y="204129"/>
                    <a:pt x="321031" y="238687"/>
                    <a:pt x="300190" y="266514"/>
                  </a:cubicBezTo>
                  <a:lnTo>
                    <a:pt x="374025" y="340350"/>
                  </a:lnTo>
                  <a:lnTo>
                    <a:pt x="340350" y="374025"/>
                  </a:lnTo>
                  <a:lnTo>
                    <a:pt x="266514" y="300190"/>
                  </a:lnTo>
                  <a:close/>
                  <a:moveTo>
                    <a:pt x="133012" y="200363"/>
                  </a:moveTo>
                  <a:lnTo>
                    <a:pt x="99336" y="234039"/>
                  </a:lnTo>
                  <a:cubicBezTo>
                    <a:pt x="62138" y="196842"/>
                    <a:pt x="62138" y="136533"/>
                    <a:pt x="99336" y="99336"/>
                  </a:cubicBezTo>
                  <a:cubicBezTo>
                    <a:pt x="136533" y="62138"/>
                    <a:pt x="196842" y="62138"/>
                    <a:pt x="234039" y="99336"/>
                  </a:cubicBezTo>
                  <a:lnTo>
                    <a:pt x="200363" y="133012"/>
                  </a:lnTo>
                  <a:cubicBezTo>
                    <a:pt x="181765" y="114413"/>
                    <a:pt x="151610" y="114413"/>
                    <a:pt x="133012" y="133012"/>
                  </a:cubicBezTo>
                  <a:cubicBezTo>
                    <a:pt x="114413" y="151610"/>
                    <a:pt x="114413" y="181765"/>
                    <a:pt x="133012" y="200363"/>
                  </a:cubicBezTo>
                  <a:close/>
                </a:path>
              </a:pathLst>
            </a:custGeom>
            <a:solidFill>
              <a:srgbClr val="17A2B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23950" y="360997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多视角可观测性</a:t>
              </a:r>
              <a:endParaRPr lang="zh-CN" sz="15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32522" y="3873341"/>
              <a:ext cx="1972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MULTI-PERSPECTIVE OBSERVABILITY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4" name="Line 54"/>
            <p:cNvSpPr/>
            <p:nvPr/>
          </p:nvSpPr>
          <p:spPr>
            <a:xfrm>
              <a:off x="571500" y="40767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7210" y="4070985"/>
              <a:ext cx="25942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A2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 ws + 16 sub</a:t>
              </a:r>
              <a:endParaRPr lang="zh-CN" sz="2700" b="1" dirty="0">
                <a:solidFill>
                  <a:srgbClr val="17A2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9118" y="4561999"/>
              <a:ext cx="3100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 WebSocket 通道 (/ws/center · /ws/node)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9118" y="4752499"/>
              <a:ext cx="2773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16 艘潜艇独立日志 + 多视角大屏全方位呈现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61022" y="4978241"/>
              <a:ext cx="17680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A2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macro view + micro drill-down</a:t>
              </a:r>
              <a:endParaRPr lang="zh-CN" sz="825" dirty="0">
                <a:solidFill>
                  <a:srgbClr val="17A2B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238875" y="3333750"/>
            <a:ext cx="5572125" cy="1857375"/>
            <a:chOff x="6238875" y="3333750"/>
            <a:chExt cx="5572125" cy="1857375"/>
          </a:xfrm>
        </p:grpSpPr>
        <p:sp>
          <p:nvSpPr>
            <p:cNvPr id="60" name="Freeform 60"/>
            <p:cNvSpPr/>
            <p:nvPr/>
          </p:nvSpPr>
          <p:spPr>
            <a:xfrm>
              <a:off x="6238875" y="3333750"/>
              <a:ext cx="5572125" cy="1857375"/>
            </a:xfrm>
            <a:custGeom>
              <a:avLst/>
              <a:gdLst/>
              <a:ahLst/>
              <a:cxnLst/>
              <a:rect l="l" t="t" r="r" b="b"/>
              <a:pathLst>
                <a:path w="5572125" h="1857375">
                  <a:moveTo>
                    <a:pt x="76200" y="0"/>
                  </a:moveTo>
                  <a:lnTo>
                    <a:pt x="5495925" y="0"/>
                  </a:lnTo>
                  <a:cubicBezTo>
                    <a:pt x="5538009" y="0"/>
                    <a:pt x="5572125" y="34116"/>
                    <a:pt x="5572125" y="76200"/>
                  </a:cubicBezTo>
                  <a:lnTo>
                    <a:pt x="5572125" y="1781175"/>
                  </a:lnTo>
                  <a:cubicBezTo>
                    <a:pt x="5572125" y="1823259"/>
                    <a:pt x="5538009" y="1857375"/>
                    <a:pt x="5495925" y="1857375"/>
                  </a:cubicBezTo>
                  <a:lnTo>
                    <a:pt x="76200" y="1857375"/>
                  </a:lnTo>
                  <a:cubicBezTo>
                    <a:pt x="34116" y="1857375"/>
                    <a:pt x="0" y="1823259"/>
                    <a:pt x="0" y="17811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38875" y="3333750"/>
              <a:ext cx="5572125" cy="57150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6524625" y="354330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66688" y="166688"/>
                  </a:moveTo>
                  <a:lnTo>
                    <a:pt x="190500" y="0"/>
                  </a:lnTo>
                  <a:lnTo>
                    <a:pt x="142875" y="0"/>
                  </a:lnTo>
                  <a:lnTo>
                    <a:pt x="0" y="166688"/>
                  </a:lnTo>
                  <a:lnTo>
                    <a:pt x="0" y="214312"/>
                  </a:lnTo>
                  <a:lnTo>
                    <a:pt x="119062" y="214312"/>
                  </a:lnTo>
                  <a:lnTo>
                    <a:pt x="95250" y="381000"/>
                  </a:lnTo>
                  <a:lnTo>
                    <a:pt x="142875" y="381000"/>
                  </a:lnTo>
                  <a:lnTo>
                    <a:pt x="285750" y="214312"/>
                  </a:lnTo>
                  <a:lnTo>
                    <a:pt x="285750" y="166688"/>
                  </a:lnTo>
                  <a:lnTo>
                    <a:pt x="166688" y="166688"/>
                  </a:lnTo>
                  <a:close/>
                </a:path>
              </a:pathLst>
            </a:custGeom>
            <a:solidFill>
              <a:srgbClr val="FFA50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81825" y="36099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演示友好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90398" y="3873341"/>
              <a:ext cx="2129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8F4FC">
                      <a:alpha val="6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DEMO-FRIENDLY · LIVE-REPRODUCIBLE</a:t>
              </a:r>
              <a:endParaRPr lang="zh-CN" sz="825" dirty="0">
                <a:solidFill>
                  <a:srgbClr val="E8F4FC">
                    <a:alpha val="6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5" name="Line 65"/>
            <p:cNvSpPr/>
            <p:nvPr/>
          </p:nvSpPr>
          <p:spPr>
            <a:xfrm>
              <a:off x="6429375" y="4076700"/>
              <a:ext cx="5191125" cy="9525"/>
            </a:xfrm>
            <a:custGeom>
              <a:avLst/>
              <a:gdLst/>
              <a:ahLst/>
              <a:cxnLst/>
              <a:rect l="l" t="t" r="r" b="b"/>
              <a:pathLst>
                <a:path w="5191125" h="9525">
                  <a:moveTo>
                    <a:pt x="0" y="0"/>
                  </a:moveTo>
                  <a:lnTo>
                    <a:pt x="5191125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95085" y="4070985"/>
              <a:ext cx="213883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A5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/api/spike</a:t>
              </a:r>
              <a:endParaRPr lang="zh-CN" sz="2700" b="1" dirty="0">
                <a:solidFill>
                  <a:srgbClr val="FFA5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16992" y="4561999"/>
              <a:ext cx="24811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一键触发 GPU 过载，全过程现场可复现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16992" y="475249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F4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溢出保护机制的触发与恢复完整可见</a:t>
              </a:r>
              <a:endParaRPr lang="zh-CN" sz="975" dirty="0">
                <a:solidFill>
                  <a:srgbClr val="E8F4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18898" y="4978241"/>
              <a:ext cx="20873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A5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curl -X POST /api/spike?duration=5</a:t>
              </a:r>
              <a:endParaRPr lang="zh-CN" sz="825" dirty="0">
                <a:solidFill>
                  <a:srgbClr val="FFA50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381000" y="5222240"/>
            <a:ext cx="11430000" cy="1089025"/>
            <a:chOff x="381000" y="5286375"/>
            <a:chExt cx="11430000" cy="1089025"/>
          </a:xfrm>
        </p:grpSpPr>
        <p:sp>
          <p:nvSpPr>
            <p:cNvPr id="71" name="Freeform 71"/>
            <p:cNvSpPr/>
            <p:nvPr/>
          </p:nvSpPr>
          <p:spPr>
            <a:xfrm>
              <a:off x="381000" y="5286375"/>
              <a:ext cx="11430000" cy="1089025"/>
            </a:xfrm>
            <a:custGeom>
              <a:avLst/>
              <a:gdLst/>
              <a:ahLst/>
              <a:cxnLst/>
              <a:rect l="l" t="t" r="r" b="b"/>
              <a:pathLst>
                <a:path w="11430000" h="904875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847725"/>
                  </a:lnTo>
                  <a:cubicBezTo>
                    <a:pt x="11430000" y="879288"/>
                    <a:pt x="11404413" y="904875"/>
                    <a:pt x="11372850" y="904875"/>
                  </a:cubicBezTo>
                  <a:lnTo>
                    <a:pt x="57150" y="904875"/>
                  </a:lnTo>
                  <a:cubicBezTo>
                    <a:pt x="25587" y="904875"/>
                    <a:pt x="0" y="879288"/>
                    <a:pt x="0" y="8477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381000" y="5286375"/>
              <a:ext cx="57150" cy="904875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590550" y="5467350"/>
              <a:ext cx="266700" cy="285750"/>
            </a:xfrm>
            <a:custGeom>
              <a:avLst/>
              <a:gdLst/>
              <a:ahLst/>
              <a:cxnLst/>
              <a:rect l="l" t="t" r="r" b="b"/>
              <a:pathLst>
                <a:path w="266700" h="285750">
                  <a:moveTo>
                    <a:pt x="0" y="0"/>
                  </a:moveTo>
                  <a:lnTo>
                    <a:pt x="0" y="285750"/>
                  </a:lnTo>
                  <a:lnTo>
                    <a:pt x="38100" y="285750"/>
                  </a:lnTo>
                  <a:lnTo>
                    <a:pt x="38100" y="171450"/>
                  </a:lnTo>
                  <a:lnTo>
                    <a:pt x="114300" y="171450"/>
                  </a:lnTo>
                  <a:lnTo>
                    <a:pt x="152400" y="209550"/>
                  </a:lnTo>
                  <a:lnTo>
                    <a:pt x="266700" y="209550"/>
                  </a:lnTo>
                  <a:lnTo>
                    <a:pt x="266700" y="38100"/>
                  </a:lnTo>
                  <a:lnTo>
                    <a:pt x="152400" y="38100"/>
                  </a:ln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84885" y="5509260"/>
              <a:ext cx="20823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未来工作 / Future Work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89648" y="5740241"/>
              <a:ext cx="3183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PROOF-OF-CONCEPT TO PRODUCTION DEPLOYMENT</a:t>
              </a:r>
              <a:endParaRPr lang="zh-CN" sz="82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6" name="Line 76"/>
            <p:cNvSpPr/>
            <p:nvPr/>
          </p:nvSpPr>
          <p:spPr>
            <a:xfrm>
              <a:off x="571500" y="5943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723900" y="6086475"/>
              <a:ext cx="76200" cy="762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82968" y="6057424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 H100 集群部署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Ellipse 79"/>
            <p:cNvSpPr/>
            <p:nvPr/>
          </p:nvSpPr>
          <p:spPr>
            <a:xfrm>
              <a:off x="3486150" y="6086475"/>
              <a:ext cx="76200" cy="762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645218" y="6057424"/>
              <a:ext cx="1975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Redis + Kafka 替换内存双缓冲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Ellipse 81"/>
            <p:cNvSpPr/>
            <p:nvPr/>
          </p:nvSpPr>
          <p:spPr>
            <a:xfrm>
              <a:off x="7581900" y="6086475"/>
              <a:ext cx="76200" cy="762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740968" y="6057424"/>
              <a:ext cx="1754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多模态声呐 / 水文数据接入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381000" y="6334125"/>
            <a:ext cx="11442382" cy="378619"/>
            <a:chOff x="381000" y="6334125"/>
            <a:chExt cx="11442382" cy="378619"/>
          </a:xfrm>
        </p:grpSpPr>
        <p:sp>
          <p:nvSpPr>
            <p:cNvPr id="84" name="Line 84"/>
            <p:cNvSpPr/>
            <p:nvPr/>
          </p:nvSpPr>
          <p:spPr>
            <a:xfrm>
              <a:off x="381000" y="633412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348478" y="6522720"/>
              <a:ext cx="14950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PART V · 系统亮点与展望</a:t>
              </a:r>
              <a:endParaRPr lang="zh-CN" sz="900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357181" y="6514624"/>
              <a:ext cx="466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19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952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63855" y="406718"/>
              <a:ext cx="27670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GHOST-DEEP / DEFENSE 2026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48805" y="439102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>
                      <a:alpha val="7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END OF PRESENTATION</a:t>
              </a:r>
              <a:endParaRPr lang="zh-CN" sz="1050" dirty="0">
                <a:solidFill>
                  <a:srgbClr val="FFFFFF">
                    <a:alpha val="7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231615" y="2148840"/>
            <a:ext cx="3728771" cy="1413510"/>
            <a:chOff x="4231615" y="2148840"/>
            <a:chExt cx="3728771" cy="1413510"/>
          </a:xfrm>
        </p:grpSpPr>
        <p:sp>
          <p:nvSpPr>
            <p:cNvPr id="8" name="TextBox 8"/>
            <p:cNvSpPr txBox="1"/>
            <p:nvPr/>
          </p:nvSpPr>
          <p:spPr>
            <a:xfrm>
              <a:off x="4231615" y="2148840"/>
              <a:ext cx="372877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谢 谢 聆 听</a:t>
              </a:r>
              <a:endParaRPr lang="zh-CN" sz="48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44806" y="2946082"/>
              <a:ext cx="31023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敬 请 各 位 老 师 批 评 指 正</a:t>
              </a:r>
              <a:endParaRPr lang="zh-CN" sz="1650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53431" y="3318510"/>
              <a:ext cx="14851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i="1" dirty="0">
                  <a:solidFill>
                    <a:srgbClr val="99999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Thank You · Q &amp; A</a:t>
              </a:r>
              <a:endParaRPr lang="zh-CN" sz="1200" i="1" dirty="0">
                <a:solidFill>
                  <a:srgbClr val="99999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95750" y="3762375"/>
            <a:ext cx="4000500" cy="95250"/>
            <a:chOff x="4095750" y="3762375"/>
            <a:chExt cx="4000500" cy="95250"/>
          </a:xfrm>
        </p:grpSpPr>
        <p:sp>
          <p:nvSpPr>
            <p:cNvPr id="12" name="Line 12"/>
            <p:cNvSpPr/>
            <p:nvPr/>
          </p:nvSpPr>
          <p:spPr>
            <a:xfrm>
              <a:off x="4095750" y="38100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895975" y="3771900"/>
              <a:ext cx="76200" cy="762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048375" y="3762375"/>
              <a:ext cx="95250" cy="95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219825" y="3771900"/>
              <a:ext cx="76200" cy="762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6381750" y="38100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3048000" y="4095750"/>
            <a:ext cx="6096000" cy="1714500"/>
            <a:chOff x="3048000" y="4095750"/>
            <a:chExt cx="6096000" cy="1714500"/>
          </a:xfrm>
        </p:grpSpPr>
        <p:sp>
          <p:nvSpPr>
            <p:cNvPr id="18" name="Freeform 18"/>
            <p:cNvSpPr/>
            <p:nvPr/>
          </p:nvSpPr>
          <p:spPr>
            <a:xfrm>
              <a:off x="3048000" y="4095750"/>
              <a:ext cx="6096000" cy="1714500"/>
            </a:xfrm>
            <a:custGeom>
              <a:avLst/>
              <a:gdLst/>
              <a:ahLst/>
              <a:cxnLst/>
              <a:rect l="l" t="t" r="r" b="b"/>
              <a:pathLst>
                <a:path w="6096000" h="1714500">
                  <a:moveTo>
                    <a:pt x="76200" y="0"/>
                  </a:moveTo>
                  <a:lnTo>
                    <a:pt x="6019800" y="0"/>
                  </a:lnTo>
                  <a:cubicBezTo>
                    <a:pt x="6061884" y="0"/>
                    <a:pt x="6096000" y="34116"/>
                    <a:pt x="6096000" y="76200"/>
                  </a:cubicBezTo>
                  <a:lnTo>
                    <a:pt x="6096000" y="1638300"/>
                  </a:lnTo>
                  <a:cubicBezTo>
                    <a:pt x="6096000" y="1680384"/>
                    <a:pt x="6061884" y="1714500"/>
                    <a:pt x="6019800" y="1714500"/>
                  </a:cubicBezTo>
                  <a:lnTo>
                    <a:pt x="76200" y="1714500"/>
                  </a:lnTo>
                  <a:cubicBezTo>
                    <a:pt x="34116" y="1714500"/>
                    <a:pt x="0" y="1680384"/>
                    <a:pt x="0" y="1638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048000" y="4095750"/>
              <a:ext cx="57150" cy="1714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82435" y="4328160"/>
              <a:ext cx="20271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GHOST-DEEP · 深海幽灵</a:t>
              </a:r>
              <a:endParaRPr lang="zh-CN" sz="1200" b="1" dirty="0">
                <a:solidFill>
                  <a:srgbClr val="0033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67713" y="4561999"/>
              <a:ext cx="34565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基于端-边-云协同与多级算力路由的潜艇集群调度系统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3619500" y="48577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550444" y="5000625"/>
              <a:ext cx="157162" cy="209550"/>
            </a:xfrm>
            <a:custGeom>
              <a:avLst/>
              <a:gdLst/>
              <a:ahLst/>
              <a:cxnLst/>
              <a:rect l="l" t="t" r="r" b="b"/>
              <a:pathLst>
                <a:path w="157162" h="209550">
                  <a:moveTo>
                    <a:pt x="39291" y="0"/>
                  </a:moveTo>
                  <a:cubicBezTo>
                    <a:pt x="17591" y="0"/>
                    <a:pt x="0" y="17591"/>
                    <a:pt x="0" y="39291"/>
                  </a:cubicBezTo>
                  <a:lnTo>
                    <a:pt x="0" y="170259"/>
                  </a:lnTo>
                  <a:cubicBezTo>
                    <a:pt x="0" y="191960"/>
                    <a:pt x="17591" y="209550"/>
                    <a:pt x="39291" y="209550"/>
                  </a:cubicBezTo>
                  <a:lnTo>
                    <a:pt x="157162" y="209550"/>
                  </a:lnTo>
                  <a:lnTo>
                    <a:pt x="157162" y="183356"/>
                  </a:lnTo>
                  <a:lnTo>
                    <a:pt x="26194" y="183356"/>
                  </a:lnTo>
                  <a:lnTo>
                    <a:pt x="26194" y="157162"/>
                  </a:lnTo>
                  <a:lnTo>
                    <a:pt x="157162" y="157162"/>
                  </a:lnTo>
                  <a:lnTo>
                    <a:pt x="157162" y="0"/>
                  </a:lnTo>
                  <a:lnTo>
                    <a:pt x="39291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15715" y="5049202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答辩人：刘 ××</a:t>
              </a:r>
              <a:endParaRPr lang="zh-CN" sz="10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716081" y="5000625"/>
              <a:ext cx="207389" cy="197238"/>
            </a:xfrm>
            <a:custGeom>
              <a:avLst/>
              <a:gdLst/>
              <a:ahLst/>
              <a:cxnLst/>
              <a:rect l="l" t="t" r="r" b="b"/>
              <a:pathLst>
                <a:path w="207389" h="197238">
                  <a:moveTo>
                    <a:pt x="116791" y="0"/>
                  </a:moveTo>
                  <a:lnTo>
                    <a:pt x="90598" y="0"/>
                  </a:lnTo>
                  <a:lnTo>
                    <a:pt x="71121" y="59942"/>
                  </a:lnTo>
                  <a:lnTo>
                    <a:pt x="8094" y="59942"/>
                  </a:lnTo>
                  <a:lnTo>
                    <a:pt x="0" y="84854"/>
                  </a:lnTo>
                  <a:lnTo>
                    <a:pt x="50990" y="121900"/>
                  </a:lnTo>
                  <a:lnTo>
                    <a:pt x="31514" y="181841"/>
                  </a:lnTo>
                  <a:lnTo>
                    <a:pt x="52705" y="197238"/>
                  </a:lnTo>
                  <a:lnTo>
                    <a:pt x="103695" y="160192"/>
                  </a:lnTo>
                  <a:lnTo>
                    <a:pt x="154684" y="197238"/>
                  </a:lnTo>
                  <a:lnTo>
                    <a:pt x="175875" y="181841"/>
                  </a:lnTo>
                  <a:lnTo>
                    <a:pt x="156399" y="121900"/>
                  </a:lnTo>
                  <a:lnTo>
                    <a:pt x="207389" y="84854"/>
                  </a:lnTo>
                  <a:lnTo>
                    <a:pt x="199294" y="59942"/>
                  </a:lnTo>
                  <a:lnTo>
                    <a:pt x="136267" y="59942"/>
                  </a:lnTo>
                  <a:lnTo>
                    <a:pt x="116791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06465" y="504920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指导教师：×× 教授</a:t>
              </a:r>
              <a:endParaRPr lang="zh-CN" sz="10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3525061" y="5314950"/>
              <a:ext cx="207929" cy="209550"/>
              <a:chOff x="3525061" y="5314950"/>
              <a:chExt cx="207929" cy="2095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525061" y="5358275"/>
                <a:ext cx="207929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07929" h="48354">
                    <a:moveTo>
                      <a:pt x="19092" y="0"/>
                    </a:moveTo>
                    <a:cubicBezTo>
                      <a:pt x="8991" y="13927"/>
                      <a:pt x="2234" y="30438"/>
                      <a:pt x="0" y="48354"/>
                    </a:cubicBezTo>
                    <a:lnTo>
                      <a:pt x="207929" y="48354"/>
                    </a:lnTo>
                    <a:cubicBezTo>
                      <a:pt x="205694" y="30438"/>
                      <a:pt x="198938" y="13927"/>
                      <a:pt x="188836" y="0"/>
                    </a:cubicBezTo>
                    <a:cubicBezTo>
                      <a:pt x="188291" y="305"/>
                      <a:pt x="187739" y="610"/>
                      <a:pt x="187179" y="915"/>
                    </a:cubicBezTo>
                    <a:cubicBezTo>
                      <a:pt x="167725" y="11526"/>
                      <a:pt x="139385" y="22160"/>
                      <a:pt x="103964" y="22160"/>
                    </a:cubicBezTo>
                    <a:cubicBezTo>
                      <a:pt x="68544" y="22160"/>
                      <a:pt x="40202" y="11526"/>
                      <a:pt x="20748" y="915"/>
                    </a:cubicBezTo>
                    <a:cubicBezTo>
                      <a:pt x="20189" y="610"/>
                      <a:pt x="19637" y="305"/>
                      <a:pt x="19092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562804" y="5314950"/>
                <a:ext cx="132441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132441" h="39291">
                    <a:moveTo>
                      <a:pt x="132441" y="23576"/>
                    </a:moveTo>
                    <a:cubicBezTo>
                      <a:pt x="116138" y="31766"/>
                      <a:pt x="93692" y="39291"/>
                      <a:pt x="66221" y="39291"/>
                    </a:cubicBezTo>
                    <a:cubicBezTo>
                      <a:pt x="38750" y="39291"/>
                      <a:pt x="16304" y="31766"/>
                      <a:pt x="0" y="23576"/>
                    </a:cubicBezTo>
                    <a:cubicBezTo>
                      <a:pt x="18049" y="8839"/>
                      <a:pt x="41103" y="0"/>
                      <a:pt x="66221" y="0"/>
                    </a:cubicBezTo>
                    <a:cubicBezTo>
                      <a:pt x="91339" y="0"/>
                      <a:pt x="114393" y="8839"/>
                      <a:pt x="132441" y="23576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525061" y="5432822"/>
                <a:ext cx="207929" cy="48354"/>
              </a:xfrm>
              <a:custGeom>
                <a:avLst/>
                <a:gdLst/>
                <a:ahLst/>
                <a:cxnLst/>
                <a:rect l="l" t="t" r="r" b="b"/>
                <a:pathLst>
                  <a:path w="207929" h="48354">
                    <a:moveTo>
                      <a:pt x="0" y="0"/>
                    </a:moveTo>
                    <a:cubicBezTo>
                      <a:pt x="2234" y="17915"/>
                      <a:pt x="8991" y="34426"/>
                      <a:pt x="19092" y="48354"/>
                    </a:cubicBezTo>
                    <a:cubicBezTo>
                      <a:pt x="19637" y="48049"/>
                      <a:pt x="20189" y="47743"/>
                      <a:pt x="20749" y="47438"/>
                    </a:cubicBezTo>
                    <a:cubicBezTo>
                      <a:pt x="40203" y="36827"/>
                      <a:pt x="68544" y="26194"/>
                      <a:pt x="103964" y="26194"/>
                    </a:cubicBezTo>
                    <a:cubicBezTo>
                      <a:pt x="139385" y="26194"/>
                      <a:pt x="167727" y="36827"/>
                      <a:pt x="187179" y="47438"/>
                    </a:cubicBezTo>
                    <a:cubicBezTo>
                      <a:pt x="187740" y="47743"/>
                      <a:pt x="188291" y="48049"/>
                      <a:pt x="188836" y="48354"/>
                    </a:cubicBezTo>
                    <a:cubicBezTo>
                      <a:pt x="198938" y="34426"/>
                      <a:pt x="205694" y="17915"/>
                      <a:pt x="20792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562804" y="5485209"/>
                <a:ext cx="132441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132441" h="39291">
                    <a:moveTo>
                      <a:pt x="66221" y="39291"/>
                    </a:moveTo>
                    <a:cubicBezTo>
                      <a:pt x="41103" y="39291"/>
                      <a:pt x="18049" y="30452"/>
                      <a:pt x="0" y="15715"/>
                    </a:cubicBezTo>
                    <a:cubicBezTo>
                      <a:pt x="16304" y="7524"/>
                      <a:pt x="38750" y="0"/>
                      <a:pt x="66221" y="0"/>
                    </a:cubicBezTo>
                    <a:cubicBezTo>
                      <a:pt x="93692" y="0"/>
                      <a:pt x="116138" y="7524"/>
                      <a:pt x="132441" y="15715"/>
                    </a:cubicBezTo>
                    <a:cubicBezTo>
                      <a:pt x="114392" y="30452"/>
                      <a:pt x="91339" y="39291"/>
                      <a:pt x="66221" y="39291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3816668" y="5371624"/>
              <a:ext cx="2174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github.com/Liuuoo/ghost-deep</a:t>
              </a:r>
              <a:endParaRPr lang="zh-CN" sz="975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715000" y="531495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72033"/>
                  </a:moveTo>
                  <a:cubicBezTo>
                    <a:pt x="209550" y="111815"/>
                    <a:pt x="177300" y="144066"/>
                    <a:pt x="137517" y="144066"/>
                  </a:cubicBezTo>
                  <a:lnTo>
                    <a:pt x="91678" y="144066"/>
                  </a:lnTo>
                  <a:lnTo>
                    <a:pt x="91678" y="170259"/>
                  </a:lnTo>
                  <a:lnTo>
                    <a:pt x="65484" y="170259"/>
                  </a:lnTo>
                  <a:lnTo>
                    <a:pt x="65484" y="196453"/>
                  </a:lnTo>
                  <a:lnTo>
                    <a:pt x="52388" y="209550"/>
                  </a:lnTo>
                  <a:lnTo>
                    <a:pt x="0" y="209550"/>
                  </a:lnTo>
                  <a:lnTo>
                    <a:pt x="0" y="157162"/>
                  </a:lnTo>
                  <a:lnTo>
                    <a:pt x="67626" y="89537"/>
                  </a:lnTo>
                  <a:cubicBezTo>
                    <a:pt x="66227" y="83933"/>
                    <a:pt x="65484" y="78070"/>
                    <a:pt x="65484" y="72033"/>
                  </a:cubicBezTo>
                  <a:cubicBezTo>
                    <a:pt x="65484" y="32250"/>
                    <a:pt x="97735" y="0"/>
                    <a:pt x="137517" y="0"/>
                  </a:cubicBezTo>
                  <a:cubicBezTo>
                    <a:pt x="177300" y="0"/>
                    <a:pt x="209550" y="32250"/>
                    <a:pt x="209550" y="72033"/>
                  </a:cubicBezTo>
                  <a:close/>
                  <a:moveTo>
                    <a:pt x="170259" y="52388"/>
                  </a:moveTo>
                  <a:cubicBezTo>
                    <a:pt x="170259" y="59621"/>
                    <a:pt x="164396" y="65484"/>
                    <a:pt x="157162" y="65484"/>
                  </a:cubicBezTo>
                  <a:cubicBezTo>
                    <a:pt x="149929" y="65484"/>
                    <a:pt x="144066" y="59621"/>
                    <a:pt x="144066" y="52388"/>
                  </a:cubicBezTo>
                  <a:cubicBezTo>
                    <a:pt x="144066" y="45154"/>
                    <a:pt x="149929" y="39291"/>
                    <a:pt x="157162" y="39291"/>
                  </a:cubicBezTo>
                  <a:cubicBezTo>
                    <a:pt x="164396" y="39291"/>
                    <a:pt x="170259" y="45154"/>
                    <a:pt x="170259" y="52388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06465" y="5363528"/>
              <a:ext cx="22579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×× 大学 · 计算机科学与技术学院</a:t>
              </a:r>
              <a:endParaRPr lang="zh-CN" sz="10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3619500" y="5619750"/>
              <a:ext cx="4953000" cy="57150"/>
            </a:xfrm>
            <a:custGeom>
              <a:avLst/>
              <a:gdLst/>
              <a:ahLst/>
              <a:cxnLst/>
              <a:rect l="l" t="t" r="r" b="b"/>
              <a:pathLst>
                <a:path w="4953000" h="57150">
                  <a:moveTo>
                    <a:pt x="28575" y="0"/>
                  </a:moveTo>
                  <a:lnTo>
                    <a:pt x="4924425" y="0"/>
                  </a:lnTo>
                  <a:cubicBezTo>
                    <a:pt x="4940207" y="0"/>
                    <a:pt x="4953000" y="12793"/>
                    <a:pt x="4953000" y="28575"/>
                  </a:cubicBezTo>
                  <a:lnTo>
                    <a:pt x="4953000" y="28575"/>
                  </a:lnTo>
                  <a:cubicBezTo>
                    <a:pt x="4953000" y="44357"/>
                    <a:pt x="4940207" y="57150"/>
                    <a:pt x="4924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66CC">
                <a:alpha val="15000"/>
              </a:srgbClr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0" y="6334125"/>
            <a:ext cx="12192000" cy="523875"/>
            <a:chOff x="0" y="6334125"/>
            <a:chExt cx="12192000" cy="523875"/>
          </a:xfrm>
        </p:grpSpPr>
        <p:sp>
          <p:nvSpPr>
            <p:cNvPr id="37" name="Rectangle 37"/>
            <p:cNvSpPr/>
            <p:nvPr/>
          </p:nvSpPr>
          <p:spPr>
            <a:xfrm>
              <a:off x="0" y="6334125"/>
              <a:ext cx="12192000" cy="523875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0" y="6334125"/>
              <a:ext cx="57150" cy="5238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92663" y="6533674"/>
              <a:ext cx="1206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FIN · END OF DECK</a:t>
              </a:r>
              <a:endParaRPr lang="zh-CN" sz="975" dirty="0">
                <a:solidFill>
                  <a:srgbClr val="99999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21582" y="6533674"/>
              <a:ext cx="501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 / 20</a:t>
              </a:r>
              <a:endParaRPr lang="zh-CN" sz="975" dirty="0">
                <a:solidFill>
                  <a:srgbClr val="66666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9564</Words>
  <Application>WPS 演示</Application>
  <PresentationFormat>On-screen Show (4:3)</PresentationFormat>
  <Paragraphs>1222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刘好</cp:lastModifiedBy>
  <cp:revision>2</cp:revision>
  <dcterms:created xsi:type="dcterms:W3CDTF">2013-01-27T09:14:00Z</dcterms:created>
  <dcterms:modified xsi:type="dcterms:W3CDTF">2026-05-15T03:57:18Z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F1C7F16A973844C4AB95B777EB9505B1_12</vt:lpwstr>
  </property>
</Properties>
</file>